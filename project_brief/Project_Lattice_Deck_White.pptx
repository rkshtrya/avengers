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12192000"/>
  <p:embeddedFontLst>
    <p:embeddedFont>
      <p:font typeface="Poppins"/>
      <p:bold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S Raj"/>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1D1FEF-33C9-44F1-A661-5C6B31074650}">
  <a:tblStyle styleId="{E11D1FEF-33C9-44F1-A661-5C6B310746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font" Target="fonts/Poppins-bold.fntdata"/><Relationship Id="rId25" Type="http://schemas.openxmlformats.org/officeDocument/2006/relationships/slide" Target="slides/slide19.xml"/><Relationship Id="rId27" Type="http://schemas.openxmlformats.org/officeDocument/2006/relationships/font" Target="fonts/Poppins-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6-25T03:36:57.616">
    <p:pos x="662" y="3467"/>
    <p:text>Does the illustrate anything other than the interrelationships?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6-25T03:43:32.202">
    <p:pos x="6000" y="0"/>
    <p:text>Consolidate pages 5, 6 &amp; 7?</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6-28T07:16:18.207">
    <p:pos x="6000" y="0"/>
    <p:text>I have added this page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6-28T07:16:43.215">
    <p:pos x="6000" y="0"/>
    <p:text>I have modified this page to fit the previous page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6-25T01:01:11.298">
    <p:pos x="6000" y="0"/>
    <p:text>Add macro variables?
current &amp; expected --
supply / demand, 
mortgage interest rate,
unemployment rate, 
inflation rate, 
economy (especially local),      
regulation/legislation, 
geo-political stability,  
emotions (bidding war, housing bust)</p:text>
  </p:cm>
  <p:cm authorId="0" idx="6" dt="2026-06-25T01:00:08.758">
    <p:pos x="6000" y="100"/>
    <p:text>Some of the value (purchase price) will be inconsistent and hard to predict / quantify -- e.g.,
expectations of macro drivers
emotions 
Clearly state it as well as our plan to address it?</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06-25T01:19:31.051">
    <p:pos x="6000" y="0"/>
    <p:text>Will we have buyer's office location?</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in 20 seconds: 'Imagine buying a house — the biggest purchase of your life. Zillow gives you a number, but never tells you why, or whether it's a good deal. Project Lattice unlocks that why — it reasons over the connections that drive a home's value, and explains itself with sources you can check.'</a:t>
            </a:r>
            <a:endParaRPr/>
          </a:p>
        </p:txBody>
      </p:sp>
      <p:sp>
        <p:nvSpPr>
          <p:cNvPr id="14" name="Google Shape;1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ef432ea97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g3ef432ea97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Lattice IS. A knowledge graph = a network of things and how they connect. Three benefits: traceable (every claim sourced, verifier kills hallucinations), surfaces hidden context (upside and risk you'd miss), proven by honest backtesting. The graphic on the right is the relational graph itself.</a:t>
            </a:r>
            <a:endParaRPr/>
          </a:p>
        </p:txBody>
      </p:sp>
      <p:sp>
        <p:nvSpPr>
          <p:cNvPr id="50" name="Google Shape;50;g3ef432ea97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failures, one opening. Consumer tools: accurate but opaque. Enterprise tools: powerful but $25k-$300k/yr, so only institutions get them. The white space is bringing relational reasoning to everyone. Big, fast-growing market.</a:t>
            </a:r>
            <a:endParaRPr/>
          </a:p>
        </p:txBody>
      </p:sp>
      <p:sp>
        <p:nvSpPr>
          <p:cNvPr id="70" name="Google Shape;7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What Lattice IS. A knowledge graph = a network of things and how they connect. Three benefits: traceable (every claim sourced, verifier kills hallucinations), surfaces hidden context (upside and risk you'd miss), proven by honest backtesting. The graphic on the right is the relational graph itself.</a:t>
            </a:r>
            <a:endParaRPr/>
          </a:p>
        </p:txBody>
      </p:sp>
      <p:sp>
        <p:nvSpPr>
          <p:cNvPr id="88" name="Google Shape;8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most important question — what does a real person get? Four things: a verdict not a mystery number; reasons they can read; the upside/risk they'd miss; personalization + sources they can verify. The bottom line is the impact. The NEXT slide shows this for real.</a:t>
            </a:r>
            <a:endParaRPr/>
          </a:p>
        </p:txBody>
      </p:sp>
      <p:sp>
        <p:nvSpPr>
          <p:cNvPr id="138" name="Google Shape;13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slide — it's the product. Walk it top to bottom: the verdict ($880K, ~6% over, negotiate), the three plain reasons, the upside and risk a buyer would miss, the personalization, and sources behind every claim. Say: 'This screen IS the product. Everything else is how we build the engine that produces it.'</a:t>
            </a:r>
            <a:endParaRPr/>
          </a:p>
        </p:txBody>
      </p:sp>
      <p:sp>
        <p:nvSpPr>
          <p:cNvPr id="167" name="Google Shape;16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Ingestion builds the graph offline. At query time the orchestrator (the conductor) sequences four agents that read AND write the shared graph. Before anything reaches the user, the verifier checks every claim against the schema and its source.</a:t>
            </a:r>
            <a:endParaRPr/>
          </a:p>
        </p:txBody>
      </p:sp>
      <p:sp>
        <p:nvSpPr>
          <p:cNvPr id="211" name="Google Shape;21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real jobs, not six chatbots. Ingestion builds the graph; Intent reads priorities; Valuation does the core estimate; Risk finds downsides; Explainer writes plain English; Verifier is the gatekeeper that keeps the system honest.</a:t>
            </a:r>
            <a:endParaRPr/>
          </a:p>
        </p:txBody>
      </p:sp>
      <p:sp>
        <p:nvSpPr>
          <p:cNvPr id="248" name="Google Shape;24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Shows HOW it reasons, step by step. User types a goal; Intent structures it; Valuation walks the graph; Risk checks downsides; Verifier confirms sources; Explainer writes the why. The output is the result screen. Narrate slowly.</a:t>
            </a:r>
            <a:endParaRPr/>
          </a:p>
        </p:txBody>
      </p:sp>
      <p:sp>
        <p:nvSpPr>
          <p:cNvPr id="279" name="Google Shape;2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ef92675f6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ef92675f6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the schema small. The one rule we never break: every connection cites its source. That's what makes the explanation auditable and what the verifier enforces.</a:t>
            </a:r>
            <a:endParaRPr/>
          </a:p>
        </p:txBody>
      </p:sp>
      <p:sp>
        <p:nvSpPr>
          <p:cNvPr id="319" name="Google Shape;319;g3ef92675f6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the schema small. The one rule we never break: every connection cites its source. That's what makes the explanation auditable and what the verifier enforces.</a:t>
            </a:r>
            <a:endParaRPr/>
          </a:p>
        </p:txBody>
      </p:sp>
      <p:sp>
        <p:nvSpPr>
          <p:cNvPr id="333" name="Google Shape;33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signals that make us smarter than a listing site — transit, schools, permits, zoning — are all free government open data. The expensive restricted part (MLS listings) is the commodity we DON'T need. County sales records double as our test answer key.</a:t>
            </a:r>
            <a:endParaRPr/>
          </a:p>
        </p:txBody>
      </p:sp>
      <p:sp>
        <p:nvSpPr>
          <p:cNvPr id="347" name="Google Shape;34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rigor slide. Government/standardized feeds = high reliability; OSM = medium (we cross-check); geocoding = derived and trickiest (we validate). The honest answer to 'what if data is wrong': provenance on every edge, verifier rejects unsourced claims, low-confidence flagged not hidden.</a:t>
            </a:r>
            <a:endParaRPr/>
          </a:p>
        </p:txBody>
      </p:sp>
      <p:sp>
        <p:nvSpPr>
          <p:cNvPr id="385" name="Google Shape;3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weeks, four owners, four swim-lanes. Highlight the QA &amp; Evaluation column — it runs from Day 1 (define metrics) through Week 5 (backtest) to Week 6 (end-to-end testing). Eval-first: we measure before we build.</a:t>
            </a:r>
            <a:endParaRPr/>
          </a:p>
        </p:txBody>
      </p:sp>
      <p:sp>
        <p:nvSpPr>
          <p:cNvPr id="394" name="Google Shape;3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 honest: a simple model can match us on raw price accuracy — we don't claim to beat Zillow on the number alone. Our wins are the blank columns: confidence, relational reasoning, the explanation, catching mistakes — plus we beat baselines where value is relational. The asterisk matters.</a:t>
            </a:r>
            <a:endParaRPr/>
          </a:p>
        </p:txBody>
      </p:sp>
      <p:sp>
        <p:nvSpPr>
          <p:cNvPr id="401" name="Google Shape;40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Pull this up when questions come, or walk it proactively. The six are the likeliest: differentiation (Zillow, Cherre), accuracy, data quality, hallucination, feasibility. One sentence each; the detail is in your head.</a:t>
            </a:r>
            <a:endParaRPr/>
          </a:p>
        </p:txBody>
      </p:sp>
      <p:sp>
        <p:nvSpPr>
          <p:cNvPr id="413" name="Google Shape;41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contribution: Lattice is the first tool that reasons over the connections that drive value AND shows its work; built on free public data so it's viable for everyone; and the academic claim is novel — it matches black-box tools on accuracy while beating them on auditability. Thank you, and open for questions.</a:t>
            </a:r>
            <a:endParaRPr/>
          </a:p>
        </p:txBody>
      </p:sp>
      <p:sp>
        <p:nvSpPr>
          <p:cNvPr id="443" name="Google Shape;44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f2b281a43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g3f2b281a43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contribution: Lattice is the first tool that reasons over the connections that drive value AND shows its work; built on free public data so it's viable for everyone; and the academic claim is novel — it matches black-box tools on accuracy while beating them on auditability. Thank you, and open for questions.</a:t>
            </a:r>
            <a:endParaRPr/>
          </a:p>
        </p:txBody>
      </p:sp>
      <p:sp>
        <p:nvSpPr>
          <p:cNvPr id="452" name="Google Shape;452;g3f2b281a43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'aha'. Walk the chain out loud: permit -&gt; station -&gt; corridor already moved -&gt; this listing lagged -&gt; undervalued. No filter connects a permit filing to a price. The chain IS the why. Slow down here.</a:t>
            </a:r>
            <a:endParaRPr/>
          </a:p>
        </p:txBody>
      </p:sp>
      <p:sp>
        <p:nvSpPr>
          <p:cNvPr id="460" name="Google Shape;46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comments" Target="../comments/commen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omments" Target="../comments/commen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omments" Target="../comments/commen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omments" Target="../comments/commen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comments" Target="../comments/comment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3"/>
          <p:cNvSpPr/>
          <p:nvPr/>
        </p:nvSpPr>
        <p:spPr>
          <a:xfrm>
            <a:off x="6096000" y="0"/>
            <a:ext cx="6096000" cy="6858000"/>
          </a:xfrm>
          <a:prstGeom prst="rect">
            <a:avLst/>
          </a:prstGeom>
          <a:solidFill>
            <a:srgbClr val="F5F8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 name="Google Shape;17;p3"/>
          <p:cNvGrpSpPr/>
          <p:nvPr/>
        </p:nvGrpSpPr>
        <p:grpSpPr>
          <a:xfrm>
            <a:off x="762000" y="1715227"/>
            <a:ext cx="4572000" cy="2308540"/>
            <a:chOff x="0" y="-189773"/>
            <a:chExt cx="4572000" cy="2308540"/>
          </a:xfrm>
        </p:grpSpPr>
        <p:sp>
          <p:nvSpPr>
            <p:cNvPr id="18" name="Google Shape;18;p3"/>
            <p:cNvSpPr txBox="1"/>
            <p:nvPr/>
          </p:nvSpPr>
          <p:spPr>
            <a:xfrm>
              <a:off x="0" y="-189773"/>
              <a:ext cx="4572000" cy="11430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US" sz="4760">
                  <a:solidFill>
                    <a:srgbClr val="14233D"/>
                  </a:solidFill>
                  <a:latin typeface="Poppins"/>
                  <a:ea typeface="Poppins"/>
                  <a:cs typeface="Poppins"/>
                  <a:sym typeface="Poppins"/>
                </a:rPr>
                <a:t>Project Lattice</a:t>
              </a:r>
              <a:endParaRPr b="1" sz="4760">
                <a:solidFill>
                  <a:srgbClr val="14233D"/>
                </a:solidFill>
                <a:latin typeface="Poppins"/>
                <a:ea typeface="Poppins"/>
                <a:cs typeface="Poppins"/>
                <a:sym typeface="Poppins"/>
              </a:endParaRPr>
            </a:p>
          </p:txBody>
        </p:sp>
        <p:sp>
          <p:nvSpPr>
            <p:cNvPr id="19" name="Google Shape;19;p3"/>
            <p:cNvSpPr txBox="1"/>
            <p:nvPr/>
          </p:nvSpPr>
          <p:spPr>
            <a:xfrm>
              <a:off x="0" y="1166267"/>
              <a:ext cx="4572000" cy="952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2400">
                  <a:solidFill>
                    <a:srgbClr val="1565D8"/>
                  </a:solidFill>
                  <a:latin typeface="Poppins"/>
                  <a:ea typeface="Poppins"/>
                  <a:cs typeface="Poppins"/>
                  <a:sym typeface="Poppins"/>
                </a:rPr>
                <a:t>Unlocking the “Why” in </a:t>
              </a:r>
              <a:endParaRPr b="1" sz="2400">
                <a:solidFill>
                  <a:srgbClr val="1565D8"/>
                </a:solidFill>
                <a:latin typeface="Poppins"/>
                <a:ea typeface="Poppins"/>
                <a:cs typeface="Poppins"/>
                <a:sym typeface="Poppins"/>
              </a:endParaRPr>
            </a:p>
            <a:p>
              <a:pPr indent="0" lvl="0" marL="0" rtl="0" algn="ctr">
                <a:spcBef>
                  <a:spcPts val="0"/>
                </a:spcBef>
                <a:spcAft>
                  <a:spcPts val="0"/>
                </a:spcAft>
                <a:buNone/>
              </a:pPr>
              <a:r>
                <a:rPr b="1" lang="en-US" sz="2400">
                  <a:solidFill>
                    <a:srgbClr val="1565D8"/>
                  </a:solidFill>
                  <a:latin typeface="Poppins"/>
                  <a:ea typeface="Poppins"/>
                  <a:cs typeface="Poppins"/>
                  <a:sym typeface="Poppins"/>
                </a:rPr>
                <a:t>Real Estate Valuation</a:t>
              </a:r>
              <a:endParaRPr b="1" sz="2400">
                <a:solidFill>
                  <a:srgbClr val="1565D8"/>
                </a:solidFill>
                <a:latin typeface="Poppins"/>
                <a:ea typeface="Poppins"/>
                <a:cs typeface="Poppins"/>
                <a:sym typeface="Poppins"/>
              </a:endParaRPr>
            </a:p>
          </p:txBody>
        </p:sp>
      </p:grpSp>
      <p:sp>
        <p:nvSpPr>
          <p:cNvPr id="20" name="Google Shape;20;p3"/>
          <p:cNvSpPr txBox="1"/>
          <p:nvPr/>
        </p:nvSpPr>
        <p:spPr>
          <a:xfrm>
            <a:off x="595500" y="4554550"/>
            <a:ext cx="4908000" cy="173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2100">
                <a:solidFill>
                  <a:srgbClr val="6E7C92"/>
                </a:solidFill>
                <a:latin typeface="Poppins"/>
                <a:ea typeface="Poppins"/>
                <a:cs typeface="Poppins"/>
                <a:sym typeface="Poppins"/>
              </a:rPr>
              <a:t>TEAM AVENGENTS</a:t>
            </a:r>
            <a:endParaRPr b="1" sz="2100">
              <a:solidFill>
                <a:srgbClr val="6E7C92"/>
              </a:solidFill>
              <a:latin typeface="Poppins"/>
              <a:ea typeface="Poppins"/>
              <a:cs typeface="Poppins"/>
              <a:sym typeface="Poppins"/>
            </a:endParaRPr>
          </a:p>
          <a:p>
            <a:pPr indent="0" lvl="0" marL="0" rtl="0" algn="l">
              <a:spcBef>
                <a:spcPts val="0"/>
              </a:spcBef>
              <a:spcAft>
                <a:spcPts val="0"/>
              </a:spcAft>
              <a:buNone/>
            </a:pPr>
            <a:r>
              <a:rPr b="0" lang="en-US" sz="1400">
                <a:solidFill>
                  <a:srgbClr val="6E7C92"/>
                </a:solidFill>
                <a:latin typeface="Poppins"/>
                <a:ea typeface="Poppins"/>
                <a:cs typeface="Poppins"/>
                <a:sym typeface="Poppins"/>
              </a:rPr>
              <a:t> </a:t>
            </a:r>
            <a:endParaRPr b="0" sz="1400">
              <a:solidFill>
                <a:srgbClr val="6E7C92"/>
              </a:solidFill>
              <a:latin typeface="Poppins"/>
              <a:ea typeface="Poppins"/>
              <a:cs typeface="Poppins"/>
              <a:sym typeface="Poppins"/>
            </a:endParaRPr>
          </a:p>
          <a:p>
            <a:pPr indent="0" lvl="0" marL="0" rtl="0" algn="l">
              <a:spcBef>
                <a:spcPts val="0"/>
              </a:spcBef>
              <a:spcAft>
                <a:spcPts val="0"/>
              </a:spcAft>
              <a:buNone/>
            </a:pPr>
            <a:r>
              <a:rPr b="0" lang="en-US" sz="1300">
                <a:solidFill>
                  <a:srgbClr val="6E7C92"/>
                </a:solidFill>
                <a:latin typeface="Poppins"/>
                <a:ea typeface="Poppins"/>
                <a:cs typeface="Poppins"/>
                <a:sym typeface="Poppins"/>
              </a:rPr>
              <a:t>Capstone</a:t>
            </a:r>
            <a:r>
              <a:rPr lang="en-US" sz="1300">
                <a:solidFill>
                  <a:srgbClr val="6E7C92"/>
                </a:solidFill>
                <a:latin typeface="Poppins"/>
                <a:ea typeface="Poppins"/>
                <a:cs typeface="Poppins"/>
                <a:sym typeface="Poppins"/>
              </a:rPr>
              <a:t> – AI Agents &amp; Advanced Fine Tuning, Spring 2026</a:t>
            </a:r>
            <a:endParaRPr b="0" sz="1300">
              <a:solidFill>
                <a:srgbClr val="6E7C92"/>
              </a:solidFill>
              <a:latin typeface="Poppins"/>
              <a:ea typeface="Poppins"/>
              <a:cs typeface="Poppins"/>
              <a:sym typeface="Poppins"/>
            </a:endParaRPr>
          </a:p>
        </p:txBody>
      </p:sp>
      <p:grpSp>
        <p:nvGrpSpPr>
          <p:cNvPr id="21" name="Google Shape;21;p3"/>
          <p:cNvGrpSpPr/>
          <p:nvPr/>
        </p:nvGrpSpPr>
        <p:grpSpPr>
          <a:xfrm>
            <a:off x="6667500" y="952500"/>
            <a:ext cx="4572000" cy="4953000"/>
            <a:chOff x="0" y="0"/>
            <a:chExt cx="4572000" cy="4953000"/>
          </a:xfrm>
        </p:grpSpPr>
        <p:sp>
          <p:nvSpPr>
            <p:cNvPr id="22" name="Google Shape;22;p3"/>
            <p:cNvSpPr/>
            <p:nvPr/>
          </p:nvSpPr>
          <p:spPr>
            <a:xfrm>
              <a:off x="0" y="0"/>
              <a:ext cx="4572000" cy="4953000"/>
            </a:xfrm>
            <a:prstGeom prst="roundRect">
              <a:avLst>
                <a:gd fmla="val 4166" name="adj"/>
              </a:avLst>
            </a:prstGeom>
            <a:solidFill>
              <a:srgbClr val="FFFFFF"/>
            </a:solidFill>
            <a:ln cap="flat" cmpd="sng" w="19050">
              <a:solidFill>
                <a:srgbClr val="DBE5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3" name="Google Shape;23;p3"/>
            <p:cNvGrpSpPr/>
            <p:nvPr/>
          </p:nvGrpSpPr>
          <p:grpSpPr>
            <a:xfrm>
              <a:off x="571500" y="695325"/>
              <a:ext cx="3429000" cy="3972075"/>
              <a:chOff x="381000" y="504825"/>
              <a:chExt cx="3429000" cy="3972075"/>
            </a:xfrm>
          </p:grpSpPr>
          <p:sp>
            <p:nvSpPr>
              <p:cNvPr id="24" name="Google Shape;24;p3"/>
              <p:cNvSpPr/>
              <p:nvPr/>
            </p:nvSpPr>
            <p:spPr>
              <a:xfrm>
                <a:off x="381000" y="571500"/>
                <a:ext cx="3429000" cy="3429000"/>
              </a:xfrm>
              <a:prstGeom prst="ellipse">
                <a:avLst/>
              </a:prstGeom>
              <a:solidFill>
                <a:srgbClr val="000000">
                  <a:alpha val="0"/>
                </a:srgbClr>
              </a:solidFill>
              <a:ln cap="flat" cmpd="sng" w="9525">
                <a:solidFill>
                  <a:srgbClr val="E6ED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 name="Google Shape;25;p3"/>
              <p:cNvSpPr/>
              <p:nvPr/>
            </p:nvSpPr>
            <p:spPr>
              <a:xfrm>
                <a:off x="876300" y="1066800"/>
                <a:ext cx="152400" cy="152400"/>
              </a:xfrm>
              <a:prstGeom prst="ellipse">
                <a:avLst/>
              </a:prstGeom>
              <a:solidFill>
                <a:srgbClr val="1565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 name="Google Shape;26;p3"/>
              <p:cNvSpPr/>
              <p:nvPr/>
            </p:nvSpPr>
            <p:spPr>
              <a:xfrm>
                <a:off x="3181350" y="1085850"/>
                <a:ext cx="114300" cy="114300"/>
              </a:xfrm>
              <a:prstGeom prst="ellipse">
                <a:avLst/>
              </a:prstGeom>
              <a:solidFill>
                <a:srgbClr val="5B8F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 name="Google Shape;27;p3"/>
              <p:cNvSpPr/>
              <p:nvPr/>
            </p:nvSpPr>
            <p:spPr>
              <a:xfrm>
                <a:off x="2028825" y="504825"/>
                <a:ext cx="133500" cy="133500"/>
              </a:xfrm>
              <a:prstGeom prst="ellipse">
                <a:avLst/>
              </a:prstGeom>
              <a:solidFill>
                <a:srgbClr val="6D4F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 name="Google Shape;28;p3"/>
              <p:cNvSpPr/>
              <p:nvPr/>
            </p:nvSpPr>
            <p:spPr>
              <a:xfrm>
                <a:off x="476250" y="2190750"/>
                <a:ext cx="190500" cy="190500"/>
              </a:xfrm>
              <a:prstGeom prst="ellipse">
                <a:avLst/>
              </a:prstGeom>
              <a:solidFill>
                <a:srgbClr val="1565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 name="Google Shape;29;p3"/>
              <p:cNvSpPr/>
              <p:nvPr/>
            </p:nvSpPr>
            <p:spPr>
              <a:xfrm>
                <a:off x="3552825" y="2219325"/>
                <a:ext cx="133500" cy="133500"/>
              </a:xfrm>
              <a:prstGeom prst="ellipse">
                <a:avLst/>
              </a:prstGeom>
              <a:solidFill>
                <a:srgbClr val="1565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 name="Google Shape;30;p3"/>
              <p:cNvSpPr/>
              <p:nvPr/>
            </p:nvSpPr>
            <p:spPr>
              <a:xfrm>
                <a:off x="895350" y="3371850"/>
                <a:ext cx="114300" cy="114300"/>
              </a:xfrm>
              <a:prstGeom prst="ellipse">
                <a:avLst/>
              </a:prstGeom>
              <a:solidFill>
                <a:srgbClr val="5B8FE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 name="Google Shape;31;p3"/>
              <p:cNvSpPr/>
              <p:nvPr/>
            </p:nvSpPr>
            <p:spPr>
              <a:xfrm>
                <a:off x="3162300" y="3352800"/>
                <a:ext cx="152400" cy="152400"/>
              </a:xfrm>
              <a:prstGeom prst="ellipse">
                <a:avLst/>
              </a:prstGeom>
              <a:solidFill>
                <a:srgbClr val="6D4FE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 name="Google Shape;32;p3"/>
              <p:cNvSpPr/>
              <p:nvPr/>
            </p:nvSpPr>
            <p:spPr>
              <a:xfrm>
                <a:off x="2028825" y="3933825"/>
                <a:ext cx="133500" cy="133500"/>
              </a:xfrm>
              <a:prstGeom prst="ellipse">
                <a:avLst/>
              </a:prstGeom>
              <a:solidFill>
                <a:srgbClr val="1565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3" name="Google Shape;33;p3"/>
              <p:cNvCxnSpPr/>
              <p:nvPr/>
            </p:nvCxnSpPr>
            <p:spPr>
              <a:xfrm flipH="1" rot="10800000">
                <a:off x="952500" y="571500"/>
                <a:ext cx="1143000" cy="571500"/>
              </a:xfrm>
              <a:prstGeom prst="straightConnector1">
                <a:avLst/>
              </a:prstGeom>
              <a:solidFill>
                <a:srgbClr val="FFFFFF"/>
              </a:solidFill>
              <a:ln cap="flat" cmpd="sng" w="14300">
                <a:solidFill>
                  <a:srgbClr val="C3D4EA"/>
                </a:solidFill>
                <a:prstDash val="solid"/>
                <a:round/>
                <a:headEnd len="sm" w="sm" type="none"/>
                <a:tailEnd len="sm" w="sm" type="none"/>
              </a:ln>
            </p:spPr>
          </p:cxnSp>
          <p:cxnSp>
            <p:nvCxnSpPr>
              <p:cNvPr id="34" name="Google Shape;34;p3"/>
              <p:cNvCxnSpPr/>
              <p:nvPr/>
            </p:nvCxnSpPr>
            <p:spPr>
              <a:xfrm>
                <a:off x="2095500" y="571500"/>
                <a:ext cx="1143000" cy="571500"/>
              </a:xfrm>
              <a:prstGeom prst="straightConnector1">
                <a:avLst/>
              </a:prstGeom>
              <a:solidFill>
                <a:srgbClr val="FFFFFF"/>
              </a:solidFill>
              <a:ln cap="flat" cmpd="sng" w="14300">
                <a:solidFill>
                  <a:srgbClr val="C3D4EA"/>
                </a:solidFill>
                <a:prstDash val="solid"/>
                <a:round/>
                <a:headEnd len="sm" w="sm" type="none"/>
                <a:tailEnd len="sm" w="sm" type="none"/>
              </a:ln>
            </p:spPr>
          </p:cxnSp>
          <p:cxnSp>
            <p:nvCxnSpPr>
              <p:cNvPr id="35" name="Google Shape;35;p3"/>
              <p:cNvCxnSpPr/>
              <p:nvPr/>
            </p:nvCxnSpPr>
            <p:spPr>
              <a:xfrm>
                <a:off x="3238500" y="1143000"/>
                <a:ext cx="381000" cy="1143000"/>
              </a:xfrm>
              <a:prstGeom prst="straightConnector1">
                <a:avLst/>
              </a:prstGeom>
              <a:solidFill>
                <a:srgbClr val="FFFFFF"/>
              </a:solidFill>
              <a:ln cap="flat" cmpd="sng" w="14300">
                <a:solidFill>
                  <a:srgbClr val="C3D4EA"/>
                </a:solidFill>
                <a:prstDash val="solid"/>
                <a:round/>
                <a:headEnd len="sm" w="sm" type="none"/>
                <a:tailEnd len="sm" w="sm" type="none"/>
              </a:ln>
            </p:spPr>
          </p:cxnSp>
          <p:cxnSp>
            <p:nvCxnSpPr>
              <p:cNvPr id="36" name="Google Shape;36;p3"/>
              <p:cNvCxnSpPr/>
              <p:nvPr/>
            </p:nvCxnSpPr>
            <p:spPr>
              <a:xfrm flipH="1">
                <a:off x="3238500" y="2286000"/>
                <a:ext cx="381000" cy="1143000"/>
              </a:xfrm>
              <a:prstGeom prst="straightConnector1">
                <a:avLst/>
              </a:prstGeom>
              <a:solidFill>
                <a:srgbClr val="FFFFFF"/>
              </a:solidFill>
              <a:ln cap="flat" cmpd="sng" w="14300">
                <a:solidFill>
                  <a:srgbClr val="C3D4EA"/>
                </a:solidFill>
                <a:prstDash val="solid"/>
                <a:round/>
                <a:headEnd len="sm" w="sm" type="none"/>
                <a:tailEnd len="sm" w="sm" type="none"/>
              </a:ln>
            </p:spPr>
          </p:cxnSp>
          <p:cxnSp>
            <p:nvCxnSpPr>
              <p:cNvPr id="37" name="Google Shape;37;p3"/>
              <p:cNvCxnSpPr/>
              <p:nvPr/>
            </p:nvCxnSpPr>
            <p:spPr>
              <a:xfrm flipH="1">
                <a:off x="2095500" y="3429000"/>
                <a:ext cx="1143000" cy="571500"/>
              </a:xfrm>
              <a:prstGeom prst="straightConnector1">
                <a:avLst/>
              </a:prstGeom>
              <a:solidFill>
                <a:srgbClr val="FFFFFF"/>
              </a:solidFill>
              <a:ln cap="flat" cmpd="sng" w="14300">
                <a:solidFill>
                  <a:srgbClr val="C3D4EA"/>
                </a:solidFill>
                <a:prstDash val="solid"/>
                <a:round/>
                <a:headEnd len="sm" w="sm" type="none"/>
                <a:tailEnd len="sm" w="sm" type="none"/>
              </a:ln>
            </p:spPr>
          </p:cxnSp>
          <p:cxnSp>
            <p:nvCxnSpPr>
              <p:cNvPr id="38" name="Google Shape;38;p3"/>
              <p:cNvCxnSpPr/>
              <p:nvPr/>
            </p:nvCxnSpPr>
            <p:spPr>
              <a:xfrm rot="10800000">
                <a:off x="952500" y="3429000"/>
                <a:ext cx="1143000" cy="571500"/>
              </a:xfrm>
              <a:prstGeom prst="straightConnector1">
                <a:avLst/>
              </a:prstGeom>
              <a:solidFill>
                <a:srgbClr val="FFFFFF"/>
              </a:solidFill>
              <a:ln cap="flat" cmpd="sng" w="14300">
                <a:solidFill>
                  <a:srgbClr val="C3D4EA"/>
                </a:solidFill>
                <a:prstDash val="solid"/>
                <a:round/>
                <a:headEnd len="sm" w="sm" type="none"/>
                <a:tailEnd len="sm" w="sm" type="none"/>
              </a:ln>
            </p:spPr>
          </p:cxnSp>
          <p:cxnSp>
            <p:nvCxnSpPr>
              <p:cNvPr id="39" name="Google Shape;39;p3"/>
              <p:cNvCxnSpPr/>
              <p:nvPr/>
            </p:nvCxnSpPr>
            <p:spPr>
              <a:xfrm rot="10800000">
                <a:off x="571500" y="2286000"/>
                <a:ext cx="381000" cy="1143000"/>
              </a:xfrm>
              <a:prstGeom prst="straightConnector1">
                <a:avLst/>
              </a:prstGeom>
              <a:solidFill>
                <a:srgbClr val="FFFFFF"/>
              </a:solidFill>
              <a:ln cap="flat" cmpd="sng" w="14300">
                <a:solidFill>
                  <a:srgbClr val="C3D4EA"/>
                </a:solidFill>
                <a:prstDash val="solid"/>
                <a:round/>
                <a:headEnd len="sm" w="sm" type="none"/>
                <a:tailEnd len="sm" w="sm" type="none"/>
              </a:ln>
            </p:spPr>
          </p:cxnSp>
          <p:cxnSp>
            <p:nvCxnSpPr>
              <p:cNvPr id="40" name="Google Shape;40;p3"/>
              <p:cNvCxnSpPr/>
              <p:nvPr/>
            </p:nvCxnSpPr>
            <p:spPr>
              <a:xfrm flipH="1" rot="10800000">
                <a:off x="571500" y="1143000"/>
                <a:ext cx="381000" cy="1143000"/>
              </a:xfrm>
              <a:prstGeom prst="straightConnector1">
                <a:avLst/>
              </a:prstGeom>
              <a:solidFill>
                <a:srgbClr val="FFFFFF"/>
              </a:solidFill>
              <a:ln cap="flat" cmpd="sng" w="14300">
                <a:solidFill>
                  <a:srgbClr val="C3D4EA"/>
                </a:solidFill>
                <a:prstDash val="solid"/>
                <a:round/>
                <a:headEnd len="sm" w="sm" type="none"/>
                <a:tailEnd len="sm" w="sm" type="none"/>
              </a:ln>
            </p:spPr>
          </p:cxnSp>
          <p:pic>
            <p:nvPicPr>
              <p:cNvPr id="41" name="Google Shape;41;p3"/>
              <p:cNvPicPr preferRelativeResize="0"/>
              <p:nvPr/>
            </p:nvPicPr>
            <p:blipFill rotWithShape="1">
              <a:blip r:embed="rId4">
                <a:alphaModFix/>
              </a:blip>
              <a:srcRect b="0" l="0" r="0" t="0"/>
              <a:stretch/>
            </p:blipFill>
            <p:spPr>
              <a:xfrm>
                <a:off x="947738" y="1138238"/>
                <a:ext cx="1152600" cy="1152600"/>
              </a:xfrm>
              <a:prstGeom prst="rect">
                <a:avLst/>
              </a:prstGeom>
              <a:noFill/>
              <a:ln>
                <a:noFill/>
              </a:ln>
            </p:spPr>
          </p:pic>
          <p:pic>
            <p:nvPicPr>
              <p:cNvPr id="42" name="Google Shape;42;p3"/>
              <p:cNvPicPr preferRelativeResize="0"/>
              <p:nvPr/>
            </p:nvPicPr>
            <p:blipFill rotWithShape="1">
              <a:blip r:embed="rId5">
                <a:alphaModFix/>
              </a:blip>
              <a:srcRect b="0" l="0" r="0" t="0"/>
              <a:stretch/>
            </p:blipFill>
            <p:spPr>
              <a:xfrm>
                <a:off x="2090738" y="1138238"/>
                <a:ext cx="1152600" cy="1152600"/>
              </a:xfrm>
              <a:prstGeom prst="rect">
                <a:avLst/>
              </a:prstGeom>
              <a:noFill/>
              <a:ln>
                <a:noFill/>
              </a:ln>
            </p:spPr>
          </p:pic>
          <p:pic>
            <p:nvPicPr>
              <p:cNvPr id="43" name="Google Shape;43;p3"/>
              <p:cNvPicPr preferRelativeResize="0"/>
              <p:nvPr/>
            </p:nvPicPr>
            <p:blipFill rotWithShape="1">
              <a:blip r:embed="rId6">
                <a:alphaModFix/>
              </a:blip>
              <a:srcRect b="0" l="0" r="0" t="0"/>
              <a:stretch/>
            </p:blipFill>
            <p:spPr>
              <a:xfrm>
                <a:off x="2090738" y="2281238"/>
                <a:ext cx="1152600" cy="1152600"/>
              </a:xfrm>
              <a:prstGeom prst="rect">
                <a:avLst/>
              </a:prstGeom>
              <a:noFill/>
              <a:ln>
                <a:noFill/>
              </a:ln>
            </p:spPr>
          </p:pic>
          <p:pic>
            <p:nvPicPr>
              <p:cNvPr id="44" name="Google Shape;44;p3"/>
              <p:cNvPicPr preferRelativeResize="0"/>
              <p:nvPr/>
            </p:nvPicPr>
            <p:blipFill rotWithShape="1">
              <a:blip r:embed="rId7">
                <a:alphaModFix/>
              </a:blip>
              <a:srcRect b="0" l="0" r="0" t="0"/>
              <a:stretch/>
            </p:blipFill>
            <p:spPr>
              <a:xfrm>
                <a:off x="947738" y="2281238"/>
                <a:ext cx="1152600" cy="1152600"/>
              </a:xfrm>
              <a:prstGeom prst="rect">
                <a:avLst/>
              </a:prstGeom>
              <a:noFill/>
              <a:ln>
                <a:noFill/>
              </a:ln>
            </p:spPr>
          </p:pic>
          <p:sp>
            <p:nvSpPr>
              <p:cNvPr id="45" name="Google Shape;45;p3"/>
              <p:cNvSpPr/>
              <p:nvPr/>
            </p:nvSpPr>
            <p:spPr>
              <a:xfrm>
                <a:off x="1962150" y="2152650"/>
                <a:ext cx="266700" cy="266700"/>
              </a:xfrm>
              <a:prstGeom prst="ellipse">
                <a:avLst/>
              </a:prstGeom>
              <a:solidFill>
                <a:srgbClr val="1565D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 name="Google Shape;46;p3"/>
              <p:cNvSpPr txBox="1"/>
              <p:nvPr/>
            </p:nvSpPr>
            <p:spPr>
              <a:xfrm>
                <a:off x="1143000" y="4191000"/>
                <a:ext cx="1905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925">
                    <a:solidFill>
                      <a:srgbClr val="1565D8"/>
                    </a:solidFill>
                    <a:latin typeface="Poppins"/>
                    <a:ea typeface="Poppins"/>
                    <a:cs typeface="Poppins"/>
                    <a:sym typeface="Poppins"/>
                  </a:rPr>
                  <a:t>RELATIONAL KNOWLEDGE GRAPH</a:t>
                </a:r>
                <a:endParaRPr b="1" sz="925">
                  <a:solidFill>
                    <a:srgbClr val="1565D8"/>
                  </a:solidFill>
                  <a:latin typeface="Poppins"/>
                  <a:ea typeface="Poppins"/>
                  <a:cs typeface="Poppins"/>
                  <a:sym typeface="Poppins"/>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4"/>
          <p:cNvSpPr/>
          <p:nvPr/>
        </p:nvSpPr>
        <p:spPr>
          <a:xfrm>
            <a:off x="640080" y="502920"/>
            <a:ext cx="5303400" cy="128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65D8"/>
              </a:buClr>
              <a:buSzPts val="3000"/>
              <a:buFont typeface="Poppins"/>
              <a:buNone/>
            </a:pPr>
            <a:r>
              <a:rPr b="1" lang="en-US" sz="3000">
                <a:solidFill>
                  <a:srgbClr val="1565D8"/>
                </a:solidFill>
                <a:latin typeface="Poppins"/>
                <a:ea typeface="Poppins"/>
                <a:cs typeface="Poppins"/>
                <a:sym typeface="Poppins"/>
              </a:rPr>
              <a:t>Contents</a:t>
            </a:r>
            <a:endParaRPr b="0" i="0" sz="3000" u="none" cap="none" strike="noStrike">
              <a:solidFill>
                <a:schemeClr val="dk1"/>
              </a:solidFill>
              <a:latin typeface="Calibri"/>
              <a:ea typeface="Calibri"/>
              <a:cs typeface="Calibri"/>
              <a:sym typeface="Calibri"/>
            </a:endParaRPr>
          </a:p>
        </p:txBody>
      </p:sp>
      <p:sp>
        <p:nvSpPr>
          <p:cNvPr id="53" name="Google Shape;53;p4"/>
          <p:cNvSpPr/>
          <p:nvPr/>
        </p:nvSpPr>
        <p:spPr>
          <a:xfrm>
            <a:off x="713232" y="2474464"/>
            <a:ext cx="183000" cy="18300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54" name="Google Shape;54;p4"/>
          <p:cNvSpPr/>
          <p:nvPr/>
        </p:nvSpPr>
        <p:spPr>
          <a:xfrm>
            <a:off x="1051560" y="2373880"/>
            <a:ext cx="493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lang="en-US" sz="1750">
                <a:solidFill>
                  <a:srgbClr val="14233D"/>
                </a:solidFill>
                <a:latin typeface="Poppins"/>
                <a:ea typeface="Poppins"/>
                <a:cs typeface="Poppins"/>
                <a:sym typeface="Poppins"/>
              </a:rPr>
              <a:t>What</a:t>
            </a:r>
            <a:r>
              <a:rPr lang="en-US" sz="1750">
                <a:solidFill>
                  <a:srgbClr val="14233D"/>
                </a:solidFill>
                <a:latin typeface="Poppins"/>
                <a:ea typeface="Poppins"/>
                <a:cs typeface="Poppins"/>
                <a:sym typeface="Poppins"/>
              </a:rPr>
              <a:t> is the project about?</a:t>
            </a:r>
            <a:endParaRPr i="0" sz="1750" u="none" cap="none" strike="noStrike">
              <a:solidFill>
                <a:schemeClr val="dk1"/>
              </a:solidFill>
              <a:latin typeface="Calibri"/>
              <a:ea typeface="Calibri"/>
              <a:cs typeface="Calibri"/>
              <a:sym typeface="Calibri"/>
            </a:endParaRPr>
          </a:p>
        </p:txBody>
      </p:sp>
      <p:sp>
        <p:nvSpPr>
          <p:cNvPr id="55" name="Google Shape;55;p4"/>
          <p:cNvSpPr/>
          <p:nvPr/>
        </p:nvSpPr>
        <p:spPr>
          <a:xfrm>
            <a:off x="713232" y="3617464"/>
            <a:ext cx="183000" cy="18300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56" name="Google Shape;56;p4"/>
          <p:cNvSpPr/>
          <p:nvPr/>
        </p:nvSpPr>
        <p:spPr>
          <a:xfrm>
            <a:off x="1051560" y="3516880"/>
            <a:ext cx="493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lang="en-US" sz="1750">
                <a:solidFill>
                  <a:srgbClr val="14233D"/>
                </a:solidFill>
                <a:latin typeface="Poppins"/>
                <a:ea typeface="Poppins"/>
                <a:cs typeface="Poppins"/>
                <a:sym typeface="Poppins"/>
              </a:rPr>
              <a:t>Agentic process flow</a:t>
            </a:r>
            <a:endParaRPr i="0" sz="1750" u="none" cap="none" strike="noStrike">
              <a:solidFill>
                <a:schemeClr val="dk1"/>
              </a:solidFill>
              <a:latin typeface="Calibri"/>
              <a:ea typeface="Calibri"/>
              <a:cs typeface="Calibri"/>
              <a:sym typeface="Calibri"/>
            </a:endParaRPr>
          </a:p>
        </p:txBody>
      </p:sp>
      <p:sp>
        <p:nvSpPr>
          <p:cNvPr id="57" name="Google Shape;57;p4"/>
          <p:cNvSpPr/>
          <p:nvPr/>
        </p:nvSpPr>
        <p:spPr>
          <a:xfrm>
            <a:off x="713232" y="4760464"/>
            <a:ext cx="183000" cy="18300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58" name="Google Shape;58;p4"/>
          <p:cNvSpPr/>
          <p:nvPr/>
        </p:nvSpPr>
        <p:spPr>
          <a:xfrm>
            <a:off x="1051560" y="4659880"/>
            <a:ext cx="493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lang="en-US" sz="1750">
                <a:solidFill>
                  <a:srgbClr val="14233D"/>
                </a:solidFill>
                <a:latin typeface="Poppins"/>
                <a:ea typeface="Poppins"/>
                <a:cs typeface="Poppins"/>
                <a:sym typeface="Poppins"/>
              </a:rPr>
              <a:t>Project Plan</a:t>
            </a:r>
            <a:endParaRPr sz="1750">
              <a:solidFill>
                <a:srgbClr val="14233D"/>
              </a:solidFill>
              <a:latin typeface="Poppins"/>
              <a:ea typeface="Poppins"/>
              <a:cs typeface="Poppins"/>
              <a:sym typeface="Poppins"/>
            </a:endParaRPr>
          </a:p>
        </p:txBody>
      </p:sp>
      <p:sp>
        <p:nvSpPr>
          <p:cNvPr id="59" name="Google Shape;59;p4"/>
          <p:cNvSpPr/>
          <p:nvPr/>
        </p:nvSpPr>
        <p:spPr>
          <a:xfrm>
            <a:off x="708579" y="3026042"/>
            <a:ext cx="183000" cy="18300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60" name="Google Shape;60;p4"/>
          <p:cNvSpPr/>
          <p:nvPr/>
        </p:nvSpPr>
        <p:spPr>
          <a:xfrm>
            <a:off x="1046907" y="2925458"/>
            <a:ext cx="493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lang="en-US" sz="1750">
                <a:solidFill>
                  <a:srgbClr val="14233D"/>
                </a:solidFill>
                <a:latin typeface="Poppins"/>
                <a:ea typeface="Poppins"/>
                <a:cs typeface="Poppins"/>
                <a:sym typeface="Poppins"/>
              </a:rPr>
              <a:t>How will be the output look like?</a:t>
            </a:r>
            <a:endParaRPr i="0" sz="1750" u="none" cap="none" strike="noStrike">
              <a:solidFill>
                <a:schemeClr val="dk1"/>
              </a:solidFill>
              <a:latin typeface="Calibri"/>
              <a:ea typeface="Calibri"/>
              <a:cs typeface="Calibri"/>
              <a:sym typeface="Calibri"/>
            </a:endParaRPr>
          </a:p>
        </p:txBody>
      </p:sp>
      <p:sp>
        <p:nvSpPr>
          <p:cNvPr id="61" name="Google Shape;61;p4"/>
          <p:cNvSpPr/>
          <p:nvPr/>
        </p:nvSpPr>
        <p:spPr>
          <a:xfrm>
            <a:off x="710469" y="4192745"/>
            <a:ext cx="183000" cy="18300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62" name="Google Shape;62;p4"/>
          <p:cNvSpPr/>
          <p:nvPr/>
        </p:nvSpPr>
        <p:spPr>
          <a:xfrm>
            <a:off x="1048797" y="4092161"/>
            <a:ext cx="493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lang="en-US" sz="1750">
                <a:solidFill>
                  <a:srgbClr val="14233D"/>
                </a:solidFill>
                <a:latin typeface="Poppins"/>
                <a:ea typeface="Poppins"/>
                <a:cs typeface="Poppins"/>
                <a:sym typeface="Poppins"/>
              </a:rPr>
              <a:t>Data - Source and Reliability</a:t>
            </a:r>
            <a:endParaRPr i="0" sz="1750" u="none" cap="none" strike="noStrike">
              <a:solidFill>
                <a:schemeClr val="dk1"/>
              </a:solidFill>
              <a:latin typeface="Calibri"/>
              <a:ea typeface="Calibri"/>
              <a:cs typeface="Calibri"/>
              <a:sym typeface="Calibri"/>
            </a:endParaRPr>
          </a:p>
        </p:txBody>
      </p:sp>
      <p:sp>
        <p:nvSpPr>
          <p:cNvPr id="63" name="Google Shape;63;p4"/>
          <p:cNvSpPr/>
          <p:nvPr/>
        </p:nvSpPr>
        <p:spPr>
          <a:xfrm>
            <a:off x="710469" y="1941646"/>
            <a:ext cx="183000" cy="18300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64" name="Google Shape;64;p4"/>
          <p:cNvSpPr/>
          <p:nvPr/>
        </p:nvSpPr>
        <p:spPr>
          <a:xfrm>
            <a:off x="1048797" y="1841062"/>
            <a:ext cx="493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lang="en-US" sz="1750">
                <a:solidFill>
                  <a:srgbClr val="14233D"/>
                </a:solidFill>
                <a:latin typeface="Poppins"/>
                <a:ea typeface="Poppins"/>
                <a:cs typeface="Poppins"/>
                <a:sym typeface="Poppins"/>
              </a:rPr>
              <a:t>Market Opportunity</a:t>
            </a:r>
            <a:endParaRPr i="0" sz="1750" u="none" cap="none" strike="noStrike">
              <a:solidFill>
                <a:schemeClr val="dk1"/>
              </a:solidFill>
              <a:latin typeface="Calibri"/>
              <a:ea typeface="Calibri"/>
              <a:cs typeface="Calibri"/>
              <a:sym typeface="Calibri"/>
            </a:endParaRPr>
          </a:p>
        </p:txBody>
      </p:sp>
      <p:sp>
        <p:nvSpPr>
          <p:cNvPr id="65" name="Google Shape;65;p4"/>
          <p:cNvSpPr/>
          <p:nvPr/>
        </p:nvSpPr>
        <p:spPr>
          <a:xfrm>
            <a:off x="702035" y="5292410"/>
            <a:ext cx="183000" cy="18300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600"/>
          </a:p>
        </p:txBody>
      </p:sp>
      <p:sp>
        <p:nvSpPr>
          <p:cNvPr id="66" name="Google Shape;66;p4"/>
          <p:cNvSpPr/>
          <p:nvPr/>
        </p:nvSpPr>
        <p:spPr>
          <a:xfrm>
            <a:off x="1040363" y="5191826"/>
            <a:ext cx="493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lang="en-US" sz="1750">
                <a:solidFill>
                  <a:srgbClr val="14233D"/>
                </a:solidFill>
                <a:latin typeface="Poppins"/>
                <a:ea typeface="Poppins"/>
                <a:cs typeface="Poppins"/>
                <a:sym typeface="Poppins"/>
              </a:rPr>
              <a:t>Questions</a:t>
            </a:r>
            <a:endParaRPr sz="1750">
              <a:solidFill>
                <a:srgbClr val="14233D"/>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5"/>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The Blind Spot &amp; Opportunity</a:t>
            </a:r>
            <a:endParaRPr b="0" i="0" sz="2800" u="none" cap="none" strike="noStrike">
              <a:solidFill>
                <a:schemeClr val="dk1"/>
              </a:solidFill>
              <a:latin typeface="Calibri"/>
              <a:ea typeface="Calibri"/>
              <a:cs typeface="Calibri"/>
              <a:sym typeface="Calibri"/>
            </a:endParaRPr>
          </a:p>
        </p:txBody>
      </p:sp>
      <p:sp>
        <p:nvSpPr>
          <p:cNvPr id="73" name="Google Shape;73;p5"/>
          <p:cNvSpPr/>
          <p:nvPr/>
        </p:nvSpPr>
        <p:spPr>
          <a:xfrm>
            <a:off x="640080" y="1600200"/>
            <a:ext cx="3429000" cy="3886200"/>
          </a:xfrm>
          <a:prstGeom prst="roundRect">
            <a:avLst>
              <a:gd fmla="val 3467" name="adj"/>
            </a:avLst>
          </a:prstGeom>
          <a:solidFill>
            <a:srgbClr val="F5F8FC"/>
          </a:solidFill>
          <a:ln cap="flat" cmpd="sng" w="12700">
            <a:solidFill>
              <a:srgbClr val="DBE5F1"/>
            </a:solidFill>
            <a:prstDash val="solid"/>
            <a:round/>
            <a:headEnd len="sm" w="sm" type="none"/>
            <a:tailEnd len="sm" w="sm" type="none"/>
          </a:ln>
          <a:effectLst>
            <a:outerShdw blurRad="1451610000" rotWithShape="0" algn="bl" dist="483870000">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1005840" y="1965960"/>
            <a:ext cx="237744" cy="237744"/>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1005840" y="2377440"/>
            <a:ext cx="2697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800"/>
              <a:buFont typeface="Poppins"/>
              <a:buNone/>
            </a:pPr>
            <a:r>
              <a:rPr b="1" i="0" lang="en-US" sz="1800" u="none" cap="none" strike="noStrike">
                <a:solidFill>
                  <a:srgbClr val="14233D"/>
                </a:solidFill>
                <a:latin typeface="Poppins"/>
                <a:ea typeface="Poppins"/>
                <a:cs typeface="Poppins"/>
                <a:sym typeface="Poppins"/>
              </a:rPr>
              <a:t>The Consumer Void</a:t>
            </a:r>
            <a:endParaRPr b="0" i="0" sz="1800" u="none" cap="none" strike="noStrike">
              <a:solidFill>
                <a:schemeClr val="dk1"/>
              </a:solidFill>
              <a:latin typeface="Calibri"/>
              <a:ea typeface="Calibri"/>
              <a:cs typeface="Calibri"/>
              <a:sym typeface="Calibri"/>
            </a:endParaRPr>
          </a:p>
        </p:txBody>
      </p:sp>
      <p:sp>
        <p:nvSpPr>
          <p:cNvPr id="76" name="Google Shape;76;p5"/>
          <p:cNvSpPr/>
          <p:nvPr/>
        </p:nvSpPr>
        <p:spPr>
          <a:xfrm>
            <a:off x="1005840" y="2880360"/>
            <a:ext cx="2743200" cy="23774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D4B62"/>
              </a:buClr>
              <a:buSzPts val="1350"/>
              <a:buFont typeface="Poppins"/>
              <a:buNone/>
            </a:pPr>
            <a:r>
              <a:rPr b="0" i="0" lang="en-US" sz="1350" u="none" cap="none" strike="noStrike">
                <a:solidFill>
                  <a:srgbClr val="3D4B62"/>
                </a:solidFill>
                <a:latin typeface="Poppins"/>
                <a:ea typeface="Poppins"/>
                <a:cs typeface="Poppins"/>
                <a:sym typeface="Poppins"/>
              </a:rPr>
              <a:t>Platforms like Zillow give </a:t>
            </a:r>
            <a:r>
              <a:rPr lang="en-US" sz="1350">
                <a:solidFill>
                  <a:srgbClr val="3D4B62"/>
                </a:solidFill>
                <a:latin typeface="Poppins"/>
                <a:ea typeface="Poppins"/>
                <a:cs typeface="Poppins"/>
                <a:sym typeface="Poppins"/>
              </a:rPr>
              <a:t>valuation </a:t>
            </a:r>
            <a:r>
              <a:rPr b="0" i="0" lang="en-US" sz="1350" u="none" cap="none" strike="noStrike">
                <a:solidFill>
                  <a:srgbClr val="3D4B62"/>
                </a:solidFill>
                <a:latin typeface="Poppins"/>
                <a:ea typeface="Poppins"/>
                <a:cs typeface="Poppins"/>
                <a:sym typeface="Poppins"/>
              </a:rPr>
              <a:t>estimates but operate as “black boxes.” </a:t>
            </a:r>
            <a:endParaRPr b="0" i="0" sz="1350" u="none" cap="none" strike="noStrike">
              <a:solidFill>
                <a:srgbClr val="3D4B62"/>
              </a:solidFill>
              <a:latin typeface="Poppins"/>
              <a:ea typeface="Poppins"/>
              <a:cs typeface="Poppins"/>
              <a:sym typeface="Poppins"/>
            </a:endParaRPr>
          </a:p>
          <a:p>
            <a:pPr indent="0" lvl="0" marL="0" marR="0" rtl="0" algn="l">
              <a:lnSpc>
                <a:spcPct val="125000"/>
              </a:lnSpc>
              <a:spcBef>
                <a:spcPts val="0"/>
              </a:spcBef>
              <a:spcAft>
                <a:spcPts val="0"/>
              </a:spcAft>
              <a:buClr>
                <a:srgbClr val="3D4B62"/>
              </a:buClr>
              <a:buSzPts val="1350"/>
              <a:buFont typeface="Poppins"/>
              <a:buNone/>
            </a:pPr>
            <a:r>
              <a:rPr b="0" i="0" lang="en-US" sz="1350" u="none" cap="none" strike="noStrike">
                <a:solidFill>
                  <a:srgbClr val="3D4B62"/>
                </a:solidFill>
                <a:latin typeface="Poppins"/>
                <a:ea typeface="Poppins"/>
                <a:cs typeface="Poppins"/>
                <a:sym typeface="Poppins"/>
              </a:rPr>
              <a:t>They offer filters with zero explanation of why a property is valued a certain way — hiding the relationships that matter.</a:t>
            </a:r>
            <a:endParaRPr b="0" i="0" sz="1350" u="none" cap="none" strike="noStrike">
              <a:solidFill>
                <a:schemeClr val="dk1"/>
              </a:solidFill>
              <a:latin typeface="Calibri"/>
              <a:ea typeface="Calibri"/>
              <a:cs typeface="Calibri"/>
              <a:sym typeface="Calibri"/>
            </a:endParaRPr>
          </a:p>
        </p:txBody>
      </p:sp>
      <p:sp>
        <p:nvSpPr>
          <p:cNvPr id="77" name="Google Shape;77;p5"/>
          <p:cNvSpPr/>
          <p:nvPr/>
        </p:nvSpPr>
        <p:spPr>
          <a:xfrm>
            <a:off x="4379976" y="1600200"/>
            <a:ext cx="3429000" cy="3886200"/>
          </a:xfrm>
          <a:prstGeom prst="roundRect">
            <a:avLst>
              <a:gd fmla="val 3467" name="adj"/>
            </a:avLst>
          </a:prstGeom>
          <a:solidFill>
            <a:srgbClr val="F5F8FC"/>
          </a:solidFill>
          <a:ln cap="flat" cmpd="sng" w="12700">
            <a:solidFill>
              <a:srgbClr val="DBE5F1"/>
            </a:solidFill>
            <a:prstDash val="solid"/>
            <a:round/>
            <a:headEnd len="sm" w="sm" type="none"/>
            <a:tailEnd len="sm" w="sm" type="none"/>
          </a:ln>
          <a:effectLst>
            <a:outerShdw blurRad="18435446250000" rotWithShape="0" algn="bl" dist="-949200576">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4745736" y="1965960"/>
            <a:ext cx="237744" cy="237744"/>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4745736" y="2377440"/>
            <a:ext cx="26974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800"/>
              <a:buFont typeface="Poppins"/>
              <a:buNone/>
            </a:pPr>
            <a:r>
              <a:rPr b="1" i="0" lang="en-US" sz="1800" u="none" cap="none" strike="noStrike">
                <a:solidFill>
                  <a:srgbClr val="14233D"/>
                </a:solidFill>
                <a:latin typeface="Poppins"/>
                <a:ea typeface="Poppins"/>
                <a:cs typeface="Poppins"/>
                <a:sym typeface="Poppins"/>
              </a:rPr>
              <a:t>The Enterprise Wall</a:t>
            </a:r>
            <a:endParaRPr b="0" i="0" sz="1800" u="none" cap="none" strike="noStrike">
              <a:solidFill>
                <a:schemeClr val="dk1"/>
              </a:solidFill>
              <a:latin typeface="Calibri"/>
              <a:ea typeface="Calibri"/>
              <a:cs typeface="Calibri"/>
              <a:sym typeface="Calibri"/>
            </a:endParaRPr>
          </a:p>
        </p:txBody>
      </p:sp>
      <p:sp>
        <p:nvSpPr>
          <p:cNvPr id="80" name="Google Shape;80;p5"/>
          <p:cNvSpPr/>
          <p:nvPr/>
        </p:nvSpPr>
        <p:spPr>
          <a:xfrm>
            <a:off x="4745736" y="2880360"/>
            <a:ext cx="2743200" cy="23774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D4B62"/>
              </a:buClr>
              <a:buSzPts val="1350"/>
              <a:buFont typeface="Poppins"/>
              <a:buNone/>
            </a:pPr>
            <a:r>
              <a:rPr b="0" i="0" lang="en-US" sz="1350" u="none" cap="none" strike="noStrike">
                <a:solidFill>
                  <a:srgbClr val="3D4B62"/>
                </a:solidFill>
                <a:latin typeface="Poppins"/>
                <a:ea typeface="Poppins"/>
                <a:cs typeface="Poppins"/>
                <a:sym typeface="Poppins"/>
              </a:rPr>
              <a:t>Enterprise tools like Cherre offer deep relational knowledge graphs that connect value drivers</a:t>
            </a:r>
            <a:r>
              <a:rPr lang="en-US" sz="1350">
                <a:solidFill>
                  <a:srgbClr val="3D4B62"/>
                </a:solidFill>
                <a:latin typeface="Poppins"/>
                <a:ea typeface="Poppins"/>
                <a:cs typeface="Poppins"/>
                <a:sym typeface="Poppins"/>
              </a:rPr>
              <a:t>,</a:t>
            </a:r>
            <a:r>
              <a:rPr b="0" i="0" lang="en-US" sz="1350" u="none" cap="none" strike="noStrike">
                <a:solidFill>
                  <a:srgbClr val="3D4B62"/>
                </a:solidFill>
                <a:latin typeface="Poppins"/>
                <a:ea typeface="Poppins"/>
                <a:cs typeface="Poppins"/>
                <a:sym typeface="Poppins"/>
              </a:rPr>
              <a:t> but cost $25k–$300k a year, locking out everyday buyers and smaller investors.</a:t>
            </a:r>
            <a:endParaRPr b="0" i="0" sz="1350" u="none" cap="none" strike="noStrike">
              <a:solidFill>
                <a:schemeClr val="dk1"/>
              </a:solidFill>
              <a:latin typeface="Calibri"/>
              <a:ea typeface="Calibri"/>
              <a:cs typeface="Calibri"/>
              <a:sym typeface="Calibri"/>
            </a:endParaRPr>
          </a:p>
        </p:txBody>
      </p:sp>
      <p:sp>
        <p:nvSpPr>
          <p:cNvPr id="81" name="Google Shape;81;p5"/>
          <p:cNvSpPr/>
          <p:nvPr/>
        </p:nvSpPr>
        <p:spPr>
          <a:xfrm>
            <a:off x="8119872" y="1600200"/>
            <a:ext cx="3429000" cy="3886200"/>
          </a:xfrm>
          <a:prstGeom prst="roundRect">
            <a:avLst>
              <a:gd fmla="val 3467" name="adj"/>
            </a:avLst>
          </a:prstGeom>
          <a:solidFill>
            <a:srgbClr val="E7F0FC"/>
          </a:solidFill>
          <a:ln cap="flat" cmpd="sng" w="12700">
            <a:solidFill>
              <a:srgbClr val="1565D8"/>
            </a:solidFill>
            <a:prstDash val="solid"/>
            <a:round/>
            <a:headEnd len="sm" w="sm" type="none"/>
            <a:tailEnd len="sm" w="sm" type="none"/>
          </a:ln>
          <a:effectLst>
            <a:outerShdw blurRad="234130185000000000" rotWithShape="0" algn="bl" dist="1125884672">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8485632" y="1874520"/>
            <a:ext cx="26974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4FE0"/>
              </a:buClr>
              <a:buSzPts val="4000"/>
              <a:buFont typeface="Poppins"/>
              <a:buNone/>
            </a:pPr>
            <a:r>
              <a:rPr b="1" i="0" lang="en-US" sz="4000" u="none" cap="none" strike="noStrike">
                <a:solidFill>
                  <a:srgbClr val="6D4FE0"/>
                </a:solidFill>
                <a:latin typeface="Poppins"/>
                <a:ea typeface="Poppins"/>
                <a:cs typeface="Poppins"/>
                <a:sym typeface="Poppins"/>
              </a:rPr>
              <a:t>$54B</a:t>
            </a:r>
            <a:endParaRPr b="0" i="0" sz="4000" u="none" cap="none" strike="noStrike">
              <a:solidFill>
                <a:schemeClr val="dk1"/>
              </a:solidFill>
              <a:latin typeface="Calibri"/>
              <a:ea typeface="Calibri"/>
              <a:cs typeface="Calibri"/>
              <a:sym typeface="Calibri"/>
            </a:endParaRPr>
          </a:p>
        </p:txBody>
      </p:sp>
      <p:sp>
        <p:nvSpPr>
          <p:cNvPr id="83" name="Google Shape;83;p5"/>
          <p:cNvSpPr/>
          <p:nvPr/>
        </p:nvSpPr>
        <p:spPr>
          <a:xfrm>
            <a:off x="8485632" y="2651760"/>
            <a:ext cx="2697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600"/>
              <a:buFont typeface="Poppins"/>
              <a:buNone/>
            </a:pPr>
            <a:r>
              <a:rPr b="1" i="0" lang="en-US" sz="1600" u="none" cap="none" strike="noStrike">
                <a:solidFill>
                  <a:srgbClr val="1565D8"/>
                </a:solidFill>
                <a:latin typeface="Poppins"/>
                <a:ea typeface="Poppins"/>
                <a:cs typeface="Poppins"/>
                <a:sym typeface="Poppins"/>
              </a:rPr>
              <a:t>The White Space</a:t>
            </a:r>
            <a:endParaRPr b="0" i="0" sz="1600" u="none" cap="none" strike="noStrike">
              <a:solidFill>
                <a:schemeClr val="dk1"/>
              </a:solidFill>
              <a:latin typeface="Calibri"/>
              <a:ea typeface="Calibri"/>
              <a:cs typeface="Calibri"/>
              <a:sym typeface="Calibri"/>
            </a:endParaRPr>
          </a:p>
        </p:txBody>
      </p:sp>
      <p:sp>
        <p:nvSpPr>
          <p:cNvPr id="84" name="Google Shape;84;p5"/>
          <p:cNvSpPr/>
          <p:nvPr/>
        </p:nvSpPr>
        <p:spPr>
          <a:xfrm>
            <a:off x="8485632" y="3108960"/>
            <a:ext cx="2743200" cy="21945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D4B62"/>
              </a:buClr>
              <a:buSzPts val="1350"/>
              <a:buFont typeface="Poppins"/>
              <a:buNone/>
            </a:pPr>
            <a:r>
              <a:rPr b="0" i="0" lang="en-US" sz="1350" u="none" cap="none" strike="noStrike">
                <a:solidFill>
                  <a:srgbClr val="3D4B62"/>
                </a:solidFill>
                <a:latin typeface="Poppins"/>
                <a:ea typeface="Poppins"/>
                <a:cs typeface="Poppins"/>
                <a:sym typeface="Poppins"/>
              </a:rPr>
              <a:t>AI-driven PropTech is growing 42% a year. There's huge potential in democratizing institutional-grade relational analytics — filling the void between free tools and enterprise suites.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6"/>
          <p:cNvSpPr/>
          <p:nvPr/>
        </p:nvSpPr>
        <p:spPr>
          <a:xfrm>
            <a:off x="6172200" y="-91440"/>
            <a:ext cx="6172200" cy="7040880"/>
          </a:xfrm>
          <a:prstGeom prst="roundRect">
            <a:avLst>
              <a:gd fmla="val 16667" name="adj"/>
            </a:avLst>
          </a:prstGeom>
          <a:solidFill>
            <a:srgbClr val="EDF3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1" name="Google Shape;91;p6"/>
          <p:cNvCxnSpPr/>
          <p:nvPr/>
        </p:nvCxnSpPr>
        <p:spPr>
          <a:xfrm flipH="1" rot="10800000">
            <a:off x="7269480" y="1202436"/>
            <a:ext cx="1248156" cy="489204"/>
          </a:xfrm>
          <a:prstGeom prst="straightConnector1">
            <a:avLst/>
          </a:prstGeom>
          <a:noFill/>
          <a:ln cap="flat" cmpd="sng" w="15875">
            <a:solidFill>
              <a:srgbClr val="C3D4EA"/>
            </a:solidFill>
            <a:prstDash val="solid"/>
            <a:round/>
            <a:headEnd len="sm" w="sm" type="none"/>
            <a:tailEnd len="sm" w="sm" type="none"/>
          </a:ln>
        </p:spPr>
      </p:cxnSp>
      <p:cxnSp>
        <p:nvCxnSpPr>
          <p:cNvPr id="92" name="Google Shape;92;p6"/>
          <p:cNvCxnSpPr/>
          <p:nvPr/>
        </p:nvCxnSpPr>
        <p:spPr>
          <a:xfrm>
            <a:off x="8517636" y="1202436"/>
            <a:ext cx="1385316" cy="653796"/>
          </a:xfrm>
          <a:prstGeom prst="straightConnector1">
            <a:avLst/>
          </a:prstGeom>
          <a:noFill/>
          <a:ln cap="flat" cmpd="sng" w="15875">
            <a:solidFill>
              <a:srgbClr val="C3D4EA"/>
            </a:solidFill>
            <a:prstDash val="solid"/>
            <a:round/>
            <a:headEnd len="sm" w="sm" type="none"/>
            <a:tailEnd len="sm" w="sm" type="none"/>
          </a:ln>
        </p:spPr>
      </p:cxnSp>
      <p:cxnSp>
        <p:nvCxnSpPr>
          <p:cNvPr id="93" name="Google Shape;93;p6"/>
          <p:cNvCxnSpPr/>
          <p:nvPr/>
        </p:nvCxnSpPr>
        <p:spPr>
          <a:xfrm flipH="1" rot="10800000">
            <a:off x="9902952" y="1293876"/>
            <a:ext cx="1129284" cy="562356"/>
          </a:xfrm>
          <a:prstGeom prst="straightConnector1">
            <a:avLst/>
          </a:prstGeom>
          <a:noFill/>
          <a:ln cap="flat" cmpd="sng" w="15875">
            <a:solidFill>
              <a:srgbClr val="C3D4EA"/>
            </a:solidFill>
            <a:prstDash val="solid"/>
            <a:round/>
            <a:headEnd len="sm" w="sm" type="none"/>
            <a:tailEnd len="sm" w="sm" type="none"/>
          </a:ln>
        </p:spPr>
      </p:cxnSp>
      <p:cxnSp>
        <p:nvCxnSpPr>
          <p:cNvPr id="94" name="Google Shape;94;p6"/>
          <p:cNvCxnSpPr/>
          <p:nvPr/>
        </p:nvCxnSpPr>
        <p:spPr>
          <a:xfrm>
            <a:off x="7269480" y="1691640"/>
            <a:ext cx="475488" cy="1161288"/>
          </a:xfrm>
          <a:prstGeom prst="straightConnector1">
            <a:avLst/>
          </a:prstGeom>
          <a:noFill/>
          <a:ln cap="flat" cmpd="sng" w="15875">
            <a:solidFill>
              <a:srgbClr val="C3D4EA"/>
            </a:solidFill>
            <a:prstDash val="solid"/>
            <a:round/>
            <a:headEnd len="sm" w="sm" type="none"/>
            <a:tailEnd len="sm" w="sm" type="none"/>
          </a:ln>
        </p:spPr>
      </p:cxnSp>
      <p:cxnSp>
        <p:nvCxnSpPr>
          <p:cNvPr id="95" name="Google Shape;95;p6"/>
          <p:cNvCxnSpPr/>
          <p:nvPr/>
        </p:nvCxnSpPr>
        <p:spPr>
          <a:xfrm flipH="1" rot="10800000">
            <a:off x="7744968" y="2679192"/>
            <a:ext cx="1563624" cy="173736"/>
          </a:xfrm>
          <a:prstGeom prst="straightConnector1">
            <a:avLst/>
          </a:prstGeom>
          <a:noFill/>
          <a:ln cap="flat" cmpd="sng" w="15875">
            <a:solidFill>
              <a:srgbClr val="C3D4EA"/>
            </a:solidFill>
            <a:prstDash val="solid"/>
            <a:round/>
            <a:headEnd len="sm" w="sm" type="none"/>
            <a:tailEnd len="sm" w="sm" type="none"/>
          </a:ln>
        </p:spPr>
      </p:cxnSp>
      <p:cxnSp>
        <p:nvCxnSpPr>
          <p:cNvPr id="96" name="Google Shape;96;p6"/>
          <p:cNvCxnSpPr/>
          <p:nvPr/>
        </p:nvCxnSpPr>
        <p:spPr>
          <a:xfrm flipH="1" rot="10800000">
            <a:off x="9308592" y="1856232"/>
            <a:ext cx="594360" cy="822960"/>
          </a:xfrm>
          <a:prstGeom prst="straightConnector1">
            <a:avLst/>
          </a:prstGeom>
          <a:noFill/>
          <a:ln cap="flat" cmpd="sng" w="15875">
            <a:solidFill>
              <a:srgbClr val="C3D4EA"/>
            </a:solidFill>
            <a:prstDash val="solid"/>
            <a:round/>
            <a:headEnd len="sm" w="sm" type="none"/>
            <a:tailEnd len="sm" w="sm" type="none"/>
          </a:ln>
        </p:spPr>
      </p:cxnSp>
      <p:cxnSp>
        <p:nvCxnSpPr>
          <p:cNvPr id="97" name="Google Shape;97;p6"/>
          <p:cNvCxnSpPr/>
          <p:nvPr/>
        </p:nvCxnSpPr>
        <p:spPr>
          <a:xfrm>
            <a:off x="9308592" y="2679192"/>
            <a:ext cx="1412748" cy="498348"/>
          </a:xfrm>
          <a:prstGeom prst="straightConnector1">
            <a:avLst/>
          </a:prstGeom>
          <a:noFill/>
          <a:ln cap="flat" cmpd="sng" w="15875">
            <a:solidFill>
              <a:srgbClr val="C3D4EA"/>
            </a:solidFill>
            <a:prstDash val="solid"/>
            <a:round/>
            <a:headEnd len="sm" w="sm" type="none"/>
            <a:tailEnd len="sm" w="sm" type="none"/>
          </a:ln>
        </p:spPr>
      </p:cxnSp>
      <p:cxnSp>
        <p:nvCxnSpPr>
          <p:cNvPr id="98" name="Google Shape;98;p6"/>
          <p:cNvCxnSpPr/>
          <p:nvPr/>
        </p:nvCxnSpPr>
        <p:spPr>
          <a:xfrm flipH="1">
            <a:off x="7100316" y="2852928"/>
            <a:ext cx="644652" cy="1275588"/>
          </a:xfrm>
          <a:prstGeom prst="straightConnector1">
            <a:avLst/>
          </a:prstGeom>
          <a:noFill/>
          <a:ln cap="flat" cmpd="sng" w="15875">
            <a:solidFill>
              <a:srgbClr val="C3D4EA"/>
            </a:solidFill>
            <a:prstDash val="solid"/>
            <a:round/>
            <a:headEnd len="sm" w="sm" type="none"/>
            <a:tailEnd len="sm" w="sm" type="none"/>
          </a:ln>
        </p:spPr>
      </p:cxnSp>
      <p:cxnSp>
        <p:nvCxnSpPr>
          <p:cNvPr id="99" name="Google Shape;99;p6"/>
          <p:cNvCxnSpPr/>
          <p:nvPr/>
        </p:nvCxnSpPr>
        <p:spPr>
          <a:xfrm>
            <a:off x="7100316" y="4128516"/>
            <a:ext cx="1293876" cy="196596"/>
          </a:xfrm>
          <a:prstGeom prst="straightConnector1">
            <a:avLst/>
          </a:prstGeom>
          <a:noFill/>
          <a:ln cap="flat" cmpd="sng" w="15875">
            <a:solidFill>
              <a:srgbClr val="C3D4EA"/>
            </a:solidFill>
            <a:prstDash val="solid"/>
            <a:round/>
            <a:headEnd len="sm" w="sm" type="none"/>
            <a:tailEnd len="sm" w="sm" type="none"/>
          </a:ln>
        </p:spPr>
      </p:cxnSp>
      <p:cxnSp>
        <p:nvCxnSpPr>
          <p:cNvPr id="100" name="Google Shape;100;p6"/>
          <p:cNvCxnSpPr/>
          <p:nvPr/>
        </p:nvCxnSpPr>
        <p:spPr>
          <a:xfrm flipH="1" rot="10800000">
            <a:off x="8394192" y="2679192"/>
            <a:ext cx="914400" cy="1645920"/>
          </a:xfrm>
          <a:prstGeom prst="straightConnector1">
            <a:avLst/>
          </a:prstGeom>
          <a:noFill/>
          <a:ln cap="flat" cmpd="sng" w="15875">
            <a:solidFill>
              <a:srgbClr val="C3D4EA"/>
            </a:solidFill>
            <a:prstDash val="solid"/>
            <a:round/>
            <a:headEnd len="sm" w="sm" type="none"/>
            <a:tailEnd len="sm" w="sm" type="none"/>
          </a:ln>
        </p:spPr>
      </p:cxnSp>
      <p:cxnSp>
        <p:nvCxnSpPr>
          <p:cNvPr id="101" name="Google Shape;101;p6"/>
          <p:cNvCxnSpPr/>
          <p:nvPr/>
        </p:nvCxnSpPr>
        <p:spPr>
          <a:xfrm>
            <a:off x="8394192" y="4325112"/>
            <a:ext cx="1408176" cy="265176"/>
          </a:xfrm>
          <a:prstGeom prst="straightConnector1">
            <a:avLst/>
          </a:prstGeom>
          <a:noFill/>
          <a:ln cap="flat" cmpd="sng" w="15875">
            <a:solidFill>
              <a:srgbClr val="C3D4EA"/>
            </a:solidFill>
            <a:prstDash val="solid"/>
            <a:round/>
            <a:headEnd len="sm" w="sm" type="none"/>
            <a:tailEnd len="sm" w="sm" type="none"/>
          </a:ln>
        </p:spPr>
      </p:cxnSp>
      <p:cxnSp>
        <p:nvCxnSpPr>
          <p:cNvPr id="102" name="Google Shape;102;p6"/>
          <p:cNvCxnSpPr/>
          <p:nvPr/>
        </p:nvCxnSpPr>
        <p:spPr>
          <a:xfrm flipH="1" rot="10800000">
            <a:off x="9802368" y="3177540"/>
            <a:ext cx="918972" cy="1412748"/>
          </a:xfrm>
          <a:prstGeom prst="straightConnector1">
            <a:avLst/>
          </a:prstGeom>
          <a:noFill/>
          <a:ln cap="flat" cmpd="sng" w="15875">
            <a:solidFill>
              <a:srgbClr val="C3D4EA"/>
            </a:solidFill>
            <a:prstDash val="solid"/>
            <a:round/>
            <a:headEnd len="sm" w="sm" type="none"/>
            <a:tailEnd len="sm" w="sm" type="none"/>
          </a:ln>
        </p:spPr>
      </p:cxnSp>
      <p:cxnSp>
        <p:nvCxnSpPr>
          <p:cNvPr id="103" name="Google Shape;103;p6"/>
          <p:cNvCxnSpPr/>
          <p:nvPr/>
        </p:nvCxnSpPr>
        <p:spPr>
          <a:xfrm flipH="1" rot="10800000">
            <a:off x="9802368" y="3945636"/>
            <a:ext cx="1275588" cy="644652"/>
          </a:xfrm>
          <a:prstGeom prst="straightConnector1">
            <a:avLst/>
          </a:prstGeom>
          <a:noFill/>
          <a:ln cap="flat" cmpd="sng" w="15875">
            <a:solidFill>
              <a:srgbClr val="C3D4EA"/>
            </a:solidFill>
            <a:prstDash val="solid"/>
            <a:round/>
            <a:headEnd len="sm" w="sm" type="none"/>
            <a:tailEnd len="sm" w="sm" type="none"/>
          </a:ln>
        </p:spPr>
      </p:cxnSp>
      <p:cxnSp>
        <p:nvCxnSpPr>
          <p:cNvPr id="104" name="Google Shape;104;p6"/>
          <p:cNvCxnSpPr/>
          <p:nvPr/>
        </p:nvCxnSpPr>
        <p:spPr>
          <a:xfrm>
            <a:off x="7100316" y="4128516"/>
            <a:ext cx="923544" cy="1289304"/>
          </a:xfrm>
          <a:prstGeom prst="straightConnector1">
            <a:avLst/>
          </a:prstGeom>
          <a:noFill/>
          <a:ln cap="flat" cmpd="sng" w="15875">
            <a:solidFill>
              <a:srgbClr val="C3D4EA"/>
            </a:solidFill>
            <a:prstDash val="solid"/>
            <a:round/>
            <a:headEnd len="sm" w="sm" type="none"/>
            <a:tailEnd len="sm" w="sm" type="none"/>
          </a:ln>
        </p:spPr>
      </p:cxnSp>
      <p:cxnSp>
        <p:nvCxnSpPr>
          <p:cNvPr id="105" name="Google Shape;105;p6"/>
          <p:cNvCxnSpPr/>
          <p:nvPr/>
        </p:nvCxnSpPr>
        <p:spPr>
          <a:xfrm>
            <a:off x="8023860" y="5417820"/>
            <a:ext cx="1362456" cy="82296"/>
          </a:xfrm>
          <a:prstGeom prst="straightConnector1">
            <a:avLst/>
          </a:prstGeom>
          <a:noFill/>
          <a:ln cap="flat" cmpd="sng" w="15875">
            <a:solidFill>
              <a:srgbClr val="C3D4EA"/>
            </a:solidFill>
            <a:prstDash val="solid"/>
            <a:round/>
            <a:headEnd len="sm" w="sm" type="none"/>
            <a:tailEnd len="sm" w="sm" type="none"/>
          </a:ln>
        </p:spPr>
      </p:cxnSp>
      <p:cxnSp>
        <p:nvCxnSpPr>
          <p:cNvPr id="106" name="Google Shape;106;p6"/>
          <p:cNvCxnSpPr/>
          <p:nvPr/>
        </p:nvCxnSpPr>
        <p:spPr>
          <a:xfrm rot="10800000">
            <a:off x="8394192" y="4325112"/>
            <a:ext cx="992124" cy="1175004"/>
          </a:xfrm>
          <a:prstGeom prst="straightConnector1">
            <a:avLst/>
          </a:prstGeom>
          <a:noFill/>
          <a:ln cap="flat" cmpd="sng" w="15875">
            <a:solidFill>
              <a:srgbClr val="C3D4EA"/>
            </a:solidFill>
            <a:prstDash val="solid"/>
            <a:round/>
            <a:headEnd len="sm" w="sm" type="none"/>
            <a:tailEnd len="sm" w="sm" type="none"/>
          </a:ln>
        </p:spPr>
      </p:cxnSp>
      <p:cxnSp>
        <p:nvCxnSpPr>
          <p:cNvPr id="107" name="Google Shape;107;p6"/>
          <p:cNvCxnSpPr/>
          <p:nvPr/>
        </p:nvCxnSpPr>
        <p:spPr>
          <a:xfrm flipH="1" rot="10800000">
            <a:off x="9386316" y="5193792"/>
            <a:ext cx="1202436" cy="306324"/>
          </a:xfrm>
          <a:prstGeom prst="straightConnector1">
            <a:avLst/>
          </a:prstGeom>
          <a:noFill/>
          <a:ln cap="flat" cmpd="sng" w="15875">
            <a:solidFill>
              <a:srgbClr val="C3D4EA"/>
            </a:solidFill>
            <a:prstDash val="solid"/>
            <a:round/>
            <a:headEnd len="sm" w="sm" type="none"/>
            <a:tailEnd len="sm" w="sm" type="none"/>
          </a:ln>
        </p:spPr>
      </p:cxnSp>
      <p:cxnSp>
        <p:nvCxnSpPr>
          <p:cNvPr id="108" name="Google Shape;108;p6"/>
          <p:cNvCxnSpPr/>
          <p:nvPr/>
        </p:nvCxnSpPr>
        <p:spPr>
          <a:xfrm rot="10800000">
            <a:off x="9802368" y="4590288"/>
            <a:ext cx="786384" cy="603504"/>
          </a:xfrm>
          <a:prstGeom prst="straightConnector1">
            <a:avLst/>
          </a:prstGeom>
          <a:noFill/>
          <a:ln cap="flat" cmpd="sng" w="15875">
            <a:solidFill>
              <a:srgbClr val="C3D4EA"/>
            </a:solidFill>
            <a:prstDash val="solid"/>
            <a:round/>
            <a:headEnd len="sm" w="sm" type="none"/>
            <a:tailEnd len="sm" w="sm" type="none"/>
          </a:ln>
        </p:spPr>
      </p:cxnSp>
      <p:cxnSp>
        <p:nvCxnSpPr>
          <p:cNvPr id="109" name="Google Shape;109;p6"/>
          <p:cNvCxnSpPr/>
          <p:nvPr/>
        </p:nvCxnSpPr>
        <p:spPr>
          <a:xfrm>
            <a:off x="10721340" y="3177540"/>
            <a:ext cx="356616" cy="768096"/>
          </a:xfrm>
          <a:prstGeom prst="straightConnector1">
            <a:avLst/>
          </a:prstGeom>
          <a:noFill/>
          <a:ln cap="flat" cmpd="sng" w="15875">
            <a:solidFill>
              <a:srgbClr val="C3D4EA"/>
            </a:solidFill>
            <a:prstDash val="solid"/>
            <a:round/>
            <a:headEnd len="sm" w="sm" type="none"/>
            <a:tailEnd len="sm" w="sm" type="none"/>
          </a:ln>
        </p:spPr>
      </p:cxnSp>
      <p:sp>
        <p:nvSpPr>
          <p:cNvPr id="110" name="Google Shape;110;p6"/>
          <p:cNvSpPr/>
          <p:nvPr/>
        </p:nvSpPr>
        <p:spPr>
          <a:xfrm>
            <a:off x="7178040" y="1600200"/>
            <a:ext cx="182880" cy="18288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8458200" y="1143000"/>
            <a:ext cx="118872" cy="118872"/>
          </a:xfrm>
          <a:prstGeom prst="ellipse">
            <a:avLst/>
          </a:prstGeom>
          <a:solidFill>
            <a:srgbClr val="5B8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9829800" y="1783080"/>
            <a:ext cx="146304" cy="146304"/>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10972800" y="1234440"/>
            <a:ext cx="118872" cy="118872"/>
          </a:xfrm>
          <a:prstGeom prst="ellipse">
            <a:avLst/>
          </a:prstGeom>
          <a:solidFill>
            <a:srgbClr val="6D4F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7680960" y="2788920"/>
            <a:ext cx="128016" cy="128016"/>
          </a:xfrm>
          <a:prstGeom prst="ellipse">
            <a:avLst/>
          </a:prstGeom>
          <a:solidFill>
            <a:srgbClr val="5B8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9189720" y="2560320"/>
            <a:ext cx="237744" cy="237744"/>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p:nvPr/>
        </p:nvSpPr>
        <p:spPr>
          <a:xfrm>
            <a:off x="10652760" y="3108960"/>
            <a:ext cx="137160" cy="13716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7040880" y="4069080"/>
            <a:ext cx="118872" cy="118872"/>
          </a:xfrm>
          <a:prstGeom prst="ellipse">
            <a:avLst/>
          </a:prstGeom>
          <a:solidFill>
            <a:srgbClr val="5B8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p:nvPr/>
        </p:nvSpPr>
        <p:spPr>
          <a:xfrm>
            <a:off x="8321040" y="4251960"/>
            <a:ext cx="146304" cy="146304"/>
          </a:xfrm>
          <a:prstGeom prst="ellipse">
            <a:avLst/>
          </a:prstGeom>
          <a:solidFill>
            <a:srgbClr val="6D4F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
          <p:cNvSpPr/>
          <p:nvPr/>
        </p:nvSpPr>
        <p:spPr>
          <a:xfrm>
            <a:off x="9738360" y="4526280"/>
            <a:ext cx="128016" cy="128016"/>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
          <p:cNvSpPr/>
          <p:nvPr/>
        </p:nvSpPr>
        <p:spPr>
          <a:xfrm>
            <a:off x="11018520" y="3886200"/>
            <a:ext cx="118872" cy="118872"/>
          </a:xfrm>
          <a:prstGeom prst="ellipse">
            <a:avLst/>
          </a:prstGeom>
          <a:solidFill>
            <a:srgbClr val="5B8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7955280" y="5349240"/>
            <a:ext cx="137160" cy="13716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9326880" y="5440680"/>
            <a:ext cx="118872" cy="118872"/>
          </a:xfrm>
          <a:prstGeom prst="ellipse">
            <a:avLst/>
          </a:prstGeom>
          <a:solidFill>
            <a:srgbClr val="5B8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6"/>
          <p:cNvSpPr/>
          <p:nvPr/>
        </p:nvSpPr>
        <p:spPr>
          <a:xfrm>
            <a:off x="10515600" y="5120640"/>
            <a:ext cx="146304" cy="146304"/>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6"/>
          <p:cNvSpPr/>
          <p:nvPr/>
        </p:nvSpPr>
        <p:spPr>
          <a:xfrm>
            <a:off x="640080" y="502920"/>
            <a:ext cx="5303520" cy="12801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65D8"/>
              </a:buClr>
              <a:buSzPts val="3000"/>
              <a:buFont typeface="Poppins"/>
              <a:buNone/>
            </a:pPr>
            <a:r>
              <a:rPr b="1" i="0" lang="en-US" sz="3000" u="none" cap="none" strike="noStrike">
                <a:solidFill>
                  <a:srgbClr val="1565D8"/>
                </a:solidFill>
                <a:latin typeface="Poppins"/>
                <a:ea typeface="Poppins"/>
                <a:cs typeface="Poppins"/>
                <a:sym typeface="Poppins"/>
              </a:rPr>
              <a:t>Meet Lattice:</a:t>
            </a:r>
            <a:endParaRPr b="0" i="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565D8"/>
              </a:buClr>
              <a:buSzPts val="3000"/>
              <a:buFont typeface="Poppins"/>
              <a:buNone/>
            </a:pPr>
            <a:r>
              <a:rPr b="1" i="0" lang="en-US" sz="3000" u="none" cap="none" strike="noStrike">
                <a:solidFill>
                  <a:srgbClr val="1565D8"/>
                </a:solidFill>
                <a:latin typeface="Poppins"/>
                <a:ea typeface="Poppins"/>
                <a:cs typeface="Poppins"/>
                <a:sym typeface="Poppins"/>
              </a:rPr>
              <a:t>Relational AI</a:t>
            </a:r>
            <a:endParaRPr b="0" i="0" sz="3000" u="none" cap="none" strike="noStrike">
              <a:solidFill>
                <a:schemeClr val="dk1"/>
              </a:solidFill>
              <a:latin typeface="Calibri"/>
              <a:ea typeface="Calibri"/>
              <a:cs typeface="Calibri"/>
              <a:sym typeface="Calibri"/>
            </a:endParaRPr>
          </a:p>
        </p:txBody>
      </p:sp>
      <p:sp>
        <p:nvSpPr>
          <p:cNvPr id="125" name="Google Shape;125;p6"/>
          <p:cNvSpPr/>
          <p:nvPr/>
        </p:nvSpPr>
        <p:spPr>
          <a:xfrm>
            <a:off x="658368" y="1828800"/>
            <a:ext cx="5349240" cy="9144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3D4B62"/>
              </a:buClr>
              <a:buSzPts val="1400"/>
              <a:buFont typeface="Poppins"/>
              <a:buNone/>
            </a:pPr>
            <a:r>
              <a:rPr b="0" i="0" lang="en-US" sz="1400" u="none" cap="none" strike="noStrike">
                <a:solidFill>
                  <a:srgbClr val="3D4B62"/>
                </a:solidFill>
                <a:latin typeface="Poppins"/>
                <a:ea typeface="Poppins"/>
                <a:cs typeface="Poppins"/>
                <a:sym typeface="Poppins"/>
              </a:rPr>
              <a:t>An AI-powered knowledge graph that chains together public property data — transit, zoning, permits — into a verifiable explanation of what drives value.</a:t>
            </a:r>
            <a:endParaRPr b="0" i="0" sz="1400" u="none" cap="none" strike="noStrike">
              <a:solidFill>
                <a:schemeClr val="dk1"/>
              </a:solidFill>
              <a:latin typeface="Calibri"/>
              <a:ea typeface="Calibri"/>
              <a:cs typeface="Calibri"/>
              <a:sym typeface="Calibri"/>
            </a:endParaRPr>
          </a:p>
        </p:txBody>
      </p:sp>
      <p:sp>
        <p:nvSpPr>
          <p:cNvPr id="126" name="Google Shape;126;p6"/>
          <p:cNvSpPr/>
          <p:nvPr/>
        </p:nvSpPr>
        <p:spPr>
          <a:xfrm>
            <a:off x="713232" y="2971800"/>
            <a:ext cx="182880" cy="18288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p:nvPr/>
        </p:nvSpPr>
        <p:spPr>
          <a:xfrm>
            <a:off x="1051560" y="2871216"/>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Traceable &amp; Verified</a:t>
            </a:r>
            <a:endParaRPr b="0" i="0" sz="1550" u="none" cap="none" strike="noStrike">
              <a:solidFill>
                <a:schemeClr val="dk1"/>
              </a:solidFill>
              <a:latin typeface="Calibri"/>
              <a:ea typeface="Calibri"/>
              <a:cs typeface="Calibri"/>
              <a:sym typeface="Calibri"/>
            </a:endParaRPr>
          </a:p>
        </p:txBody>
      </p:sp>
      <p:sp>
        <p:nvSpPr>
          <p:cNvPr id="128" name="Google Shape;128;p6"/>
          <p:cNvSpPr/>
          <p:nvPr/>
        </p:nvSpPr>
        <p:spPr>
          <a:xfrm>
            <a:off x="1051560" y="3218688"/>
            <a:ext cx="4983480" cy="73152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6E7C92"/>
              </a:buClr>
              <a:buSzPts val="1250"/>
              <a:buFont typeface="Poppins"/>
              <a:buNone/>
            </a:pPr>
            <a:r>
              <a:rPr b="0" i="0" lang="en-US" sz="1250" u="none" cap="none" strike="noStrike">
                <a:solidFill>
                  <a:srgbClr val="6E7C92"/>
                </a:solidFill>
                <a:latin typeface="Poppins"/>
                <a:ea typeface="Poppins"/>
                <a:cs typeface="Poppins"/>
                <a:sym typeface="Poppins"/>
              </a:rPr>
              <a:t>Every claim links to a public record. A “Verifier” agent checks every connection to eliminate AI hallucinations.</a:t>
            </a:r>
            <a:endParaRPr b="0" i="0" sz="1250" u="none" cap="none" strike="noStrike">
              <a:solidFill>
                <a:schemeClr val="dk1"/>
              </a:solidFill>
              <a:latin typeface="Calibri"/>
              <a:ea typeface="Calibri"/>
              <a:cs typeface="Calibri"/>
              <a:sym typeface="Calibri"/>
            </a:endParaRPr>
          </a:p>
        </p:txBody>
      </p:sp>
      <p:sp>
        <p:nvSpPr>
          <p:cNvPr id="129" name="Google Shape;129;p6"/>
          <p:cNvSpPr/>
          <p:nvPr/>
        </p:nvSpPr>
        <p:spPr>
          <a:xfrm>
            <a:off x="713232" y="4114800"/>
            <a:ext cx="182880" cy="18288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
          <p:cNvSpPr/>
          <p:nvPr/>
        </p:nvSpPr>
        <p:spPr>
          <a:xfrm>
            <a:off x="1051560" y="4014216"/>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Surfaces Hidden Context</a:t>
            </a:r>
            <a:endParaRPr b="0" i="0" sz="1550" u="none" cap="none" strike="noStrike">
              <a:solidFill>
                <a:schemeClr val="dk1"/>
              </a:solidFill>
              <a:latin typeface="Calibri"/>
              <a:ea typeface="Calibri"/>
              <a:cs typeface="Calibri"/>
              <a:sym typeface="Calibri"/>
            </a:endParaRPr>
          </a:p>
        </p:txBody>
      </p:sp>
      <p:sp>
        <p:nvSpPr>
          <p:cNvPr id="131" name="Google Shape;131;p6"/>
          <p:cNvSpPr/>
          <p:nvPr/>
        </p:nvSpPr>
        <p:spPr>
          <a:xfrm>
            <a:off x="1051560" y="4361688"/>
            <a:ext cx="4983480" cy="73152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6E7C92"/>
              </a:buClr>
              <a:buSzPts val="1250"/>
              <a:buFont typeface="Poppins"/>
              <a:buNone/>
            </a:pPr>
            <a:r>
              <a:rPr b="0" i="0" lang="en-US" sz="1250" u="none" cap="none" strike="noStrike">
                <a:solidFill>
                  <a:srgbClr val="6E7C92"/>
                </a:solidFill>
                <a:latin typeface="Poppins"/>
                <a:ea typeface="Poppins"/>
                <a:cs typeface="Poppins"/>
                <a:sym typeface="Poppins"/>
              </a:rPr>
              <a:t>Uncovers hidden upside (newly approved transit) and risk (flood zones) that flat searches miss.</a:t>
            </a:r>
            <a:endParaRPr b="0" i="0" sz="1250" u="none" cap="none" strike="noStrike">
              <a:solidFill>
                <a:schemeClr val="dk1"/>
              </a:solidFill>
              <a:latin typeface="Calibri"/>
              <a:ea typeface="Calibri"/>
              <a:cs typeface="Calibri"/>
              <a:sym typeface="Calibri"/>
            </a:endParaRPr>
          </a:p>
        </p:txBody>
      </p:sp>
      <p:sp>
        <p:nvSpPr>
          <p:cNvPr id="132" name="Google Shape;132;p6"/>
          <p:cNvSpPr/>
          <p:nvPr/>
        </p:nvSpPr>
        <p:spPr>
          <a:xfrm>
            <a:off x="713232" y="5257800"/>
            <a:ext cx="182880" cy="18288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1051560" y="5157216"/>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Eval-First Accuracy</a:t>
            </a:r>
            <a:endParaRPr b="0" i="0" sz="1550" u="none" cap="none" strike="noStrike">
              <a:solidFill>
                <a:schemeClr val="dk1"/>
              </a:solidFill>
              <a:latin typeface="Calibri"/>
              <a:ea typeface="Calibri"/>
              <a:cs typeface="Calibri"/>
              <a:sym typeface="Calibri"/>
            </a:endParaRPr>
          </a:p>
        </p:txBody>
      </p:sp>
      <p:sp>
        <p:nvSpPr>
          <p:cNvPr id="134" name="Google Shape;134;p6"/>
          <p:cNvSpPr/>
          <p:nvPr/>
        </p:nvSpPr>
        <p:spPr>
          <a:xfrm>
            <a:off x="1051560" y="5504688"/>
            <a:ext cx="4983480" cy="731520"/>
          </a:xfrm>
          <a:prstGeom prst="rect">
            <a:avLst/>
          </a:prstGeom>
          <a:noFill/>
          <a:ln>
            <a:noFill/>
          </a:ln>
        </p:spPr>
        <p:txBody>
          <a:bodyPr anchorCtr="0" anchor="ctr" bIns="0" lIns="0" spcFirstLastPara="1" rIns="0" wrap="square" tIns="0">
            <a:noAutofit/>
          </a:bodyPr>
          <a:lstStyle/>
          <a:p>
            <a:pPr indent="0" lvl="0" marL="0" marR="0" rtl="0" algn="l">
              <a:lnSpc>
                <a:spcPct val="118000"/>
              </a:lnSpc>
              <a:spcBef>
                <a:spcPts val="0"/>
              </a:spcBef>
              <a:spcAft>
                <a:spcPts val="0"/>
              </a:spcAft>
              <a:buClr>
                <a:srgbClr val="6E7C92"/>
              </a:buClr>
              <a:buSzPts val="1250"/>
              <a:buFont typeface="Poppins"/>
              <a:buNone/>
            </a:pPr>
            <a:r>
              <a:rPr b="0" i="0" lang="en-US" sz="1250" u="none" cap="none" strike="noStrike">
                <a:solidFill>
                  <a:srgbClr val="6E7C92"/>
                </a:solidFill>
                <a:latin typeface="Poppins"/>
                <a:ea typeface="Poppins"/>
                <a:cs typeface="Poppins"/>
                <a:sym typeface="Poppins"/>
              </a:rPr>
              <a:t>Rigorously back </a:t>
            </a:r>
            <a:r>
              <a:rPr b="0" i="0" lang="en-US" sz="1250" u="none" cap="none" strike="noStrike">
                <a:solidFill>
                  <a:srgbClr val="6E7C92"/>
                </a:solidFill>
                <a:latin typeface="Poppins"/>
                <a:ea typeface="Poppins"/>
                <a:cs typeface="Poppins"/>
                <a:sym typeface="Poppins"/>
              </a:rPr>
              <a:t>tested</a:t>
            </a:r>
            <a:r>
              <a:rPr b="0" i="0" lang="en-US" sz="1250" u="none" cap="none" strike="noStrike">
                <a:solidFill>
                  <a:srgbClr val="6E7C92"/>
                </a:solidFill>
                <a:latin typeface="Poppins"/>
                <a:ea typeface="Poppins"/>
                <a:cs typeface="Poppins"/>
                <a:sym typeface="Poppins"/>
              </a:rPr>
              <a:t> against real historical sales — with no peeking at the future.</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 name="Shape 139"/>
        <p:cNvGrpSpPr/>
        <p:nvPr/>
      </p:nvGrpSpPr>
      <p:grpSpPr>
        <a:xfrm>
          <a:off x="0" y="0"/>
          <a:ext cx="0" cy="0"/>
          <a:chOff x="0" y="0"/>
          <a:chExt cx="0" cy="0"/>
        </a:xfrm>
      </p:grpSpPr>
      <p:sp>
        <p:nvSpPr>
          <p:cNvPr id="140" name="Google Shape;140;p7"/>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What You Actually Get</a:t>
            </a:r>
            <a:endParaRPr b="0" i="0" sz="2800" u="none" cap="none" strike="noStrike">
              <a:solidFill>
                <a:schemeClr val="dk1"/>
              </a:solidFill>
              <a:latin typeface="Calibri"/>
              <a:ea typeface="Calibri"/>
              <a:cs typeface="Calibri"/>
              <a:sym typeface="Calibri"/>
            </a:endParaRPr>
          </a:p>
        </p:txBody>
      </p:sp>
      <p:sp>
        <p:nvSpPr>
          <p:cNvPr id="141" name="Google Shape;141;p7"/>
          <p:cNvSpPr/>
          <p:nvPr/>
        </p:nvSpPr>
        <p:spPr>
          <a:xfrm>
            <a:off x="658368" y="109728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350"/>
              <a:buFont typeface="Poppins"/>
              <a:buNone/>
            </a:pPr>
            <a:r>
              <a:rPr b="0" i="0" lang="en-US" sz="1350" u="none" cap="none" strike="noStrike">
                <a:solidFill>
                  <a:srgbClr val="6E7C92"/>
                </a:solidFill>
                <a:latin typeface="Poppins"/>
                <a:ea typeface="Poppins"/>
                <a:cs typeface="Poppins"/>
                <a:sym typeface="Poppins"/>
              </a:rPr>
              <a:t>The outcome for someone deciding on a home</a:t>
            </a:r>
            <a:r>
              <a:rPr lang="en-US" sz="1350">
                <a:solidFill>
                  <a:srgbClr val="6E7C92"/>
                </a:solidFill>
                <a:latin typeface="Poppins"/>
                <a:ea typeface="Poppins"/>
                <a:cs typeface="Poppins"/>
                <a:sym typeface="Poppins"/>
              </a:rPr>
              <a:t>’s value</a:t>
            </a:r>
            <a:r>
              <a:rPr b="0" i="0" lang="en-US" sz="1350" u="none" cap="none" strike="noStrike">
                <a:solidFill>
                  <a:srgbClr val="6E7C92"/>
                </a:solidFill>
                <a:latin typeface="Poppins"/>
                <a:ea typeface="Poppins"/>
                <a:cs typeface="Poppins"/>
                <a:sym typeface="Poppins"/>
              </a:rPr>
              <a:t>.</a:t>
            </a:r>
            <a:endParaRPr b="0" i="0" sz="1350" u="none" cap="none" strike="noStrike">
              <a:solidFill>
                <a:schemeClr val="dk1"/>
              </a:solidFill>
              <a:latin typeface="Calibri"/>
              <a:ea typeface="Calibri"/>
              <a:cs typeface="Calibri"/>
              <a:sym typeface="Calibri"/>
            </a:endParaRPr>
          </a:p>
        </p:txBody>
      </p:sp>
      <p:sp>
        <p:nvSpPr>
          <p:cNvPr id="142" name="Google Shape;142;p7"/>
          <p:cNvSpPr/>
          <p:nvPr/>
        </p:nvSpPr>
        <p:spPr>
          <a:xfrm>
            <a:off x="640080" y="1536192"/>
            <a:ext cx="5285232" cy="1627632"/>
          </a:xfrm>
          <a:prstGeom prst="roundRect">
            <a:avLst>
              <a:gd fmla="val 730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987552" y="1865376"/>
            <a:ext cx="182880" cy="182880"/>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1298448" y="1737360"/>
            <a:ext cx="4370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A clear verdict, not just a number</a:t>
            </a:r>
            <a:endParaRPr b="0" i="0" sz="1550" u="none" cap="none" strike="noStrike">
              <a:solidFill>
                <a:schemeClr val="dk1"/>
              </a:solidFill>
              <a:latin typeface="Calibri"/>
              <a:ea typeface="Calibri"/>
              <a:cs typeface="Calibri"/>
              <a:sym typeface="Calibri"/>
            </a:endParaRPr>
          </a:p>
        </p:txBody>
      </p:sp>
      <p:sp>
        <p:nvSpPr>
          <p:cNvPr id="145" name="Google Shape;145;p7"/>
          <p:cNvSpPr/>
          <p:nvPr/>
        </p:nvSpPr>
        <p:spPr>
          <a:xfrm>
            <a:off x="1298448" y="2157984"/>
            <a:ext cx="4370832"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D4B62"/>
              </a:buClr>
              <a:buSzPts val="1250"/>
              <a:buFont typeface="Poppins"/>
              <a:buNone/>
            </a:pPr>
            <a:r>
              <a:rPr b="0" i="0" lang="en-US" sz="1250" u="none" cap="none" strike="noStrike">
                <a:solidFill>
                  <a:srgbClr val="3D4B62"/>
                </a:solidFill>
                <a:latin typeface="Poppins"/>
                <a:ea typeface="Poppins"/>
                <a:cs typeface="Poppins"/>
                <a:sym typeface="Poppins"/>
              </a:rPr>
              <a:t>Fairly priced, overpriced, or a deal — with a value range and a confidence level.</a:t>
            </a:r>
            <a:endParaRPr b="0" i="0" sz="1250" u="none" cap="none" strike="noStrike">
              <a:solidFill>
                <a:schemeClr val="dk1"/>
              </a:solidFill>
              <a:latin typeface="Calibri"/>
              <a:ea typeface="Calibri"/>
              <a:cs typeface="Calibri"/>
              <a:sym typeface="Calibri"/>
            </a:endParaRPr>
          </a:p>
        </p:txBody>
      </p:sp>
      <p:sp>
        <p:nvSpPr>
          <p:cNvPr id="146" name="Google Shape;146;p7"/>
          <p:cNvSpPr/>
          <p:nvPr/>
        </p:nvSpPr>
        <p:spPr>
          <a:xfrm>
            <a:off x="1298448" y="2743200"/>
            <a:ext cx="4370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150"/>
              <a:buFont typeface="Poppins"/>
              <a:buNone/>
            </a:pPr>
            <a:r>
              <a:rPr b="1" i="1" lang="en-US" sz="1150" u="none" cap="none" strike="noStrike">
                <a:solidFill>
                  <a:srgbClr val="1565D8"/>
                </a:solidFill>
                <a:latin typeface="Poppins"/>
                <a:ea typeface="Poppins"/>
                <a:cs typeface="Poppins"/>
                <a:sym typeface="Poppins"/>
              </a:rPr>
              <a:t>~$880K  ·  about 6% overpriced</a:t>
            </a:r>
            <a:endParaRPr b="0" i="0" sz="1150" u="none" cap="none" strike="noStrike">
              <a:solidFill>
                <a:schemeClr val="dk1"/>
              </a:solidFill>
              <a:latin typeface="Calibri"/>
              <a:ea typeface="Calibri"/>
              <a:cs typeface="Calibri"/>
              <a:sym typeface="Calibri"/>
            </a:endParaRPr>
          </a:p>
        </p:txBody>
      </p:sp>
      <p:sp>
        <p:nvSpPr>
          <p:cNvPr id="147" name="Google Shape;147;p7"/>
          <p:cNvSpPr/>
          <p:nvPr/>
        </p:nvSpPr>
        <p:spPr>
          <a:xfrm>
            <a:off x="6263640" y="1536192"/>
            <a:ext cx="5285232" cy="1627632"/>
          </a:xfrm>
          <a:prstGeom prst="roundRect">
            <a:avLst>
              <a:gd fmla="val 730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6611112" y="1865376"/>
            <a:ext cx="182880" cy="182880"/>
          </a:xfrm>
          <a:prstGeom prst="ellipse">
            <a:avLst/>
          </a:prstGeom>
          <a:solidFill>
            <a:srgbClr val="C279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6922008" y="1737360"/>
            <a:ext cx="4370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The reasons, in plain English</a:t>
            </a:r>
            <a:endParaRPr b="0" i="0" sz="1550" u="none" cap="none" strike="noStrike">
              <a:solidFill>
                <a:schemeClr val="dk1"/>
              </a:solidFill>
              <a:latin typeface="Calibri"/>
              <a:ea typeface="Calibri"/>
              <a:cs typeface="Calibri"/>
              <a:sym typeface="Calibri"/>
            </a:endParaRPr>
          </a:p>
        </p:txBody>
      </p:sp>
      <p:sp>
        <p:nvSpPr>
          <p:cNvPr id="150" name="Google Shape;150;p7"/>
          <p:cNvSpPr/>
          <p:nvPr/>
        </p:nvSpPr>
        <p:spPr>
          <a:xfrm>
            <a:off x="6922008" y="2157984"/>
            <a:ext cx="4370832"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D4B62"/>
              </a:buClr>
              <a:buSzPts val="1250"/>
              <a:buFont typeface="Poppins"/>
              <a:buNone/>
            </a:pPr>
            <a:r>
              <a:rPr b="0" i="0" lang="en-US" sz="1250" u="none" cap="none" strike="noStrike">
                <a:solidFill>
                  <a:srgbClr val="3D4B62"/>
                </a:solidFill>
                <a:latin typeface="Poppins"/>
                <a:ea typeface="Poppins"/>
                <a:cs typeface="Poppins"/>
                <a:sym typeface="Poppins"/>
              </a:rPr>
              <a:t>The top drivers behind the value — each one you can actually read.</a:t>
            </a:r>
            <a:endParaRPr b="0" i="0" sz="1250" u="none" cap="none" strike="noStrike">
              <a:solidFill>
                <a:schemeClr val="dk1"/>
              </a:solidFill>
              <a:latin typeface="Calibri"/>
              <a:ea typeface="Calibri"/>
              <a:cs typeface="Calibri"/>
              <a:sym typeface="Calibri"/>
            </a:endParaRPr>
          </a:p>
        </p:txBody>
      </p:sp>
      <p:sp>
        <p:nvSpPr>
          <p:cNvPr id="151" name="Google Shape;151;p7"/>
          <p:cNvSpPr/>
          <p:nvPr/>
        </p:nvSpPr>
        <p:spPr>
          <a:xfrm>
            <a:off x="6922008" y="2743200"/>
            <a:ext cx="4370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8"/>
              </a:buClr>
              <a:buSzPts val="1150"/>
              <a:buFont typeface="Poppins"/>
              <a:buNone/>
            </a:pPr>
            <a:r>
              <a:rPr b="1" i="1" lang="en-US" sz="1150" u="none" cap="none" strike="noStrike">
                <a:solidFill>
                  <a:srgbClr val="8A5208"/>
                </a:solidFill>
                <a:latin typeface="Poppins"/>
                <a:ea typeface="Poppins"/>
                <a:cs typeface="Poppins"/>
                <a:sym typeface="Poppins"/>
              </a:rPr>
              <a:t>top school · 12-min transit · comps +12%</a:t>
            </a:r>
            <a:endParaRPr b="0" i="0" sz="1150" u="none" cap="none" strike="noStrike">
              <a:solidFill>
                <a:schemeClr val="dk1"/>
              </a:solidFill>
              <a:latin typeface="Calibri"/>
              <a:ea typeface="Calibri"/>
              <a:cs typeface="Calibri"/>
              <a:sym typeface="Calibri"/>
            </a:endParaRPr>
          </a:p>
        </p:txBody>
      </p:sp>
      <p:sp>
        <p:nvSpPr>
          <p:cNvPr id="152" name="Google Shape;152;p7"/>
          <p:cNvSpPr/>
          <p:nvPr/>
        </p:nvSpPr>
        <p:spPr>
          <a:xfrm>
            <a:off x="640080" y="3364992"/>
            <a:ext cx="5285232" cy="1627632"/>
          </a:xfrm>
          <a:prstGeom prst="roundRect">
            <a:avLst>
              <a:gd fmla="val 730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987552" y="3694176"/>
            <a:ext cx="182880" cy="182880"/>
          </a:xfrm>
          <a:prstGeom prst="ellipse">
            <a:avLst/>
          </a:prstGeom>
          <a:solidFill>
            <a:srgbClr val="D84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p:nvPr/>
        </p:nvSpPr>
        <p:spPr>
          <a:xfrm>
            <a:off x="1298448" y="3566160"/>
            <a:ext cx="4370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The upside and risk you'd miss</a:t>
            </a:r>
            <a:endParaRPr b="0" i="0" sz="1550" u="none" cap="none" strike="noStrike">
              <a:solidFill>
                <a:schemeClr val="dk1"/>
              </a:solidFill>
              <a:latin typeface="Calibri"/>
              <a:ea typeface="Calibri"/>
              <a:cs typeface="Calibri"/>
              <a:sym typeface="Calibri"/>
            </a:endParaRPr>
          </a:p>
        </p:txBody>
      </p:sp>
      <p:sp>
        <p:nvSpPr>
          <p:cNvPr id="155" name="Google Shape;155;p7"/>
          <p:cNvSpPr/>
          <p:nvPr/>
        </p:nvSpPr>
        <p:spPr>
          <a:xfrm>
            <a:off x="1298448" y="3986784"/>
            <a:ext cx="4370832"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D4B62"/>
              </a:buClr>
              <a:buSzPts val="1250"/>
              <a:buFont typeface="Poppins"/>
              <a:buNone/>
            </a:pPr>
            <a:r>
              <a:rPr b="0" i="0" lang="en-US" sz="1250" u="none" cap="none" strike="noStrike">
                <a:solidFill>
                  <a:srgbClr val="3D4B62"/>
                </a:solidFill>
                <a:latin typeface="Poppins"/>
                <a:ea typeface="Poppins"/>
                <a:cs typeface="Poppins"/>
                <a:sym typeface="Poppins"/>
              </a:rPr>
              <a:t>Hidden value and hidden danger a casual look won't surface.</a:t>
            </a:r>
            <a:endParaRPr b="0" i="0" sz="1250" u="none" cap="none" strike="noStrike">
              <a:solidFill>
                <a:schemeClr val="dk1"/>
              </a:solidFill>
              <a:latin typeface="Calibri"/>
              <a:ea typeface="Calibri"/>
              <a:cs typeface="Calibri"/>
              <a:sym typeface="Calibri"/>
            </a:endParaRPr>
          </a:p>
        </p:txBody>
      </p:sp>
      <p:sp>
        <p:nvSpPr>
          <p:cNvPr id="156" name="Google Shape;156;p7"/>
          <p:cNvSpPr/>
          <p:nvPr/>
        </p:nvSpPr>
        <p:spPr>
          <a:xfrm>
            <a:off x="1298448" y="4572000"/>
            <a:ext cx="4370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2820"/>
              </a:buClr>
              <a:buSzPts val="1150"/>
              <a:buFont typeface="Poppins"/>
              <a:buNone/>
            </a:pPr>
            <a:r>
              <a:rPr b="1" i="1" lang="en-US" sz="1150" u="none" cap="none" strike="noStrike">
                <a:solidFill>
                  <a:srgbClr val="9B2820"/>
                </a:solidFill>
                <a:latin typeface="Poppins"/>
                <a:ea typeface="Poppins"/>
                <a:cs typeface="Poppins"/>
                <a:sym typeface="Poppins"/>
              </a:rPr>
              <a:t>+ new station coming    − flood-zone insurance</a:t>
            </a:r>
            <a:endParaRPr b="0" i="0" sz="1150" u="none" cap="none" strike="noStrike">
              <a:solidFill>
                <a:schemeClr val="dk1"/>
              </a:solidFill>
              <a:latin typeface="Calibri"/>
              <a:ea typeface="Calibri"/>
              <a:cs typeface="Calibri"/>
              <a:sym typeface="Calibri"/>
            </a:endParaRPr>
          </a:p>
        </p:txBody>
      </p:sp>
      <p:sp>
        <p:nvSpPr>
          <p:cNvPr id="157" name="Google Shape;157;p7"/>
          <p:cNvSpPr/>
          <p:nvPr/>
        </p:nvSpPr>
        <p:spPr>
          <a:xfrm>
            <a:off x="6263640" y="3364992"/>
            <a:ext cx="5285232" cy="1627632"/>
          </a:xfrm>
          <a:prstGeom prst="roundRect">
            <a:avLst>
              <a:gd fmla="val 730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7"/>
          <p:cNvSpPr/>
          <p:nvPr/>
        </p:nvSpPr>
        <p:spPr>
          <a:xfrm>
            <a:off x="6611112" y="3694176"/>
            <a:ext cx="182880" cy="182880"/>
          </a:xfrm>
          <a:prstGeom prst="ellipse">
            <a:avLst/>
          </a:prstGeom>
          <a:solidFill>
            <a:srgbClr val="6D4F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
          <p:cNvSpPr/>
          <p:nvPr/>
        </p:nvSpPr>
        <p:spPr>
          <a:xfrm>
            <a:off x="6922008" y="3566160"/>
            <a:ext cx="437083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Personalized, and checkable</a:t>
            </a:r>
            <a:endParaRPr b="0" i="0" sz="1550" u="none" cap="none" strike="noStrike">
              <a:solidFill>
                <a:schemeClr val="dk1"/>
              </a:solidFill>
              <a:latin typeface="Calibri"/>
              <a:ea typeface="Calibri"/>
              <a:cs typeface="Calibri"/>
              <a:sym typeface="Calibri"/>
            </a:endParaRPr>
          </a:p>
        </p:txBody>
      </p:sp>
      <p:sp>
        <p:nvSpPr>
          <p:cNvPr id="160" name="Google Shape;160;p7"/>
          <p:cNvSpPr/>
          <p:nvPr/>
        </p:nvSpPr>
        <p:spPr>
          <a:xfrm>
            <a:off x="6922008" y="3986784"/>
            <a:ext cx="4370832" cy="5486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3D4B62"/>
              </a:buClr>
              <a:buSzPts val="1250"/>
              <a:buFont typeface="Poppins"/>
              <a:buNone/>
            </a:pPr>
            <a:r>
              <a:rPr b="0" i="0" lang="en-US" sz="1250" u="none" cap="none" strike="noStrike">
                <a:solidFill>
                  <a:srgbClr val="3D4B62"/>
                </a:solidFill>
                <a:latin typeface="Poppins"/>
                <a:ea typeface="Poppins"/>
                <a:cs typeface="Poppins"/>
                <a:sym typeface="Poppins"/>
              </a:rPr>
              <a:t>Tuned to your commute and schools — every claim links to its source.</a:t>
            </a:r>
            <a:endParaRPr b="0" i="0" sz="1250" u="none" cap="none" strike="noStrike">
              <a:solidFill>
                <a:schemeClr val="dk1"/>
              </a:solidFill>
              <a:latin typeface="Calibri"/>
              <a:ea typeface="Calibri"/>
              <a:cs typeface="Calibri"/>
              <a:sym typeface="Calibri"/>
            </a:endParaRPr>
          </a:p>
        </p:txBody>
      </p:sp>
      <p:sp>
        <p:nvSpPr>
          <p:cNvPr id="161" name="Google Shape;161;p7"/>
          <p:cNvSpPr/>
          <p:nvPr/>
        </p:nvSpPr>
        <p:spPr>
          <a:xfrm>
            <a:off x="6922008" y="4572000"/>
            <a:ext cx="437083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4FE0"/>
              </a:buClr>
              <a:buSzPts val="1150"/>
              <a:buFont typeface="Poppins"/>
              <a:buNone/>
            </a:pPr>
            <a:r>
              <a:rPr b="1" i="1" lang="en-US" sz="1150" u="none" cap="none" strike="noStrike">
                <a:solidFill>
                  <a:srgbClr val="6D4FE0"/>
                </a:solidFill>
                <a:latin typeface="Poppins"/>
                <a:ea typeface="Poppins"/>
                <a:cs typeface="Poppins"/>
                <a:sym typeface="Poppins"/>
              </a:rPr>
              <a:t>25 min to your office · sources attached</a:t>
            </a:r>
            <a:endParaRPr b="0" i="0" sz="1150" u="none" cap="none" strike="noStrike">
              <a:solidFill>
                <a:schemeClr val="dk1"/>
              </a:solidFill>
              <a:latin typeface="Calibri"/>
              <a:ea typeface="Calibri"/>
              <a:cs typeface="Calibri"/>
              <a:sym typeface="Calibri"/>
            </a:endParaRPr>
          </a:p>
        </p:txBody>
      </p:sp>
      <p:sp>
        <p:nvSpPr>
          <p:cNvPr id="162" name="Google Shape;162;p7"/>
          <p:cNvSpPr/>
          <p:nvPr/>
        </p:nvSpPr>
        <p:spPr>
          <a:xfrm>
            <a:off x="640080" y="5102352"/>
            <a:ext cx="10908792" cy="841248"/>
          </a:xfrm>
          <a:prstGeom prst="roundRect">
            <a:avLst>
              <a:gd fmla="val 14130"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1005840" y="5102352"/>
            <a:ext cx="1014984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D8"/>
              </a:buClr>
              <a:buSzPts val="1450"/>
              <a:buFont typeface="Poppins"/>
              <a:buNone/>
            </a:pPr>
            <a:r>
              <a:rPr b="1" i="0" lang="en-US" sz="1450" u="none" cap="none" strike="noStrike">
                <a:solidFill>
                  <a:srgbClr val="1565D8"/>
                </a:solidFill>
                <a:latin typeface="Poppins"/>
                <a:ea typeface="Poppins"/>
                <a:cs typeface="Poppins"/>
                <a:sym typeface="Poppins"/>
              </a:rPr>
              <a:t>The bottom line:  </a:t>
            </a:r>
            <a:r>
              <a:rPr b="0" i="0" lang="en-US" sz="1450" u="none" cap="none" strike="noStrike">
                <a:solidFill>
                  <a:srgbClr val="14233D"/>
                </a:solidFill>
                <a:latin typeface="Poppins"/>
                <a:ea typeface="Poppins"/>
                <a:cs typeface="Poppins"/>
                <a:sym typeface="Poppins"/>
              </a:rPr>
              <a:t>you stop guessing on a six-figure decision — you can negotiate, dodge a money pit, or spot a deal early, and explain exactly why.</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8"/>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What the Output Looks Like</a:t>
            </a:r>
            <a:endParaRPr b="0" i="0" sz="2800" u="none" cap="none" strike="noStrike">
              <a:solidFill>
                <a:schemeClr val="dk1"/>
              </a:solidFill>
              <a:latin typeface="Calibri"/>
              <a:ea typeface="Calibri"/>
              <a:cs typeface="Calibri"/>
              <a:sym typeface="Calibri"/>
            </a:endParaRPr>
          </a:p>
        </p:txBody>
      </p:sp>
      <p:sp>
        <p:nvSpPr>
          <p:cNvPr id="170" name="Google Shape;170;p8"/>
          <p:cNvSpPr/>
          <p:nvPr/>
        </p:nvSpPr>
        <p:spPr>
          <a:xfrm>
            <a:off x="658368" y="109728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350"/>
              <a:buFont typeface="Poppins"/>
              <a:buNone/>
            </a:pPr>
            <a:r>
              <a:rPr b="0" i="0" lang="en-US" sz="1350" u="none" cap="none" strike="noStrike">
                <a:solidFill>
                  <a:srgbClr val="6E7C92"/>
                </a:solidFill>
                <a:latin typeface="Poppins"/>
                <a:ea typeface="Poppins"/>
                <a:cs typeface="Poppins"/>
                <a:sym typeface="Poppins"/>
              </a:rPr>
              <a:t>One home, one screen — a decision, not just a number.</a:t>
            </a:r>
            <a:endParaRPr b="0" i="0" sz="1350" u="none" cap="none" strike="noStrike">
              <a:solidFill>
                <a:schemeClr val="dk1"/>
              </a:solidFill>
              <a:latin typeface="Calibri"/>
              <a:ea typeface="Calibri"/>
              <a:cs typeface="Calibri"/>
              <a:sym typeface="Calibri"/>
            </a:endParaRPr>
          </a:p>
        </p:txBody>
      </p:sp>
      <p:sp>
        <p:nvSpPr>
          <p:cNvPr id="171" name="Google Shape;171;p8"/>
          <p:cNvSpPr/>
          <p:nvPr/>
        </p:nvSpPr>
        <p:spPr>
          <a:xfrm>
            <a:off x="640080" y="1481328"/>
            <a:ext cx="10908792" cy="4983480"/>
          </a:xfrm>
          <a:prstGeom prst="roundRect">
            <a:avLst>
              <a:gd fmla="val 2385"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960120" y="169164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200"/>
              <a:buFont typeface="Poppins"/>
              <a:buNone/>
            </a:pPr>
            <a:r>
              <a:rPr b="0" i="0" lang="en-US" sz="1200" u="none" cap="none" strike="noStrike">
                <a:solidFill>
                  <a:srgbClr val="6E7C92"/>
                </a:solidFill>
                <a:latin typeface="Poppins"/>
                <a:ea typeface="Poppins"/>
                <a:cs typeface="Poppins"/>
                <a:sym typeface="Poppins"/>
              </a:rPr>
              <a:t>Valuation result</a:t>
            </a:r>
            <a:endParaRPr b="0" i="0" sz="1200" u="none" cap="none" strike="noStrike">
              <a:solidFill>
                <a:schemeClr val="dk1"/>
              </a:solidFill>
              <a:latin typeface="Calibri"/>
              <a:ea typeface="Calibri"/>
              <a:cs typeface="Calibri"/>
              <a:sym typeface="Calibri"/>
            </a:endParaRPr>
          </a:p>
        </p:txBody>
      </p:sp>
      <p:sp>
        <p:nvSpPr>
          <p:cNvPr id="173" name="Google Shape;173;p8"/>
          <p:cNvSpPr/>
          <p:nvPr/>
        </p:nvSpPr>
        <p:spPr>
          <a:xfrm>
            <a:off x="960120" y="1920240"/>
            <a:ext cx="594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800"/>
              <a:buFont typeface="Poppins"/>
              <a:buNone/>
            </a:pPr>
            <a:r>
              <a:rPr b="1" i="0" lang="en-US" sz="1800" u="none" cap="none" strike="noStrike">
                <a:solidFill>
                  <a:srgbClr val="14233D"/>
                </a:solidFill>
                <a:latin typeface="Poppins"/>
                <a:ea typeface="Poppins"/>
                <a:cs typeface="Poppins"/>
                <a:sym typeface="Poppins"/>
              </a:rPr>
              <a:t>123 Oak Street, San Ramon</a:t>
            </a:r>
            <a:endParaRPr b="0" i="0" sz="1800" u="none" cap="none" strike="noStrike">
              <a:solidFill>
                <a:schemeClr val="dk1"/>
              </a:solidFill>
              <a:latin typeface="Calibri"/>
              <a:ea typeface="Calibri"/>
              <a:cs typeface="Calibri"/>
              <a:sym typeface="Calibri"/>
            </a:endParaRPr>
          </a:p>
        </p:txBody>
      </p:sp>
      <p:sp>
        <p:nvSpPr>
          <p:cNvPr id="174" name="Google Shape;174;p8"/>
          <p:cNvSpPr/>
          <p:nvPr/>
        </p:nvSpPr>
        <p:spPr>
          <a:xfrm>
            <a:off x="960120" y="23042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200"/>
              <a:buFont typeface="Poppins"/>
              <a:buNone/>
            </a:pPr>
            <a:r>
              <a:rPr b="0" i="0" lang="en-US" sz="1200" u="none" cap="none" strike="noStrike">
                <a:solidFill>
                  <a:srgbClr val="6E7C92"/>
                </a:solidFill>
                <a:latin typeface="Poppins"/>
                <a:ea typeface="Poppins"/>
                <a:cs typeface="Poppins"/>
                <a:sym typeface="Poppins"/>
              </a:rPr>
              <a:t>3 bed · 2 bath · 1,650 sqft</a:t>
            </a:r>
            <a:endParaRPr b="0" i="0" sz="1200" u="none" cap="none" strike="noStrike">
              <a:solidFill>
                <a:schemeClr val="dk1"/>
              </a:solidFill>
              <a:latin typeface="Calibri"/>
              <a:ea typeface="Calibri"/>
              <a:cs typeface="Calibri"/>
              <a:sym typeface="Calibri"/>
            </a:endParaRPr>
          </a:p>
        </p:txBody>
      </p:sp>
      <p:sp>
        <p:nvSpPr>
          <p:cNvPr id="175" name="Google Shape;175;p8"/>
          <p:cNvSpPr/>
          <p:nvPr/>
        </p:nvSpPr>
        <p:spPr>
          <a:xfrm>
            <a:off x="960120" y="2697480"/>
            <a:ext cx="5989320" cy="1325880"/>
          </a:xfrm>
          <a:prstGeom prst="roundRect">
            <a:avLst>
              <a:gd fmla="val 8966" name="adj"/>
            </a:avLst>
          </a:prstGeom>
          <a:solidFill>
            <a:srgbClr val="FFFFFF"/>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1188720" y="283464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200"/>
              <a:buFont typeface="Poppins"/>
              <a:buNone/>
            </a:pPr>
            <a:r>
              <a:rPr b="0" i="0" lang="en-US" sz="1200" u="none" cap="none" strike="noStrike">
                <a:solidFill>
                  <a:srgbClr val="6E7C92"/>
                </a:solidFill>
                <a:latin typeface="Poppins"/>
                <a:ea typeface="Poppins"/>
                <a:cs typeface="Poppins"/>
                <a:sym typeface="Poppins"/>
              </a:rPr>
              <a:t>Estimated worth</a:t>
            </a:r>
            <a:endParaRPr b="0" i="0" sz="1200" u="none" cap="none" strike="noStrike">
              <a:solidFill>
                <a:schemeClr val="dk1"/>
              </a:solidFill>
              <a:latin typeface="Calibri"/>
              <a:ea typeface="Calibri"/>
              <a:cs typeface="Calibri"/>
              <a:sym typeface="Calibri"/>
            </a:endParaRPr>
          </a:p>
        </p:txBody>
      </p:sp>
      <p:sp>
        <p:nvSpPr>
          <p:cNvPr id="177" name="Google Shape;177;p8"/>
          <p:cNvSpPr/>
          <p:nvPr/>
        </p:nvSpPr>
        <p:spPr>
          <a:xfrm>
            <a:off x="1188720" y="3054096"/>
            <a:ext cx="3200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2700"/>
              <a:buFont typeface="Poppins"/>
              <a:buNone/>
            </a:pPr>
            <a:r>
              <a:rPr b="1" i="0" lang="en-US" sz="2700" u="none" cap="none" strike="noStrike">
                <a:solidFill>
                  <a:srgbClr val="14233D"/>
                </a:solidFill>
                <a:latin typeface="Poppins"/>
                <a:ea typeface="Poppins"/>
                <a:cs typeface="Poppins"/>
                <a:sym typeface="Poppins"/>
              </a:rPr>
              <a:t>$880,000</a:t>
            </a:r>
            <a:endParaRPr b="0" i="0" sz="2700" u="none" cap="none" strike="noStrike">
              <a:solidFill>
                <a:schemeClr val="dk1"/>
              </a:solidFill>
              <a:latin typeface="Calibri"/>
              <a:ea typeface="Calibri"/>
              <a:cs typeface="Calibri"/>
              <a:sym typeface="Calibri"/>
            </a:endParaRPr>
          </a:p>
        </p:txBody>
      </p:sp>
      <p:sp>
        <p:nvSpPr>
          <p:cNvPr id="178" name="Google Shape;178;p8"/>
          <p:cNvSpPr/>
          <p:nvPr/>
        </p:nvSpPr>
        <p:spPr>
          <a:xfrm>
            <a:off x="4297680" y="2852928"/>
            <a:ext cx="24688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C92"/>
              </a:buClr>
              <a:buSzPts val="1200"/>
              <a:buFont typeface="Poppins"/>
              <a:buNone/>
            </a:pPr>
            <a:r>
              <a:rPr b="0" i="0" lang="en-US" sz="1200" u="none" cap="none" strike="noStrike">
                <a:solidFill>
                  <a:srgbClr val="6E7C92"/>
                </a:solidFill>
                <a:latin typeface="Poppins"/>
                <a:ea typeface="Poppins"/>
                <a:cs typeface="Poppins"/>
                <a:sym typeface="Poppins"/>
              </a:rPr>
              <a:t>Listed at $935,000</a:t>
            </a:r>
            <a:endParaRPr b="0" i="0" sz="1200" u="none" cap="none" strike="noStrike">
              <a:solidFill>
                <a:schemeClr val="dk1"/>
              </a:solidFill>
              <a:latin typeface="Calibri"/>
              <a:ea typeface="Calibri"/>
              <a:cs typeface="Calibri"/>
              <a:sym typeface="Calibri"/>
            </a:endParaRPr>
          </a:p>
        </p:txBody>
      </p:sp>
      <p:sp>
        <p:nvSpPr>
          <p:cNvPr id="179" name="Google Shape;179;p8"/>
          <p:cNvSpPr/>
          <p:nvPr/>
        </p:nvSpPr>
        <p:spPr>
          <a:xfrm>
            <a:off x="5349240" y="3127248"/>
            <a:ext cx="1417320" cy="365760"/>
          </a:xfrm>
          <a:prstGeom prst="roundRect">
            <a:avLst>
              <a:gd fmla="val 50000" name="adj"/>
            </a:avLst>
          </a:prstGeom>
          <a:solidFill>
            <a:srgbClr val="FBF0D9"/>
          </a:solidFill>
          <a:ln cap="flat" cmpd="sng" w="9525">
            <a:solidFill>
              <a:srgbClr val="EFDB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5349240" y="3127248"/>
            <a:ext cx="14173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8"/>
              </a:buClr>
              <a:buSzPts val="1100"/>
              <a:buFont typeface="Poppins"/>
              <a:buNone/>
            </a:pPr>
            <a:r>
              <a:rPr b="1" i="0" lang="en-US" sz="1100" u="none" cap="none" strike="noStrike">
                <a:solidFill>
                  <a:srgbClr val="8A5208"/>
                </a:solidFill>
                <a:latin typeface="Poppins"/>
                <a:ea typeface="Poppins"/>
                <a:cs typeface="Poppins"/>
                <a:sym typeface="Poppins"/>
              </a:rPr>
              <a:t>about 6% over</a:t>
            </a:r>
            <a:endParaRPr b="0" i="0" sz="1100" u="none" cap="none" strike="noStrike">
              <a:solidFill>
                <a:schemeClr val="dk1"/>
              </a:solidFill>
              <a:latin typeface="Calibri"/>
              <a:ea typeface="Calibri"/>
              <a:cs typeface="Calibri"/>
              <a:sym typeface="Calibri"/>
            </a:endParaRPr>
          </a:p>
        </p:txBody>
      </p:sp>
      <p:sp>
        <p:nvSpPr>
          <p:cNvPr id="181" name="Google Shape;181;p8"/>
          <p:cNvSpPr/>
          <p:nvPr/>
        </p:nvSpPr>
        <p:spPr>
          <a:xfrm>
            <a:off x="1188720" y="3611880"/>
            <a:ext cx="5577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B62"/>
              </a:buClr>
              <a:buSzPts val="1250"/>
              <a:buFont typeface="Poppins"/>
              <a:buNone/>
            </a:pPr>
            <a:r>
              <a:rPr b="0" i="0" lang="en-US" sz="1250" u="none" cap="none" strike="noStrike">
                <a:solidFill>
                  <a:srgbClr val="3D4B62"/>
                </a:solidFill>
                <a:latin typeface="Poppins"/>
                <a:ea typeface="Poppins"/>
                <a:cs typeface="Poppins"/>
                <a:sym typeface="Poppins"/>
              </a:rPr>
              <a:t>Priced above what the fundamentals support — room to negotiate.</a:t>
            </a:r>
            <a:endParaRPr b="0" i="0" sz="1250" u="none" cap="none" strike="noStrike">
              <a:solidFill>
                <a:schemeClr val="dk1"/>
              </a:solidFill>
              <a:latin typeface="Calibri"/>
              <a:ea typeface="Calibri"/>
              <a:cs typeface="Calibri"/>
              <a:sym typeface="Calibri"/>
            </a:endParaRPr>
          </a:p>
        </p:txBody>
      </p:sp>
      <p:sp>
        <p:nvSpPr>
          <p:cNvPr id="182" name="Google Shape;182;p8"/>
          <p:cNvSpPr/>
          <p:nvPr/>
        </p:nvSpPr>
        <p:spPr>
          <a:xfrm>
            <a:off x="960120" y="4160520"/>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00"/>
              <a:buFont typeface="Poppins"/>
              <a:buNone/>
            </a:pPr>
            <a:r>
              <a:rPr b="1" i="0" lang="en-US" sz="1500" u="none" cap="none" strike="noStrike">
                <a:solidFill>
                  <a:srgbClr val="14233D"/>
                </a:solidFill>
                <a:latin typeface="Poppins"/>
                <a:ea typeface="Poppins"/>
                <a:cs typeface="Poppins"/>
                <a:sym typeface="Poppins"/>
              </a:rPr>
              <a:t>Why this number</a:t>
            </a:r>
            <a:endParaRPr b="0" i="0" sz="1500" u="none" cap="none" strike="noStrike">
              <a:solidFill>
                <a:schemeClr val="dk1"/>
              </a:solidFill>
              <a:latin typeface="Calibri"/>
              <a:ea typeface="Calibri"/>
              <a:cs typeface="Calibri"/>
              <a:sym typeface="Calibri"/>
            </a:endParaRPr>
          </a:p>
        </p:txBody>
      </p:sp>
      <p:sp>
        <p:nvSpPr>
          <p:cNvPr id="183" name="Google Shape;183;p8"/>
          <p:cNvSpPr/>
          <p:nvPr/>
        </p:nvSpPr>
        <p:spPr>
          <a:xfrm>
            <a:off x="1005840" y="4526280"/>
            <a:ext cx="310896" cy="310896"/>
          </a:xfrm>
          <a:prstGeom prst="ellipse">
            <a:avLst/>
          </a:prstGeom>
          <a:solidFill>
            <a:srgbClr val="0E9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1005840" y="452628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a:t>
            </a:r>
            <a:endParaRPr b="0" i="0" sz="1400" u="none" cap="none" strike="noStrike">
              <a:solidFill>
                <a:schemeClr val="dk1"/>
              </a:solidFill>
              <a:latin typeface="Calibri"/>
              <a:ea typeface="Calibri"/>
              <a:cs typeface="Calibri"/>
              <a:sym typeface="Calibri"/>
            </a:endParaRPr>
          </a:p>
        </p:txBody>
      </p:sp>
      <p:sp>
        <p:nvSpPr>
          <p:cNvPr id="185" name="Google Shape;185;p8"/>
          <p:cNvSpPr/>
          <p:nvPr/>
        </p:nvSpPr>
        <p:spPr>
          <a:xfrm>
            <a:off x="1444752" y="4489704"/>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300"/>
              <a:buFont typeface="Poppins"/>
              <a:buNone/>
            </a:pPr>
            <a:r>
              <a:rPr b="1" i="0" lang="en-US" sz="1300" u="none" cap="none" strike="noStrike">
                <a:solidFill>
                  <a:srgbClr val="14233D"/>
                </a:solidFill>
                <a:latin typeface="Poppins"/>
                <a:ea typeface="Poppins"/>
                <a:cs typeface="Poppins"/>
                <a:sym typeface="Poppins"/>
              </a:rPr>
              <a:t>Zoned for a top-rated school</a:t>
            </a:r>
            <a:endParaRPr b="0" i="0" sz="1300" u="none" cap="none" strike="noStrike">
              <a:solidFill>
                <a:schemeClr val="dk1"/>
              </a:solidFill>
              <a:latin typeface="Calibri"/>
              <a:ea typeface="Calibri"/>
              <a:cs typeface="Calibri"/>
              <a:sym typeface="Calibri"/>
            </a:endParaRPr>
          </a:p>
        </p:txBody>
      </p:sp>
      <p:sp>
        <p:nvSpPr>
          <p:cNvPr id="186" name="Google Shape;186;p8"/>
          <p:cNvSpPr/>
          <p:nvPr/>
        </p:nvSpPr>
        <p:spPr>
          <a:xfrm>
            <a:off x="1444752"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Hidden Valley Elementary, top 10% — pushes value up.</a:t>
            </a:r>
            <a:endParaRPr b="0" i="0" sz="1100" u="none" cap="none" strike="noStrike">
              <a:solidFill>
                <a:schemeClr val="dk1"/>
              </a:solidFill>
              <a:latin typeface="Calibri"/>
              <a:ea typeface="Calibri"/>
              <a:cs typeface="Calibri"/>
              <a:sym typeface="Calibri"/>
            </a:endParaRPr>
          </a:p>
        </p:txBody>
      </p:sp>
      <p:sp>
        <p:nvSpPr>
          <p:cNvPr id="187" name="Google Shape;187;p8"/>
          <p:cNvSpPr/>
          <p:nvPr/>
        </p:nvSpPr>
        <p:spPr>
          <a:xfrm>
            <a:off x="1005840" y="5120640"/>
            <a:ext cx="310896" cy="310896"/>
          </a:xfrm>
          <a:prstGeom prst="ellipse">
            <a:avLst/>
          </a:prstGeom>
          <a:solidFill>
            <a:srgbClr val="0E9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1005840" y="512064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a:t>
            </a:r>
            <a:endParaRPr b="0" i="0" sz="1400" u="none" cap="none" strike="noStrike">
              <a:solidFill>
                <a:schemeClr val="dk1"/>
              </a:solidFill>
              <a:latin typeface="Calibri"/>
              <a:ea typeface="Calibri"/>
              <a:cs typeface="Calibri"/>
              <a:sym typeface="Calibri"/>
            </a:endParaRPr>
          </a:p>
        </p:txBody>
      </p:sp>
      <p:sp>
        <p:nvSpPr>
          <p:cNvPr id="189" name="Google Shape;189;p8"/>
          <p:cNvSpPr/>
          <p:nvPr/>
        </p:nvSpPr>
        <p:spPr>
          <a:xfrm>
            <a:off x="1444752" y="5084064"/>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300"/>
              <a:buFont typeface="Poppins"/>
              <a:buNone/>
            </a:pPr>
            <a:r>
              <a:rPr b="1" i="0" lang="en-US" sz="1300" u="none" cap="none" strike="noStrike">
                <a:solidFill>
                  <a:srgbClr val="14233D"/>
                </a:solidFill>
                <a:latin typeface="Poppins"/>
                <a:ea typeface="Poppins"/>
                <a:cs typeface="Poppins"/>
                <a:sym typeface="Poppins"/>
              </a:rPr>
              <a:t>12-minute walk to the new transit station</a:t>
            </a:r>
            <a:endParaRPr b="0" i="0" sz="1300" u="none" cap="none" strike="noStrike">
              <a:solidFill>
                <a:schemeClr val="dk1"/>
              </a:solidFill>
              <a:latin typeface="Calibri"/>
              <a:ea typeface="Calibri"/>
              <a:cs typeface="Calibri"/>
              <a:sym typeface="Calibri"/>
            </a:endParaRPr>
          </a:p>
        </p:txBody>
      </p:sp>
      <p:sp>
        <p:nvSpPr>
          <p:cNvPr id="190" name="Google Shape;190;p8"/>
          <p:cNvSpPr/>
          <p:nvPr/>
        </p:nvSpPr>
        <p:spPr>
          <a:xfrm>
            <a:off x="1444752" y="534924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A shorter commute lifts prices on these blocks.</a:t>
            </a:r>
            <a:endParaRPr b="0" i="0" sz="1100" u="none" cap="none" strike="noStrike">
              <a:solidFill>
                <a:schemeClr val="dk1"/>
              </a:solidFill>
              <a:latin typeface="Calibri"/>
              <a:ea typeface="Calibri"/>
              <a:cs typeface="Calibri"/>
              <a:sym typeface="Calibri"/>
            </a:endParaRPr>
          </a:p>
        </p:txBody>
      </p:sp>
      <p:sp>
        <p:nvSpPr>
          <p:cNvPr id="191" name="Google Shape;191;p8"/>
          <p:cNvSpPr/>
          <p:nvPr/>
        </p:nvSpPr>
        <p:spPr>
          <a:xfrm>
            <a:off x="1005840" y="5715000"/>
            <a:ext cx="310896" cy="310896"/>
          </a:xfrm>
          <a:prstGeom prst="ellipse">
            <a:avLst/>
          </a:prstGeom>
          <a:solidFill>
            <a:srgbClr val="C279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1005840" y="571500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a:buNone/>
            </a:pPr>
            <a:r>
              <a:rPr b="1" i="0" lang="en-US" sz="1400" u="none" cap="none" strike="noStrike">
                <a:solidFill>
                  <a:srgbClr val="FFFFFF"/>
                </a:solidFill>
                <a:latin typeface="Poppins"/>
                <a:ea typeface="Poppins"/>
                <a:cs typeface="Poppins"/>
                <a:sym typeface="Poppins"/>
              </a:rPr>
              <a:t>!</a:t>
            </a:r>
            <a:endParaRPr b="0" i="0" sz="1400" u="none" cap="none" strike="noStrike">
              <a:solidFill>
                <a:schemeClr val="dk1"/>
              </a:solidFill>
              <a:latin typeface="Calibri"/>
              <a:ea typeface="Calibri"/>
              <a:cs typeface="Calibri"/>
              <a:sym typeface="Calibri"/>
            </a:endParaRPr>
          </a:p>
        </p:txBody>
      </p:sp>
      <p:sp>
        <p:nvSpPr>
          <p:cNvPr id="193" name="Google Shape;193;p8"/>
          <p:cNvSpPr/>
          <p:nvPr/>
        </p:nvSpPr>
        <p:spPr>
          <a:xfrm>
            <a:off x="1444752" y="5678424"/>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300"/>
              <a:buFont typeface="Poppins"/>
              <a:buNone/>
            </a:pPr>
            <a:r>
              <a:rPr b="1" i="0" lang="en-US" sz="1300" u="none" cap="none" strike="noStrike">
                <a:solidFill>
                  <a:srgbClr val="14233D"/>
                </a:solidFill>
                <a:latin typeface="Poppins"/>
                <a:ea typeface="Poppins"/>
                <a:cs typeface="Poppins"/>
                <a:sym typeface="Poppins"/>
              </a:rPr>
              <a:t>Nearby homes already rose 12%</a:t>
            </a:r>
            <a:endParaRPr b="0" i="0" sz="1300" u="none" cap="none" strike="noStrike">
              <a:solidFill>
                <a:schemeClr val="dk1"/>
              </a:solidFill>
              <a:latin typeface="Calibri"/>
              <a:ea typeface="Calibri"/>
              <a:cs typeface="Calibri"/>
              <a:sym typeface="Calibri"/>
            </a:endParaRPr>
          </a:p>
        </p:txBody>
      </p:sp>
      <p:sp>
        <p:nvSpPr>
          <p:cNvPr id="194" name="Google Shape;194;p8"/>
          <p:cNvSpPr/>
          <p:nvPr/>
        </p:nvSpPr>
        <p:spPr>
          <a:xfrm>
            <a:off x="1444752" y="594360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That jump is mostly baked into the asking price.</a:t>
            </a:r>
            <a:endParaRPr b="0" i="0" sz="1100" u="none" cap="none" strike="noStrike">
              <a:solidFill>
                <a:schemeClr val="dk1"/>
              </a:solidFill>
              <a:latin typeface="Calibri"/>
              <a:ea typeface="Calibri"/>
              <a:cs typeface="Calibri"/>
              <a:sym typeface="Calibri"/>
            </a:endParaRPr>
          </a:p>
        </p:txBody>
      </p:sp>
      <p:sp>
        <p:nvSpPr>
          <p:cNvPr id="195" name="Google Shape;195;p8"/>
          <p:cNvSpPr/>
          <p:nvPr/>
        </p:nvSpPr>
        <p:spPr>
          <a:xfrm>
            <a:off x="7269480" y="169164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00"/>
              <a:buFont typeface="Poppins"/>
              <a:buNone/>
            </a:pPr>
            <a:r>
              <a:rPr b="1" i="0" lang="en-US" sz="1500" u="none" cap="none" strike="noStrike">
                <a:solidFill>
                  <a:srgbClr val="14233D"/>
                </a:solidFill>
                <a:latin typeface="Poppins"/>
                <a:ea typeface="Poppins"/>
                <a:cs typeface="Poppins"/>
                <a:sym typeface="Poppins"/>
              </a:rPr>
              <a:t>What you might miss</a:t>
            </a:r>
            <a:endParaRPr b="0" i="0" sz="1500" u="none" cap="none" strike="noStrike">
              <a:solidFill>
                <a:schemeClr val="dk1"/>
              </a:solidFill>
              <a:latin typeface="Calibri"/>
              <a:ea typeface="Calibri"/>
              <a:cs typeface="Calibri"/>
              <a:sym typeface="Calibri"/>
            </a:endParaRPr>
          </a:p>
        </p:txBody>
      </p:sp>
      <p:sp>
        <p:nvSpPr>
          <p:cNvPr id="196" name="Google Shape;196;p8"/>
          <p:cNvSpPr/>
          <p:nvPr/>
        </p:nvSpPr>
        <p:spPr>
          <a:xfrm>
            <a:off x="7269480" y="2057400"/>
            <a:ext cx="3977640" cy="1097280"/>
          </a:xfrm>
          <a:prstGeom prst="roundRect">
            <a:avLst>
              <a:gd fmla="val 10833" name="adj"/>
            </a:avLst>
          </a:prstGeom>
          <a:solidFill>
            <a:srgbClr val="E7F7F0"/>
          </a:solidFill>
          <a:ln cap="flat" cmpd="sng" w="12700">
            <a:solidFill>
              <a:srgbClr val="BCE6D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7516368" y="2267712"/>
            <a:ext cx="146304" cy="146304"/>
          </a:xfrm>
          <a:prstGeom prst="ellipse">
            <a:avLst/>
          </a:prstGeom>
          <a:solidFill>
            <a:srgbClr val="0E9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7744968" y="219456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6E4C"/>
              </a:buClr>
              <a:buSzPts val="1300"/>
              <a:buFont typeface="Poppins"/>
              <a:buNone/>
            </a:pPr>
            <a:r>
              <a:rPr b="1" i="0" lang="en-US" sz="1300" u="none" cap="none" strike="noStrike">
                <a:solidFill>
                  <a:srgbClr val="0A6E4C"/>
                </a:solidFill>
                <a:latin typeface="Poppins"/>
                <a:ea typeface="Poppins"/>
                <a:cs typeface="Poppins"/>
                <a:sym typeface="Poppins"/>
              </a:rPr>
              <a:t>Hidden upside</a:t>
            </a:r>
            <a:endParaRPr b="0" i="0" sz="1300" u="none" cap="none" strike="noStrike">
              <a:solidFill>
                <a:schemeClr val="dk1"/>
              </a:solidFill>
              <a:latin typeface="Calibri"/>
              <a:ea typeface="Calibri"/>
              <a:cs typeface="Calibri"/>
              <a:sym typeface="Calibri"/>
            </a:endParaRPr>
          </a:p>
        </p:txBody>
      </p:sp>
      <p:sp>
        <p:nvSpPr>
          <p:cNvPr id="199" name="Google Shape;199;p8"/>
          <p:cNvSpPr/>
          <p:nvPr/>
        </p:nvSpPr>
        <p:spPr>
          <a:xfrm>
            <a:off x="7516368" y="2496312"/>
            <a:ext cx="3520440" cy="5943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A new transit stop was just approved two blocks away — likely to lift value.</a:t>
            </a:r>
            <a:endParaRPr b="0" i="0" sz="1150" u="none" cap="none" strike="noStrike">
              <a:solidFill>
                <a:schemeClr val="dk1"/>
              </a:solidFill>
              <a:latin typeface="Calibri"/>
              <a:ea typeface="Calibri"/>
              <a:cs typeface="Calibri"/>
              <a:sym typeface="Calibri"/>
            </a:endParaRPr>
          </a:p>
        </p:txBody>
      </p:sp>
      <p:sp>
        <p:nvSpPr>
          <p:cNvPr id="200" name="Google Shape;200;p8"/>
          <p:cNvSpPr/>
          <p:nvPr/>
        </p:nvSpPr>
        <p:spPr>
          <a:xfrm>
            <a:off x="7269480" y="3291840"/>
            <a:ext cx="3977640" cy="1097280"/>
          </a:xfrm>
          <a:prstGeom prst="roundRect">
            <a:avLst>
              <a:gd fmla="val 10833" name="adj"/>
            </a:avLst>
          </a:prstGeom>
          <a:solidFill>
            <a:srgbClr val="FBE8E5"/>
          </a:solidFill>
          <a:ln cap="flat" cmpd="sng" w="12700">
            <a:solidFill>
              <a:srgbClr val="F1C6C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7516368" y="3502152"/>
            <a:ext cx="146304" cy="146304"/>
          </a:xfrm>
          <a:prstGeom prst="ellipse">
            <a:avLst/>
          </a:prstGeom>
          <a:solidFill>
            <a:srgbClr val="D84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7744968" y="3429000"/>
            <a:ext cx="3200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2820"/>
              </a:buClr>
              <a:buSzPts val="1300"/>
              <a:buFont typeface="Poppins"/>
              <a:buNone/>
            </a:pPr>
            <a:r>
              <a:rPr b="1" i="0" lang="en-US" sz="1300" u="none" cap="none" strike="noStrike">
                <a:solidFill>
                  <a:srgbClr val="9B2820"/>
                </a:solidFill>
                <a:latin typeface="Poppins"/>
                <a:ea typeface="Poppins"/>
                <a:cs typeface="Poppins"/>
                <a:sym typeface="Poppins"/>
              </a:rPr>
              <a:t>Worth checking</a:t>
            </a:r>
            <a:endParaRPr b="0" i="0" sz="1300" u="none" cap="none" strike="noStrike">
              <a:solidFill>
                <a:schemeClr val="dk1"/>
              </a:solidFill>
              <a:latin typeface="Calibri"/>
              <a:ea typeface="Calibri"/>
              <a:cs typeface="Calibri"/>
              <a:sym typeface="Calibri"/>
            </a:endParaRPr>
          </a:p>
        </p:txBody>
      </p:sp>
      <p:sp>
        <p:nvSpPr>
          <p:cNvPr id="203" name="Google Shape;203;p8"/>
          <p:cNvSpPr/>
          <p:nvPr/>
        </p:nvSpPr>
        <p:spPr>
          <a:xfrm>
            <a:off x="7516368" y="3730752"/>
            <a:ext cx="3520440" cy="5943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In a flood zone — budget about $2,400 a year in extra insurance.</a:t>
            </a:r>
            <a:endParaRPr b="0" i="0" sz="1150" u="none" cap="none" strike="noStrike">
              <a:solidFill>
                <a:schemeClr val="dk1"/>
              </a:solidFill>
              <a:latin typeface="Calibri"/>
              <a:ea typeface="Calibri"/>
              <a:cs typeface="Calibri"/>
              <a:sym typeface="Calibri"/>
            </a:endParaRPr>
          </a:p>
        </p:txBody>
      </p:sp>
      <p:sp>
        <p:nvSpPr>
          <p:cNvPr id="204" name="Google Shape;204;p8"/>
          <p:cNvSpPr/>
          <p:nvPr/>
        </p:nvSpPr>
        <p:spPr>
          <a:xfrm>
            <a:off x="7269480" y="4553712"/>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300"/>
              <a:buFont typeface="Poppins"/>
              <a:buNone/>
            </a:pPr>
            <a:r>
              <a:rPr b="1" i="0" lang="en-US" sz="1300" u="none" cap="none" strike="noStrike">
                <a:solidFill>
                  <a:srgbClr val="14233D"/>
                </a:solidFill>
                <a:latin typeface="Poppins"/>
                <a:ea typeface="Poppins"/>
                <a:cs typeface="Poppins"/>
                <a:sym typeface="Poppins"/>
              </a:rPr>
              <a:t>For you</a:t>
            </a:r>
            <a:endParaRPr b="0" i="0" sz="1300" u="none" cap="none" strike="noStrike">
              <a:solidFill>
                <a:schemeClr val="dk1"/>
              </a:solidFill>
              <a:latin typeface="Calibri"/>
              <a:ea typeface="Calibri"/>
              <a:cs typeface="Calibri"/>
              <a:sym typeface="Calibri"/>
            </a:endParaRPr>
          </a:p>
        </p:txBody>
      </p:sp>
      <p:sp>
        <p:nvSpPr>
          <p:cNvPr id="205" name="Google Shape;205;p8"/>
          <p:cNvSpPr/>
          <p:nvPr/>
        </p:nvSpPr>
        <p:spPr>
          <a:xfrm>
            <a:off x="7269480" y="4855464"/>
            <a:ext cx="40233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25 minutes to your office in Pleasanton</a:t>
            </a:r>
            <a:endParaRPr b="0" i="0" sz="11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Zoned for the school you flagged</a:t>
            </a:r>
            <a:endParaRPr b="0" i="0" sz="1150" u="none" cap="none" strike="noStrike">
              <a:solidFill>
                <a:schemeClr val="dk1"/>
              </a:solidFill>
              <a:latin typeface="Calibri"/>
              <a:ea typeface="Calibri"/>
              <a:cs typeface="Calibri"/>
              <a:sym typeface="Calibri"/>
            </a:endParaRPr>
          </a:p>
        </p:txBody>
      </p:sp>
      <p:sp>
        <p:nvSpPr>
          <p:cNvPr id="206" name="Google Shape;206;p8"/>
          <p:cNvSpPr/>
          <p:nvPr/>
        </p:nvSpPr>
        <p:spPr>
          <a:xfrm>
            <a:off x="7269480" y="5522976"/>
            <a:ext cx="40233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1" i="0" lang="en-US" sz="1100" u="none" cap="none" strike="noStrike">
                <a:solidFill>
                  <a:srgbClr val="6E7C92"/>
                </a:solidFill>
                <a:latin typeface="Poppins"/>
                <a:ea typeface="Poppins"/>
                <a:cs typeface="Poppins"/>
                <a:sym typeface="Poppins"/>
              </a:rPr>
              <a:t>Every claim links to a public record</a:t>
            </a:r>
            <a:endParaRPr b="0" i="0" sz="1100" u="none" cap="none" strike="noStrike">
              <a:solidFill>
                <a:schemeClr val="dk1"/>
              </a:solidFill>
              <a:latin typeface="Calibri"/>
              <a:ea typeface="Calibri"/>
              <a:cs typeface="Calibri"/>
              <a:sym typeface="Calibri"/>
            </a:endParaRPr>
          </a:p>
        </p:txBody>
      </p:sp>
      <p:sp>
        <p:nvSpPr>
          <p:cNvPr id="207" name="Google Shape;207;p8"/>
          <p:cNvSpPr/>
          <p:nvPr/>
        </p:nvSpPr>
        <p:spPr>
          <a:xfrm>
            <a:off x="7269480" y="5797296"/>
            <a:ext cx="4023360" cy="457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9AA7B8"/>
              </a:buClr>
              <a:buSzPts val="1050"/>
              <a:buFont typeface="Poppins"/>
              <a:buNone/>
            </a:pPr>
            <a:r>
              <a:rPr b="0" i="0" lang="en-US" sz="1050" u="none" cap="none" strike="noStrike">
                <a:solidFill>
                  <a:srgbClr val="9AA7B8"/>
                </a:solidFill>
                <a:latin typeface="Poppins"/>
                <a:ea typeface="Poppins"/>
                <a:cs typeface="Poppins"/>
                <a:sym typeface="Poppins"/>
              </a:rPr>
              <a:t>county assessor · city permits · transit feed · FEMA · Census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9"/>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Specialized Agents Over One Shared Graph</a:t>
            </a:r>
            <a:endParaRPr b="0" i="0" sz="2800" u="none" cap="none" strike="noStrike">
              <a:solidFill>
                <a:schemeClr val="dk1"/>
              </a:solidFill>
              <a:latin typeface="Calibri"/>
              <a:ea typeface="Calibri"/>
              <a:cs typeface="Calibri"/>
              <a:sym typeface="Calibri"/>
            </a:endParaRPr>
          </a:p>
        </p:txBody>
      </p:sp>
      <p:sp>
        <p:nvSpPr>
          <p:cNvPr id="214" name="Google Shape;214;p9"/>
          <p:cNvSpPr/>
          <p:nvPr/>
        </p:nvSpPr>
        <p:spPr>
          <a:xfrm>
            <a:off x="640080" y="1371600"/>
            <a:ext cx="2468880" cy="658368"/>
          </a:xfrm>
          <a:prstGeom prst="roundRect">
            <a:avLst>
              <a:gd fmla="val 18056" name="adj"/>
            </a:avLst>
          </a:prstGeom>
          <a:solidFill>
            <a:srgbClr val="EDF3FB"/>
          </a:solidFill>
          <a:ln cap="flat" cmpd="sng" w="12700">
            <a:solidFill>
              <a:srgbClr val="E6EDF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640080" y="1371600"/>
            <a:ext cx="246888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33D"/>
              </a:buClr>
              <a:buSzPts val="1300"/>
              <a:buFont typeface="Poppins"/>
              <a:buNone/>
            </a:pPr>
            <a:r>
              <a:rPr b="1" i="0" lang="en-US" sz="1300" u="none" cap="none" strike="noStrike">
                <a:solidFill>
                  <a:srgbClr val="14233D"/>
                </a:solidFill>
                <a:latin typeface="Poppins"/>
                <a:ea typeface="Poppins"/>
                <a:cs typeface="Poppins"/>
                <a:sym typeface="Poppins"/>
              </a:rPr>
              <a:t>Property / goals</a:t>
            </a:r>
            <a:endParaRPr b="0" i="0" sz="1300" u="none" cap="none" strike="noStrike">
              <a:solidFill>
                <a:schemeClr val="dk1"/>
              </a:solidFill>
              <a:latin typeface="Calibri"/>
              <a:ea typeface="Calibri"/>
              <a:cs typeface="Calibri"/>
              <a:sym typeface="Calibri"/>
            </a:endParaRPr>
          </a:p>
        </p:txBody>
      </p:sp>
      <p:sp>
        <p:nvSpPr>
          <p:cNvPr id="216" name="Google Shape;216;p9"/>
          <p:cNvSpPr/>
          <p:nvPr/>
        </p:nvSpPr>
        <p:spPr>
          <a:xfrm>
            <a:off x="4846320" y="1325880"/>
            <a:ext cx="2697480" cy="731520"/>
          </a:xfrm>
          <a:prstGeom prst="roundRect">
            <a:avLst>
              <a:gd fmla="val 16250" name="adj"/>
            </a:avLst>
          </a:prstGeom>
          <a:solidFill>
            <a:srgbClr val="E7F0FC"/>
          </a:solidFill>
          <a:ln cap="flat" cmpd="sng" w="12700">
            <a:solidFill>
              <a:srgbClr val="6D4FE0"/>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4846320" y="1325880"/>
            <a:ext cx="269748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35B0"/>
              </a:buClr>
              <a:buSzPts val="1450"/>
              <a:buFont typeface="Poppins"/>
              <a:buNone/>
            </a:pPr>
            <a:r>
              <a:rPr b="1" i="0" lang="en-US" sz="1450" u="none" cap="none" strike="noStrike">
                <a:solidFill>
                  <a:srgbClr val="4A35B0"/>
                </a:solidFill>
                <a:latin typeface="Poppins"/>
                <a:ea typeface="Poppins"/>
                <a:cs typeface="Poppins"/>
                <a:sym typeface="Poppins"/>
              </a:rPr>
              <a:t>Orchestrator</a:t>
            </a:r>
            <a:endParaRPr b="0" i="0" sz="14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routes &amp; sequences</a:t>
            </a:r>
            <a:endParaRPr b="0" i="0" sz="1450" u="none" cap="none" strike="noStrike">
              <a:solidFill>
                <a:schemeClr val="dk1"/>
              </a:solidFill>
              <a:latin typeface="Calibri"/>
              <a:ea typeface="Calibri"/>
              <a:cs typeface="Calibri"/>
              <a:sym typeface="Calibri"/>
            </a:endParaRPr>
          </a:p>
        </p:txBody>
      </p:sp>
      <p:cxnSp>
        <p:nvCxnSpPr>
          <p:cNvPr id="218" name="Google Shape;218;p9"/>
          <p:cNvCxnSpPr/>
          <p:nvPr/>
        </p:nvCxnSpPr>
        <p:spPr>
          <a:xfrm flipH="1" rot="10800000">
            <a:off x="3246120" y="1691640"/>
            <a:ext cx="1581912" cy="9144"/>
          </a:xfrm>
          <a:prstGeom prst="straightConnector1">
            <a:avLst/>
          </a:prstGeom>
          <a:noFill/>
          <a:ln cap="flat" cmpd="sng" w="22225">
            <a:solidFill>
              <a:srgbClr val="6E7C92"/>
            </a:solidFill>
            <a:prstDash val="solid"/>
            <a:round/>
            <a:headEnd len="sm" w="sm" type="none"/>
            <a:tailEnd len="med" w="med" type="triangle"/>
          </a:ln>
        </p:spPr>
      </p:cxnSp>
      <p:cxnSp>
        <p:nvCxnSpPr>
          <p:cNvPr id="219" name="Google Shape;219;p9"/>
          <p:cNvCxnSpPr/>
          <p:nvPr/>
        </p:nvCxnSpPr>
        <p:spPr>
          <a:xfrm>
            <a:off x="6190488" y="2057400"/>
            <a:ext cx="0" cy="530352"/>
          </a:xfrm>
          <a:prstGeom prst="straightConnector1">
            <a:avLst/>
          </a:prstGeom>
          <a:noFill/>
          <a:ln cap="flat" cmpd="sng" w="22225">
            <a:solidFill>
              <a:srgbClr val="6E7C92"/>
            </a:solidFill>
            <a:prstDash val="solid"/>
            <a:round/>
            <a:headEnd len="sm" w="sm" type="none"/>
            <a:tailEnd len="med" w="med" type="triangle"/>
          </a:ln>
        </p:spPr>
      </p:cxnSp>
      <p:sp>
        <p:nvSpPr>
          <p:cNvPr id="220" name="Google Shape;220;p9"/>
          <p:cNvSpPr/>
          <p:nvPr/>
        </p:nvSpPr>
        <p:spPr>
          <a:xfrm>
            <a:off x="640080" y="2651760"/>
            <a:ext cx="2432304" cy="841248"/>
          </a:xfrm>
          <a:prstGeom prst="roundRect">
            <a:avLst>
              <a:gd fmla="val 14130" name="adj"/>
            </a:avLst>
          </a:prstGeom>
          <a:solidFill>
            <a:srgbClr val="E7F0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9"/>
          <p:cNvSpPr/>
          <p:nvPr/>
        </p:nvSpPr>
        <p:spPr>
          <a:xfrm>
            <a:off x="640080" y="2651760"/>
            <a:ext cx="2432304"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4AA6"/>
              </a:buClr>
              <a:buSzPts val="1450"/>
              <a:buFont typeface="Poppins"/>
              <a:buNone/>
            </a:pPr>
            <a:r>
              <a:rPr b="1" i="0" lang="en-US" sz="1450" u="none" cap="none" strike="noStrike">
                <a:solidFill>
                  <a:srgbClr val="0B4AA6"/>
                </a:solidFill>
                <a:latin typeface="Poppins"/>
                <a:ea typeface="Poppins"/>
                <a:cs typeface="Poppins"/>
                <a:sym typeface="Poppins"/>
              </a:rPr>
              <a:t>Intent</a:t>
            </a:r>
            <a:endParaRPr b="0" i="0" sz="14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infers priorities</a:t>
            </a:r>
            <a:endParaRPr b="0" i="0" sz="1450" u="none" cap="none" strike="noStrike">
              <a:solidFill>
                <a:schemeClr val="dk1"/>
              </a:solidFill>
              <a:latin typeface="Calibri"/>
              <a:ea typeface="Calibri"/>
              <a:cs typeface="Calibri"/>
              <a:sym typeface="Calibri"/>
            </a:endParaRPr>
          </a:p>
        </p:txBody>
      </p:sp>
      <p:cxnSp>
        <p:nvCxnSpPr>
          <p:cNvPr id="222" name="Google Shape;222;p9"/>
          <p:cNvCxnSpPr/>
          <p:nvPr/>
        </p:nvCxnSpPr>
        <p:spPr>
          <a:xfrm>
            <a:off x="1856232" y="3511296"/>
            <a:ext cx="0" cy="1371600"/>
          </a:xfrm>
          <a:prstGeom prst="straightConnector1">
            <a:avLst/>
          </a:prstGeom>
          <a:noFill/>
          <a:ln cap="flat" cmpd="sng" w="20300">
            <a:solidFill>
              <a:srgbClr val="6E7C92"/>
            </a:solidFill>
            <a:prstDash val="solid"/>
            <a:round/>
            <a:headEnd len="med" w="med" type="triangle"/>
            <a:tailEnd len="med" w="med" type="triangle"/>
          </a:ln>
        </p:spPr>
      </p:cxnSp>
      <p:sp>
        <p:nvSpPr>
          <p:cNvPr id="223" name="Google Shape;223;p9"/>
          <p:cNvSpPr/>
          <p:nvPr/>
        </p:nvSpPr>
        <p:spPr>
          <a:xfrm>
            <a:off x="3465576" y="2651760"/>
            <a:ext cx="2432304" cy="841248"/>
          </a:xfrm>
          <a:prstGeom prst="roundRect">
            <a:avLst>
              <a:gd fmla="val 14130" name="adj"/>
            </a:avLst>
          </a:prstGeom>
          <a:solidFill>
            <a:srgbClr val="E7F0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p:nvPr/>
        </p:nvSpPr>
        <p:spPr>
          <a:xfrm>
            <a:off x="3465576" y="2651760"/>
            <a:ext cx="2432304"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4AA6"/>
              </a:buClr>
              <a:buSzPts val="1450"/>
              <a:buFont typeface="Poppins"/>
              <a:buNone/>
            </a:pPr>
            <a:r>
              <a:rPr b="1" i="0" lang="en-US" sz="1450" u="none" cap="none" strike="noStrike">
                <a:solidFill>
                  <a:srgbClr val="0B4AA6"/>
                </a:solidFill>
                <a:latin typeface="Poppins"/>
                <a:ea typeface="Poppins"/>
                <a:cs typeface="Poppins"/>
                <a:sym typeface="Poppins"/>
              </a:rPr>
              <a:t>Valuation</a:t>
            </a:r>
            <a:endParaRPr b="0" i="0" sz="14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multi-hop value</a:t>
            </a:r>
            <a:endParaRPr b="0" i="0" sz="1450" u="none" cap="none" strike="noStrike">
              <a:solidFill>
                <a:schemeClr val="dk1"/>
              </a:solidFill>
              <a:latin typeface="Calibri"/>
              <a:ea typeface="Calibri"/>
              <a:cs typeface="Calibri"/>
              <a:sym typeface="Calibri"/>
            </a:endParaRPr>
          </a:p>
        </p:txBody>
      </p:sp>
      <p:cxnSp>
        <p:nvCxnSpPr>
          <p:cNvPr id="225" name="Google Shape;225;p9"/>
          <p:cNvCxnSpPr/>
          <p:nvPr/>
        </p:nvCxnSpPr>
        <p:spPr>
          <a:xfrm>
            <a:off x="4681728" y="3511296"/>
            <a:ext cx="0" cy="1371600"/>
          </a:xfrm>
          <a:prstGeom prst="straightConnector1">
            <a:avLst/>
          </a:prstGeom>
          <a:noFill/>
          <a:ln cap="flat" cmpd="sng" w="20300">
            <a:solidFill>
              <a:srgbClr val="6E7C92"/>
            </a:solidFill>
            <a:prstDash val="solid"/>
            <a:round/>
            <a:headEnd len="med" w="med" type="triangle"/>
            <a:tailEnd len="med" w="med" type="triangle"/>
          </a:ln>
        </p:spPr>
      </p:cxnSp>
      <p:sp>
        <p:nvSpPr>
          <p:cNvPr id="226" name="Google Shape;226;p9"/>
          <p:cNvSpPr/>
          <p:nvPr/>
        </p:nvSpPr>
        <p:spPr>
          <a:xfrm>
            <a:off x="6291072" y="2651760"/>
            <a:ext cx="2432304" cy="841248"/>
          </a:xfrm>
          <a:prstGeom prst="roundRect">
            <a:avLst>
              <a:gd fmla="val 14130" name="adj"/>
            </a:avLst>
          </a:prstGeom>
          <a:solidFill>
            <a:srgbClr val="E7F0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
          <p:cNvSpPr/>
          <p:nvPr/>
        </p:nvSpPr>
        <p:spPr>
          <a:xfrm>
            <a:off x="6291072" y="2651760"/>
            <a:ext cx="2432304"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4AA6"/>
              </a:buClr>
              <a:buSzPts val="1450"/>
              <a:buFont typeface="Poppins"/>
              <a:buNone/>
            </a:pPr>
            <a:r>
              <a:rPr b="1" i="0" lang="en-US" sz="1450" u="none" cap="none" strike="noStrike">
                <a:solidFill>
                  <a:srgbClr val="0B4AA6"/>
                </a:solidFill>
                <a:latin typeface="Poppins"/>
                <a:ea typeface="Poppins"/>
                <a:cs typeface="Poppins"/>
                <a:sym typeface="Poppins"/>
              </a:rPr>
              <a:t>Risk</a:t>
            </a:r>
            <a:endParaRPr b="0" i="0" sz="14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hidden risks</a:t>
            </a:r>
            <a:endParaRPr b="0" i="0" sz="1450" u="none" cap="none" strike="noStrike">
              <a:solidFill>
                <a:schemeClr val="dk1"/>
              </a:solidFill>
              <a:latin typeface="Calibri"/>
              <a:ea typeface="Calibri"/>
              <a:cs typeface="Calibri"/>
              <a:sym typeface="Calibri"/>
            </a:endParaRPr>
          </a:p>
        </p:txBody>
      </p:sp>
      <p:cxnSp>
        <p:nvCxnSpPr>
          <p:cNvPr id="228" name="Google Shape;228;p9"/>
          <p:cNvCxnSpPr/>
          <p:nvPr/>
        </p:nvCxnSpPr>
        <p:spPr>
          <a:xfrm>
            <a:off x="7507224" y="3511296"/>
            <a:ext cx="0" cy="1371600"/>
          </a:xfrm>
          <a:prstGeom prst="straightConnector1">
            <a:avLst/>
          </a:prstGeom>
          <a:noFill/>
          <a:ln cap="flat" cmpd="sng" w="20300">
            <a:solidFill>
              <a:srgbClr val="6E7C92"/>
            </a:solidFill>
            <a:prstDash val="solid"/>
            <a:round/>
            <a:headEnd len="med" w="med" type="triangle"/>
            <a:tailEnd len="med" w="med" type="triangle"/>
          </a:ln>
        </p:spPr>
      </p:cxnSp>
      <p:sp>
        <p:nvSpPr>
          <p:cNvPr id="229" name="Google Shape;229;p9"/>
          <p:cNvSpPr/>
          <p:nvPr/>
        </p:nvSpPr>
        <p:spPr>
          <a:xfrm>
            <a:off x="9116568" y="2651760"/>
            <a:ext cx="2432304" cy="841248"/>
          </a:xfrm>
          <a:prstGeom prst="roundRect">
            <a:avLst>
              <a:gd fmla="val 14130" name="adj"/>
            </a:avLst>
          </a:prstGeom>
          <a:solidFill>
            <a:srgbClr val="E7F0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9116568" y="2651760"/>
            <a:ext cx="2432304"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4AA6"/>
              </a:buClr>
              <a:buSzPts val="1450"/>
              <a:buFont typeface="Poppins"/>
              <a:buNone/>
            </a:pPr>
            <a:r>
              <a:rPr b="1" i="0" lang="en-US" sz="1450" u="none" cap="none" strike="noStrike">
                <a:solidFill>
                  <a:srgbClr val="0B4AA6"/>
                </a:solidFill>
                <a:latin typeface="Poppins"/>
                <a:ea typeface="Poppins"/>
                <a:cs typeface="Poppins"/>
                <a:sym typeface="Poppins"/>
              </a:rPr>
              <a:t>Explainer</a:t>
            </a:r>
            <a:endParaRPr b="0" i="0" sz="14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traceable why</a:t>
            </a:r>
            <a:endParaRPr b="0" i="0" sz="1450" u="none" cap="none" strike="noStrike">
              <a:solidFill>
                <a:schemeClr val="dk1"/>
              </a:solidFill>
              <a:latin typeface="Calibri"/>
              <a:ea typeface="Calibri"/>
              <a:cs typeface="Calibri"/>
              <a:sym typeface="Calibri"/>
            </a:endParaRPr>
          </a:p>
        </p:txBody>
      </p:sp>
      <p:cxnSp>
        <p:nvCxnSpPr>
          <p:cNvPr id="231" name="Google Shape;231;p9"/>
          <p:cNvCxnSpPr/>
          <p:nvPr/>
        </p:nvCxnSpPr>
        <p:spPr>
          <a:xfrm>
            <a:off x="10332720" y="3511296"/>
            <a:ext cx="0" cy="1371600"/>
          </a:xfrm>
          <a:prstGeom prst="straightConnector1">
            <a:avLst/>
          </a:prstGeom>
          <a:noFill/>
          <a:ln cap="flat" cmpd="sng" w="20300">
            <a:solidFill>
              <a:srgbClr val="6E7C92"/>
            </a:solidFill>
            <a:prstDash val="solid"/>
            <a:round/>
            <a:headEnd len="med" w="med" type="triangle"/>
            <a:tailEnd len="med" w="med" type="triangle"/>
          </a:ln>
        </p:spPr>
      </p:cxnSp>
      <p:sp>
        <p:nvSpPr>
          <p:cNvPr id="232" name="Google Shape;232;p9"/>
          <p:cNvSpPr/>
          <p:nvPr/>
        </p:nvSpPr>
        <p:spPr>
          <a:xfrm>
            <a:off x="640080" y="4114800"/>
            <a:ext cx="10908792" cy="1371600"/>
          </a:xfrm>
          <a:prstGeom prst="roundRect">
            <a:avLst>
              <a:gd fmla="val 8667" name="adj"/>
            </a:avLst>
          </a:prstGeom>
          <a:solidFill>
            <a:srgbClr val="EDF3FB"/>
          </a:solidFill>
          <a:ln cap="flat" cmpd="sng" w="12700">
            <a:solidFill>
              <a:srgbClr val="E6EDF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822960" y="4224528"/>
            <a:ext cx="10515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33D"/>
              </a:buClr>
              <a:buSzPts val="1450"/>
              <a:buFont typeface="Poppins"/>
              <a:buNone/>
            </a:pPr>
            <a:r>
              <a:rPr b="1" i="0" lang="en-US" sz="1450" u="none" cap="none" strike="noStrike">
                <a:solidFill>
                  <a:srgbClr val="14233D"/>
                </a:solidFill>
                <a:latin typeface="Poppins"/>
                <a:ea typeface="Poppins"/>
                <a:cs typeface="Poppins"/>
                <a:sym typeface="Poppins"/>
              </a:rPr>
              <a:t>Real-estate knowledge graph   —   every edge carries provenance</a:t>
            </a:r>
            <a:endParaRPr b="0" i="0" sz="1450" u="none" cap="none" strike="noStrike">
              <a:solidFill>
                <a:schemeClr val="dk1"/>
              </a:solidFill>
              <a:latin typeface="Calibri"/>
              <a:ea typeface="Calibri"/>
              <a:cs typeface="Calibri"/>
              <a:sym typeface="Calibri"/>
            </a:endParaRPr>
          </a:p>
        </p:txBody>
      </p:sp>
      <p:sp>
        <p:nvSpPr>
          <p:cNvPr id="234" name="Google Shape;234;p9"/>
          <p:cNvSpPr/>
          <p:nvPr/>
        </p:nvSpPr>
        <p:spPr>
          <a:xfrm>
            <a:off x="1051560" y="4663440"/>
            <a:ext cx="4800600" cy="713232"/>
          </a:xfrm>
          <a:prstGeom prst="roundRect">
            <a:avLst>
              <a:gd fmla="val 16667" name="adj"/>
            </a:avLst>
          </a:prstGeom>
          <a:solidFill>
            <a:srgbClr val="FFFFFF"/>
          </a:solidFill>
          <a:ln cap="flat" cmpd="sng" w="12700">
            <a:solidFill>
              <a:srgbClr val="BCE6D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1051560" y="4663440"/>
            <a:ext cx="48006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6E4C"/>
              </a:buClr>
              <a:buSzPts val="1300"/>
              <a:buFont typeface="Poppins"/>
              <a:buNone/>
            </a:pPr>
            <a:r>
              <a:rPr b="1" i="0" lang="en-US" sz="1300" u="none" cap="none" strike="noStrike">
                <a:solidFill>
                  <a:srgbClr val="0A6E4C"/>
                </a:solidFill>
                <a:latin typeface="Poppins"/>
                <a:ea typeface="Poppins"/>
                <a:cs typeface="Poppins"/>
                <a:sym typeface="Poppins"/>
              </a:rPr>
              <a:t>Entities</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property · neighborhood · comp</a:t>
            </a:r>
            <a:endParaRPr b="0" i="0" sz="1300" u="none" cap="none" strike="noStrike">
              <a:solidFill>
                <a:schemeClr val="dk1"/>
              </a:solidFill>
              <a:latin typeface="Calibri"/>
              <a:ea typeface="Calibri"/>
              <a:cs typeface="Calibri"/>
              <a:sym typeface="Calibri"/>
            </a:endParaRPr>
          </a:p>
        </p:txBody>
      </p:sp>
      <p:sp>
        <p:nvSpPr>
          <p:cNvPr id="236" name="Google Shape;236;p9"/>
          <p:cNvSpPr/>
          <p:nvPr/>
        </p:nvSpPr>
        <p:spPr>
          <a:xfrm>
            <a:off x="6355080" y="4663440"/>
            <a:ext cx="4800600" cy="713232"/>
          </a:xfrm>
          <a:prstGeom prst="roundRect">
            <a:avLst>
              <a:gd fmla="val 16667" name="adj"/>
            </a:avLst>
          </a:prstGeom>
          <a:solidFill>
            <a:srgbClr val="FFFFFF"/>
          </a:solidFill>
          <a:ln cap="flat" cmpd="sng" w="12700">
            <a:solidFill>
              <a:srgbClr val="EFDBA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9"/>
          <p:cNvSpPr/>
          <p:nvPr/>
        </p:nvSpPr>
        <p:spPr>
          <a:xfrm>
            <a:off x="6355080" y="4663440"/>
            <a:ext cx="480060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5208"/>
              </a:buClr>
              <a:buSzPts val="1300"/>
              <a:buFont typeface="Poppins"/>
              <a:buNone/>
            </a:pPr>
            <a:r>
              <a:rPr b="1" i="0" lang="en-US" sz="1300" u="none" cap="none" strike="noStrike">
                <a:solidFill>
                  <a:srgbClr val="8A5208"/>
                </a:solidFill>
                <a:latin typeface="Poppins"/>
                <a:ea typeface="Poppins"/>
                <a:cs typeface="Poppins"/>
                <a:sym typeface="Poppins"/>
              </a:rPr>
              <a:t>Value-driver signals</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transit · school · zoning · permit</a:t>
            </a:r>
            <a:endParaRPr b="0" i="0" sz="1300" u="none" cap="none" strike="noStrike">
              <a:solidFill>
                <a:schemeClr val="dk1"/>
              </a:solidFill>
              <a:latin typeface="Calibri"/>
              <a:ea typeface="Calibri"/>
              <a:cs typeface="Calibri"/>
              <a:sym typeface="Calibri"/>
            </a:endParaRPr>
          </a:p>
        </p:txBody>
      </p:sp>
      <p:sp>
        <p:nvSpPr>
          <p:cNvPr id="238" name="Google Shape;238;p9"/>
          <p:cNvSpPr/>
          <p:nvPr/>
        </p:nvSpPr>
        <p:spPr>
          <a:xfrm>
            <a:off x="640080" y="5760720"/>
            <a:ext cx="3108960" cy="713232"/>
          </a:xfrm>
          <a:prstGeom prst="roundRect">
            <a:avLst>
              <a:gd fmla="val 1666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9"/>
          <p:cNvSpPr/>
          <p:nvPr/>
        </p:nvSpPr>
        <p:spPr>
          <a:xfrm>
            <a:off x="640080" y="5760720"/>
            <a:ext cx="31089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4AA6"/>
              </a:buClr>
              <a:buSzPts val="1300"/>
              <a:buFont typeface="Poppins"/>
              <a:buNone/>
            </a:pPr>
            <a:r>
              <a:rPr b="1" i="0" lang="en-US" sz="1300" u="none" cap="none" strike="noStrike">
                <a:solidFill>
                  <a:srgbClr val="0B4AA6"/>
                </a:solidFill>
                <a:latin typeface="Poppins"/>
                <a:ea typeface="Poppins"/>
                <a:cs typeface="Poppins"/>
                <a:sym typeface="Poppins"/>
              </a:rPr>
              <a:t>Ingestion agent</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public data → graph</a:t>
            </a:r>
            <a:endParaRPr b="0" i="0" sz="1300" u="none" cap="none" strike="noStrike">
              <a:solidFill>
                <a:schemeClr val="dk1"/>
              </a:solidFill>
              <a:latin typeface="Calibri"/>
              <a:ea typeface="Calibri"/>
              <a:cs typeface="Calibri"/>
              <a:sym typeface="Calibri"/>
            </a:endParaRPr>
          </a:p>
        </p:txBody>
      </p:sp>
      <p:cxnSp>
        <p:nvCxnSpPr>
          <p:cNvPr id="240" name="Google Shape;240;p9"/>
          <p:cNvCxnSpPr/>
          <p:nvPr/>
        </p:nvCxnSpPr>
        <p:spPr>
          <a:xfrm rot="10800000">
            <a:off x="2194560" y="5458968"/>
            <a:ext cx="0" cy="283464"/>
          </a:xfrm>
          <a:prstGeom prst="straightConnector1">
            <a:avLst/>
          </a:prstGeom>
          <a:noFill/>
          <a:ln cap="flat" cmpd="sng" w="22225">
            <a:solidFill>
              <a:srgbClr val="6E7C92"/>
            </a:solidFill>
            <a:prstDash val="solid"/>
            <a:round/>
            <a:headEnd len="sm" w="sm" type="none"/>
            <a:tailEnd len="med" w="med" type="triangle"/>
          </a:ln>
        </p:spPr>
      </p:cxnSp>
      <p:sp>
        <p:nvSpPr>
          <p:cNvPr id="241" name="Google Shape;241;p9"/>
          <p:cNvSpPr/>
          <p:nvPr/>
        </p:nvSpPr>
        <p:spPr>
          <a:xfrm>
            <a:off x="7955280" y="5760720"/>
            <a:ext cx="3566160" cy="713232"/>
          </a:xfrm>
          <a:prstGeom prst="roundRect">
            <a:avLst>
              <a:gd fmla="val 16667"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7955280" y="5760720"/>
            <a:ext cx="3566160" cy="7132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4AA6"/>
              </a:buClr>
              <a:buSzPts val="1350"/>
              <a:buFont typeface="Poppins"/>
              <a:buNone/>
            </a:pPr>
            <a:r>
              <a:rPr b="1" i="0" lang="en-US" sz="1350" u="none" cap="none" strike="noStrike">
                <a:solidFill>
                  <a:srgbClr val="0B4AA6"/>
                </a:solidFill>
                <a:latin typeface="Poppins"/>
                <a:ea typeface="Poppins"/>
                <a:cs typeface="Poppins"/>
                <a:sym typeface="Poppins"/>
              </a:rPr>
              <a:t>Valuation + why + map</a:t>
            </a:r>
            <a:endParaRPr b="0" i="0" sz="13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auditable output</a:t>
            </a:r>
            <a:endParaRPr b="0" i="0" sz="1350" u="none" cap="none" strike="noStrike">
              <a:solidFill>
                <a:schemeClr val="dk1"/>
              </a:solidFill>
              <a:latin typeface="Calibri"/>
              <a:ea typeface="Calibri"/>
              <a:cs typeface="Calibri"/>
              <a:sym typeface="Calibri"/>
            </a:endParaRPr>
          </a:p>
        </p:txBody>
      </p:sp>
      <p:cxnSp>
        <p:nvCxnSpPr>
          <p:cNvPr id="243" name="Google Shape;243;p9"/>
          <p:cNvCxnSpPr/>
          <p:nvPr/>
        </p:nvCxnSpPr>
        <p:spPr>
          <a:xfrm>
            <a:off x="9738360" y="5458968"/>
            <a:ext cx="0" cy="283464"/>
          </a:xfrm>
          <a:prstGeom prst="straightConnector1">
            <a:avLst/>
          </a:prstGeom>
          <a:noFill/>
          <a:ln cap="flat" cmpd="sng" w="20300">
            <a:solidFill>
              <a:srgbClr val="1565D8"/>
            </a:solidFill>
            <a:prstDash val="solid"/>
            <a:round/>
            <a:headEnd len="sm" w="sm" type="none"/>
            <a:tailEnd len="med" w="med" type="triangle"/>
          </a:ln>
        </p:spPr>
      </p:cxnSp>
      <p:sp>
        <p:nvSpPr>
          <p:cNvPr id="244" name="Google Shape;244;p9"/>
          <p:cNvSpPr/>
          <p:nvPr/>
        </p:nvSpPr>
        <p:spPr>
          <a:xfrm>
            <a:off x="9875520" y="5477256"/>
            <a:ext cx="1554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000"/>
              <a:buFont typeface="Poppins"/>
              <a:buNone/>
            </a:pPr>
            <a:r>
              <a:rPr b="0" i="1" lang="en-US" sz="1000" u="none" cap="none" strike="noStrike">
                <a:solidFill>
                  <a:srgbClr val="6E7C92"/>
                </a:solidFill>
                <a:latin typeface="Poppins"/>
                <a:ea typeface="Poppins"/>
                <a:cs typeface="Poppins"/>
                <a:sym typeface="Poppins"/>
              </a:rPr>
              <a:t>verifier gate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10"/>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Each Agent Does One Job</a:t>
            </a:r>
            <a:endParaRPr b="0" i="0" sz="2800" u="none" cap="none" strike="noStrike">
              <a:solidFill>
                <a:schemeClr val="dk1"/>
              </a:solidFill>
              <a:latin typeface="Calibri"/>
              <a:ea typeface="Calibri"/>
              <a:cs typeface="Calibri"/>
              <a:sym typeface="Calibri"/>
            </a:endParaRPr>
          </a:p>
        </p:txBody>
      </p:sp>
      <p:sp>
        <p:nvSpPr>
          <p:cNvPr id="251" name="Google Shape;251;p10"/>
          <p:cNvSpPr/>
          <p:nvPr/>
        </p:nvSpPr>
        <p:spPr>
          <a:xfrm>
            <a:off x="658368" y="1097280"/>
            <a:ext cx="10881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350"/>
              <a:buFont typeface="Poppins"/>
              <a:buNone/>
            </a:pPr>
            <a:r>
              <a:rPr b="0" i="0" lang="en-US" sz="1350" u="none" cap="none" strike="noStrike">
                <a:solidFill>
                  <a:srgbClr val="6E7C92"/>
                </a:solidFill>
                <a:latin typeface="Poppins"/>
                <a:ea typeface="Poppins"/>
                <a:cs typeface="Poppins"/>
                <a:sym typeface="Poppins"/>
              </a:rPr>
              <a:t>An orchestrator sequences six specialists, each reading and writing the shared graph.</a:t>
            </a:r>
            <a:endParaRPr b="0" i="0" sz="1350" u="none" cap="none" strike="noStrike">
              <a:solidFill>
                <a:schemeClr val="dk1"/>
              </a:solidFill>
              <a:latin typeface="Calibri"/>
              <a:ea typeface="Calibri"/>
              <a:cs typeface="Calibri"/>
              <a:sym typeface="Calibri"/>
            </a:endParaRPr>
          </a:p>
        </p:txBody>
      </p:sp>
      <p:sp>
        <p:nvSpPr>
          <p:cNvPr id="252" name="Google Shape;252;p10"/>
          <p:cNvSpPr/>
          <p:nvPr/>
        </p:nvSpPr>
        <p:spPr>
          <a:xfrm>
            <a:off x="640080" y="1572768"/>
            <a:ext cx="5285232" cy="1207008"/>
          </a:xfrm>
          <a:prstGeom prst="roundRect">
            <a:avLst>
              <a:gd fmla="val 9848"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950976" y="2020824"/>
            <a:ext cx="310896" cy="310896"/>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0"/>
          <p:cNvSpPr/>
          <p:nvPr/>
        </p:nvSpPr>
        <p:spPr>
          <a:xfrm>
            <a:off x="1417320" y="1755648"/>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600"/>
              <a:buFont typeface="Poppins"/>
              <a:buNone/>
            </a:pPr>
            <a:r>
              <a:rPr b="1" i="0" lang="en-US" sz="1600" u="none" cap="none" strike="noStrike">
                <a:solidFill>
                  <a:srgbClr val="14233D"/>
                </a:solidFill>
                <a:latin typeface="Poppins"/>
                <a:ea typeface="Poppins"/>
                <a:cs typeface="Poppins"/>
                <a:sym typeface="Poppins"/>
              </a:rPr>
              <a:t>Ingestion</a:t>
            </a:r>
            <a:endParaRPr b="0" i="0" sz="1600" u="none" cap="none" strike="noStrike">
              <a:solidFill>
                <a:schemeClr val="dk1"/>
              </a:solidFill>
              <a:latin typeface="Calibri"/>
              <a:ea typeface="Calibri"/>
              <a:cs typeface="Calibri"/>
              <a:sym typeface="Calibri"/>
            </a:endParaRPr>
          </a:p>
        </p:txBody>
      </p:sp>
      <p:sp>
        <p:nvSpPr>
          <p:cNvPr id="255" name="Google Shape;255;p10"/>
          <p:cNvSpPr/>
          <p:nvPr/>
        </p:nvSpPr>
        <p:spPr>
          <a:xfrm>
            <a:off x="1417320" y="2139696"/>
            <a:ext cx="4297680" cy="56692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200"/>
              <a:buFont typeface="Poppins"/>
              <a:buNone/>
            </a:pPr>
            <a:r>
              <a:rPr b="0" i="0" lang="en-US" sz="1200" u="none" cap="none" strike="noStrike">
                <a:solidFill>
                  <a:srgbClr val="3D4B62"/>
                </a:solidFill>
                <a:latin typeface="Poppins"/>
                <a:ea typeface="Poppins"/>
                <a:cs typeface="Poppins"/>
                <a:sym typeface="Poppins"/>
              </a:rPr>
              <a:t>Pulls public data, resolves entities, writes typed edges with provenance</a:t>
            </a:r>
            <a:endParaRPr b="0" i="0" sz="1200" u="none" cap="none" strike="noStrike">
              <a:solidFill>
                <a:schemeClr val="dk1"/>
              </a:solidFill>
              <a:latin typeface="Calibri"/>
              <a:ea typeface="Calibri"/>
              <a:cs typeface="Calibri"/>
              <a:sym typeface="Calibri"/>
            </a:endParaRPr>
          </a:p>
        </p:txBody>
      </p:sp>
      <p:sp>
        <p:nvSpPr>
          <p:cNvPr id="256" name="Google Shape;256;p10"/>
          <p:cNvSpPr/>
          <p:nvPr/>
        </p:nvSpPr>
        <p:spPr>
          <a:xfrm>
            <a:off x="6263640" y="1572768"/>
            <a:ext cx="5285232" cy="1207008"/>
          </a:xfrm>
          <a:prstGeom prst="roundRect">
            <a:avLst>
              <a:gd fmla="val 9848"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0"/>
          <p:cNvSpPr/>
          <p:nvPr/>
        </p:nvSpPr>
        <p:spPr>
          <a:xfrm>
            <a:off x="6574536" y="2020824"/>
            <a:ext cx="310896" cy="310896"/>
          </a:xfrm>
          <a:prstGeom prst="ellipse">
            <a:avLst/>
          </a:prstGeom>
          <a:solidFill>
            <a:srgbClr val="0E9E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0"/>
          <p:cNvSpPr/>
          <p:nvPr/>
        </p:nvSpPr>
        <p:spPr>
          <a:xfrm>
            <a:off x="7040880" y="1755648"/>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600"/>
              <a:buFont typeface="Poppins"/>
              <a:buNone/>
            </a:pPr>
            <a:r>
              <a:rPr b="1" i="0" lang="en-US" sz="1600" u="none" cap="none" strike="noStrike">
                <a:solidFill>
                  <a:srgbClr val="14233D"/>
                </a:solidFill>
                <a:latin typeface="Poppins"/>
                <a:ea typeface="Poppins"/>
                <a:cs typeface="Poppins"/>
                <a:sym typeface="Poppins"/>
              </a:rPr>
              <a:t>Intent</a:t>
            </a:r>
            <a:endParaRPr b="0" i="0" sz="1600" u="none" cap="none" strike="noStrike">
              <a:solidFill>
                <a:schemeClr val="dk1"/>
              </a:solidFill>
              <a:latin typeface="Calibri"/>
              <a:ea typeface="Calibri"/>
              <a:cs typeface="Calibri"/>
              <a:sym typeface="Calibri"/>
            </a:endParaRPr>
          </a:p>
        </p:txBody>
      </p:sp>
      <p:sp>
        <p:nvSpPr>
          <p:cNvPr id="259" name="Google Shape;259;p10"/>
          <p:cNvSpPr/>
          <p:nvPr/>
        </p:nvSpPr>
        <p:spPr>
          <a:xfrm>
            <a:off x="7040880" y="2139696"/>
            <a:ext cx="4297680" cy="56692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200"/>
              <a:buFont typeface="Poppins"/>
              <a:buNone/>
            </a:pPr>
            <a:r>
              <a:rPr b="0" i="0" lang="en-US" sz="1200" u="none" cap="none" strike="noStrike">
                <a:solidFill>
                  <a:srgbClr val="3D4B62"/>
                </a:solidFill>
                <a:latin typeface="Poppins"/>
                <a:ea typeface="Poppins"/>
                <a:cs typeface="Poppins"/>
                <a:sym typeface="Poppins"/>
              </a:rPr>
              <a:t>Infers the user's real priorities from their input</a:t>
            </a:r>
            <a:endParaRPr b="0" i="0" sz="1200" u="none" cap="none" strike="noStrike">
              <a:solidFill>
                <a:schemeClr val="dk1"/>
              </a:solidFill>
              <a:latin typeface="Calibri"/>
              <a:ea typeface="Calibri"/>
              <a:cs typeface="Calibri"/>
              <a:sym typeface="Calibri"/>
            </a:endParaRPr>
          </a:p>
        </p:txBody>
      </p:sp>
      <p:sp>
        <p:nvSpPr>
          <p:cNvPr id="260" name="Google Shape;260;p10"/>
          <p:cNvSpPr/>
          <p:nvPr/>
        </p:nvSpPr>
        <p:spPr>
          <a:xfrm>
            <a:off x="640080" y="3017520"/>
            <a:ext cx="5285232" cy="1207008"/>
          </a:xfrm>
          <a:prstGeom prst="roundRect">
            <a:avLst>
              <a:gd fmla="val 9848"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p:nvPr/>
        </p:nvSpPr>
        <p:spPr>
          <a:xfrm>
            <a:off x="950976" y="3465576"/>
            <a:ext cx="310896" cy="310896"/>
          </a:xfrm>
          <a:prstGeom prst="ellipse">
            <a:avLst/>
          </a:prstGeom>
          <a:solidFill>
            <a:srgbClr val="C279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0"/>
          <p:cNvSpPr/>
          <p:nvPr/>
        </p:nvSpPr>
        <p:spPr>
          <a:xfrm>
            <a:off x="1417320" y="320040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600"/>
              <a:buFont typeface="Poppins"/>
              <a:buNone/>
            </a:pPr>
            <a:r>
              <a:rPr b="1" i="0" lang="en-US" sz="1600" u="none" cap="none" strike="noStrike">
                <a:solidFill>
                  <a:srgbClr val="14233D"/>
                </a:solidFill>
                <a:latin typeface="Poppins"/>
                <a:ea typeface="Poppins"/>
                <a:cs typeface="Poppins"/>
                <a:sym typeface="Poppins"/>
              </a:rPr>
              <a:t>Valuation</a:t>
            </a:r>
            <a:endParaRPr b="0" i="0" sz="1600" u="none" cap="none" strike="noStrike">
              <a:solidFill>
                <a:schemeClr val="dk1"/>
              </a:solidFill>
              <a:latin typeface="Calibri"/>
              <a:ea typeface="Calibri"/>
              <a:cs typeface="Calibri"/>
              <a:sym typeface="Calibri"/>
            </a:endParaRPr>
          </a:p>
        </p:txBody>
      </p:sp>
      <p:sp>
        <p:nvSpPr>
          <p:cNvPr id="263" name="Google Shape;263;p10"/>
          <p:cNvSpPr/>
          <p:nvPr/>
        </p:nvSpPr>
        <p:spPr>
          <a:xfrm>
            <a:off x="1417320" y="3584448"/>
            <a:ext cx="4297680" cy="56692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200"/>
              <a:buFont typeface="Poppins"/>
              <a:buNone/>
            </a:pPr>
            <a:r>
              <a:rPr b="0" i="0" lang="en-US" sz="1200" u="none" cap="none" strike="noStrike">
                <a:solidFill>
                  <a:srgbClr val="3D4B62"/>
                </a:solidFill>
                <a:latin typeface="Poppins"/>
                <a:ea typeface="Poppins"/>
                <a:cs typeface="Poppins"/>
                <a:sym typeface="Poppins"/>
              </a:rPr>
              <a:t>Traverses value-driver chains to estimate price + the supporting path</a:t>
            </a:r>
            <a:endParaRPr b="0" i="0" sz="1200" u="none" cap="none" strike="noStrike">
              <a:solidFill>
                <a:schemeClr val="dk1"/>
              </a:solidFill>
              <a:latin typeface="Calibri"/>
              <a:ea typeface="Calibri"/>
              <a:cs typeface="Calibri"/>
              <a:sym typeface="Calibri"/>
            </a:endParaRPr>
          </a:p>
        </p:txBody>
      </p:sp>
      <p:sp>
        <p:nvSpPr>
          <p:cNvPr id="264" name="Google Shape;264;p10"/>
          <p:cNvSpPr/>
          <p:nvPr/>
        </p:nvSpPr>
        <p:spPr>
          <a:xfrm>
            <a:off x="6263640" y="3017520"/>
            <a:ext cx="5285232" cy="1207008"/>
          </a:xfrm>
          <a:prstGeom prst="roundRect">
            <a:avLst>
              <a:gd fmla="val 9848"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p:nvPr/>
        </p:nvSpPr>
        <p:spPr>
          <a:xfrm>
            <a:off x="6574536" y="3465576"/>
            <a:ext cx="310896" cy="310896"/>
          </a:xfrm>
          <a:prstGeom prst="ellipse">
            <a:avLst/>
          </a:prstGeom>
          <a:solidFill>
            <a:srgbClr val="D845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7040880" y="3200400"/>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600"/>
              <a:buFont typeface="Poppins"/>
              <a:buNone/>
            </a:pPr>
            <a:r>
              <a:rPr b="1" i="0" lang="en-US" sz="1600" u="none" cap="none" strike="noStrike">
                <a:solidFill>
                  <a:srgbClr val="14233D"/>
                </a:solidFill>
                <a:latin typeface="Poppins"/>
                <a:ea typeface="Poppins"/>
                <a:cs typeface="Poppins"/>
                <a:sym typeface="Poppins"/>
              </a:rPr>
              <a:t>Risk</a:t>
            </a:r>
            <a:endParaRPr b="0" i="0" sz="1600" u="none" cap="none" strike="noStrike">
              <a:solidFill>
                <a:schemeClr val="dk1"/>
              </a:solidFill>
              <a:latin typeface="Calibri"/>
              <a:ea typeface="Calibri"/>
              <a:cs typeface="Calibri"/>
              <a:sym typeface="Calibri"/>
            </a:endParaRPr>
          </a:p>
        </p:txBody>
      </p:sp>
      <p:sp>
        <p:nvSpPr>
          <p:cNvPr id="267" name="Google Shape;267;p10"/>
          <p:cNvSpPr/>
          <p:nvPr/>
        </p:nvSpPr>
        <p:spPr>
          <a:xfrm>
            <a:off x="7040880" y="3584448"/>
            <a:ext cx="4297680" cy="56692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200"/>
              <a:buFont typeface="Poppins"/>
              <a:buNone/>
            </a:pPr>
            <a:r>
              <a:rPr b="0" i="0" lang="en-US" sz="1200" u="none" cap="none" strike="noStrike">
                <a:solidFill>
                  <a:srgbClr val="3D4B62"/>
                </a:solidFill>
                <a:latin typeface="Poppins"/>
                <a:ea typeface="Poppins"/>
                <a:cs typeface="Poppins"/>
                <a:sym typeface="Poppins"/>
              </a:rPr>
              <a:t>Surfaces hidden downsides — flood, insurance, oversupply</a:t>
            </a:r>
            <a:endParaRPr b="0" i="0" sz="1200" u="none" cap="none" strike="noStrike">
              <a:solidFill>
                <a:schemeClr val="dk1"/>
              </a:solidFill>
              <a:latin typeface="Calibri"/>
              <a:ea typeface="Calibri"/>
              <a:cs typeface="Calibri"/>
              <a:sym typeface="Calibri"/>
            </a:endParaRPr>
          </a:p>
        </p:txBody>
      </p:sp>
      <p:sp>
        <p:nvSpPr>
          <p:cNvPr id="268" name="Google Shape;268;p10"/>
          <p:cNvSpPr/>
          <p:nvPr/>
        </p:nvSpPr>
        <p:spPr>
          <a:xfrm>
            <a:off x="640080" y="4462272"/>
            <a:ext cx="5285232" cy="1207008"/>
          </a:xfrm>
          <a:prstGeom prst="roundRect">
            <a:avLst>
              <a:gd fmla="val 9848"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p:nvPr/>
        </p:nvSpPr>
        <p:spPr>
          <a:xfrm>
            <a:off x="950976" y="4910328"/>
            <a:ext cx="310896" cy="310896"/>
          </a:xfrm>
          <a:prstGeom prst="ellipse">
            <a:avLst/>
          </a:prstGeom>
          <a:solidFill>
            <a:srgbClr val="6D4F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0"/>
          <p:cNvSpPr/>
          <p:nvPr/>
        </p:nvSpPr>
        <p:spPr>
          <a:xfrm>
            <a:off x="1417320" y="4645152"/>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600"/>
              <a:buFont typeface="Poppins"/>
              <a:buNone/>
            </a:pPr>
            <a:r>
              <a:rPr b="1" i="0" lang="en-US" sz="1600" u="none" cap="none" strike="noStrike">
                <a:solidFill>
                  <a:srgbClr val="14233D"/>
                </a:solidFill>
                <a:latin typeface="Poppins"/>
                <a:ea typeface="Poppins"/>
                <a:cs typeface="Poppins"/>
                <a:sym typeface="Poppins"/>
              </a:rPr>
              <a:t>Explainer</a:t>
            </a:r>
            <a:endParaRPr b="0" i="0" sz="1600" u="none" cap="none" strike="noStrike">
              <a:solidFill>
                <a:schemeClr val="dk1"/>
              </a:solidFill>
              <a:latin typeface="Calibri"/>
              <a:ea typeface="Calibri"/>
              <a:cs typeface="Calibri"/>
              <a:sym typeface="Calibri"/>
            </a:endParaRPr>
          </a:p>
        </p:txBody>
      </p:sp>
      <p:sp>
        <p:nvSpPr>
          <p:cNvPr id="271" name="Google Shape;271;p10"/>
          <p:cNvSpPr/>
          <p:nvPr/>
        </p:nvSpPr>
        <p:spPr>
          <a:xfrm>
            <a:off x="1417320" y="5029200"/>
            <a:ext cx="4297680" cy="56692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200"/>
              <a:buFont typeface="Poppins"/>
              <a:buNone/>
            </a:pPr>
            <a:r>
              <a:rPr b="0" i="0" lang="en-US" sz="1200" u="none" cap="none" strike="noStrike">
                <a:solidFill>
                  <a:srgbClr val="3D4B62"/>
                </a:solidFill>
                <a:latin typeface="Poppins"/>
                <a:ea typeface="Poppins"/>
                <a:cs typeface="Poppins"/>
                <a:sym typeface="Poppins"/>
              </a:rPr>
              <a:t>Turns the reasoning path into plain English with citations</a:t>
            </a:r>
            <a:endParaRPr b="0" i="0" sz="1200" u="none" cap="none" strike="noStrike">
              <a:solidFill>
                <a:schemeClr val="dk1"/>
              </a:solidFill>
              <a:latin typeface="Calibri"/>
              <a:ea typeface="Calibri"/>
              <a:cs typeface="Calibri"/>
              <a:sym typeface="Calibri"/>
            </a:endParaRPr>
          </a:p>
        </p:txBody>
      </p:sp>
      <p:sp>
        <p:nvSpPr>
          <p:cNvPr id="272" name="Google Shape;272;p10"/>
          <p:cNvSpPr/>
          <p:nvPr/>
        </p:nvSpPr>
        <p:spPr>
          <a:xfrm>
            <a:off x="6263640" y="4462272"/>
            <a:ext cx="5285232" cy="1207008"/>
          </a:xfrm>
          <a:prstGeom prst="roundRect">
            <a:avLst>
              <a:gd fmla="val 9848"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6574536" y="4910328"/>
            <a:ext cx="310896" cy="310896"/>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
          <p:cNvSpPr/>
          <p:nvPr/>
        </p:nvSpPr>
        <p:spPr>
          <a:xfrm>
            <a:off x="7040880" y="4645152"/>
            <a:ext cx="4206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600"/>
              <a:buFont typeface="Poppins"/>
              <a:buNone/>
            </a:pPr>
            <a:r>
              <a:rPr b="1" i="0" lang="en-US" sz="1600" u="none" cap="none" strike="noStrike">
                <a:solidFill>
                  <a:srgbClr val="14233D"/>
                </a:solidFill>
                <a:latin typeface="Poppins"/>
                <a:ea typeface="Poppins"/>
                <a:cs typeface="Poppins"/>
                <a:sym typeface="Poppins"/>
              </a:rPr>
              <a:t>Verifier</a:t>
            </a:r>
            <a:endParaRPr b="0" i="0" sz="1600" u="none" cap="none" strike="noStrike">
              <a:solidFill>
                <a:schemeClr val="dk1"/>
              </a:solidFill>
              <a:latin typeface="Calibri"/>
              <a:ea typeface="Calibri"/>
              <a:cs typeface="Calibri"/>
              <a:sym typeface="Calibri"/>
            </a:endParaRPr>
          </a:p>
        </p:txBody>
      </p:sp>
      <p:sp>
        <p:nvSpPr>
          <p:cNvPr id="275" name="Google Shape;275;p10"/>
          <p:cNvSpPr/>
          <p:nvPr/>
        </p:nvSpPr>
        <p:spPr>
          <a:xfrm>
            <a:off x="7040880" y="5029200"/>
            <a:ext cx="4297680" cy="56692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200"/>
              <a:buFont typeface="Poppins"/>
              <a:buNone/>
            </a:pPr>
            <a:r>
              <a:rPr b="0" i="0" lang="en-US" sz="1200" u="none" cap="none" strike="noStrike">
                <a:solidFill>
                  <a:srgbClr val="3D4B62"/>
                </a:solidFill>
                <a:latin typeface="Poppins"/>
                <a:ea typeface="Poppins"/>
                <a:cs typeface="Poppins"/>
                <a:sym typeface="Poppins"/>
              </a:rPr>
              <a:t>Rejects any edge or claim that violates the schema or provenance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11"/>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How It Thinks: One Query, End to End</a:t>
            </a:r>
            <a:endParaRPr b="0" i="0" sz="2800" u="none" cap="none" strike="noStrike">
              <a:solidFill>
                <a:schemeClr val="dk1"/>
              </a:solidFill>
              <a:latin typeface="Calibri"/>
              <a:ea typeface="Calibri"/>
              <a:cs typeface="Calibri"/>
              <a:sym typeface="Calibri"/>
            </a:endParaRPr>
          </a:p>
        </p:txBody>
      </p:sp>
      <p:sp>
        <p:nvSpPr>
          <p:cNvPr id="282" name="Google Shape;282;p11"/>
          <p:cNvSpPr/>
          <p:nvPr/>
        </p:nvSpPr>
        <p:spPr>
          <a:xfrm>
            <a:off x="640080" y="1325880"/>
            <a:ext cx="10908792" cy="658368"/>
          </a:xfrm>
          <a:prstGeom prst="roundRect">
            <a:avLst>
              <a:gd fmla="val 18056" name="adj"/>
            </a:avLst>
          </a:prstGeom>
          <a:solidFill>
            <a:srgbClr val="EDF3FB"/>
          </a:solidFill>
          <a:ln cap="flat" cmpd="sng" w="12700">
            <a:solidFill>
              <a:srgbClr val="E6EDF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1"/>
          <p:cNvSpPr/>
          <p:nvPr/>
        </p:nvSpPr>
        <p:spPr>
          <a:xfrm>
            <a:off x="640080" y="1325880"/>
            <a:ext cx="10908792"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4AA6"/>
              </a:buClr>
              <a:buSzPts val="1550"/>
              <a:buFont typeface="Poppins"/>
              <a:buNone/>
            </a:pPr>
            <a:r>
              <a:rPr b="1" i="1" lang="en-US" sz="1550" u="none" cap="none" strike="noStrike">
                <a:solidFill>
                  <a:srgbClr val="0B4AA6"/>
                </a:solidFill>
                <a:latin typeface="Poppins"/>
                <a:ea typeface="Poppins"/>
                <a:cs typeface="Poppins"/>
                <a:sym typeface="Poppins"/>
              </a:rPr>
              <a:t>“Strong-value home near my San Ramon office, good schools, under $1.1M”</a:t>
            </a:r>
            <a:endParaRPr b="0" i="0" sz="1550" u="none" cap="none" strike="noStrike">
              <a:solidFill>
                <a:schemeClr val="dk1"/>
              </a:solidFill>
              <a:latin typeface="Calibri"/>
              <a:ea typeface="Calibri"/>
              <a:cs typeface="Calibri"/>
              <a:sym typeface="Calibri"/>
            </a:endParaRPr>
          </a:p>
        </p:txBody>
      </p:sp>
      <p:sp>
        <p:nvSpPr>
          <p:cNvPr id="284" name="Google Shape;284;p11"/>
          <p:cNvSpPr/>
          <p:nvPr/>
        </p:nvSpPr>
        <p:spPr>
          <a:xfrm>
            <a:off x="640080" y="2331720"/>
            <a:ext cx="1911096" cy="1554480"/>
          </a:xfrm>
          <a:prstGeom prst="roundRect">
            <a:avLst>
              <a:gd fmla="val 764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1403604" y="2532888"/>
            <a:ext cx="384048" cy="384048"/>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1"/>
          <p:cNvSpPr/>
          <p:nvPr/>
        </p:nvSpPr>
        <p:spPr>
          <a:xfrm>
            <a:off x="1403604" y="25328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a:buNone/>
            </a:pPr>
            <a:r>
              <a:rPr b="1" i="0" lang="en-US" sz="1500" u="none" cap="none" strike="noStrike">
                <a:solidFill>
                  <a:srgbClr val="FFFFFF"/>
                </a:solidFill>
                <a:latin typeface="Poppins"/>
                <a:ea typeface="Poppins"/>
                <a:cs typeface="Poppins"/>
                <a:sym typeface="Poppins"/>
              </a:rPr>
              <a:t>1</a:t>
            </a:r>
            <a:endParaRPr b="0" i="0" sz="1500" u="none" cap="none" strike="noStrike">
              <a:solidFill>
                <a:schemeClr val="dk1"/>
              </a:solidFill>
              <a:latin typeface="Calibri"/>
              <a:ea typeface="Calibri"/>
              <a:cs typeface="Calibri"/>
              <a:sym typeface="Calibri"/>
            </a:endParaRPr>
          </a:p>
        </p:txBody>
      </p:sp>
      <p:sp>
        <p:nvSpPr>
          <p:cNvPr id="287" name="Google Shape;287;p11"/>
          <p:cNvSpPr/>
          <p:nvPr/>
        </p:nvSpPr>
        <p:spPr>
          <a:xfrm>
            <a:off x="731520" y="3026664"/>
            <a:ext cx="172821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35B0"/>
              </a:buClr>
              <a:buSzPts val="1400"/>
              <a:buFont typeface="Poppins"/>
              <a:buNone/>
            </a:pPr>
            <a:r>
              <a:rPr b="1" i="0" lang="en-US" sz="1400" u="none" cap="none" strike="noStrike">
                <a:solidFill>
                  <a:srgbClr val="4A35B0"/>
                </a:solidFill>
                <a:latin typeface="Poppins"/>
                <a:ea typeface="Poppins"/>
                <a:cs typeface="Poppins"/>
                <a:sym typeface="Poppins"/>
              </a:rPr>
              <a:t>Intent</a:t>
            </a:r>
            <a:endParaRPr b="0" i="0" sz="1400" u="none" cap="none" strike="noStrike">
              <a:solidFill>
                <a:schemeClr val="dk1"/>
              </a:solidFill>
              <a:latin typeface="Calibri"/>
              <a:ea typeface="Calibri"/>
              <a:cs typeface="Calibri"/>
              <a:sym typeface="Calibri"/>
            </a:endParaRPr>
          </a:p>
        </p:txBody>
      </p:sp>
      <p:sp>
        <p:nvSpPr>
          <p:cNvPr id="288" name="Google Shape;288;p11"/>
          <p:cNvSpPr/>
          <p:nvPr/>
        </p:nvSpPr>
        <p:spPr>
          <a:xfrm>
            <a:off x="749808" y="3355848"/>
            <a:ext cx="1691640" cy="5029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Parse goals: budget, commute, schools</a:t>
            </a:r>
            <a:endParaRPr b="0" i="0" sz="1050" u="none" cap="none" strike="noStrike">
              <a:solidFill>
                <a:schemeClr val="dk1"/>
              </a:solidFill>
              <a:latin typeface="Calibri"/>
              <a:ea typeface="Calibri"/>
              <a:cs typeface="Calibri"/>
              <a:sym typeface="Calibri"/>
            </a:endParaRPr>
          </a:p>
        </p:txBody>
      </p:sp>
      <p:cxnSp>
        <p:nvCxnSpPr>
          <p:cNvPr id="289" name="Google Shape;289;p11"/>
          <p:cNvCxnSpPr/>
          <p:nvPr/>
        </p:nvCxnSpPr>
        <p:spPr>
          <a:xfrm>
            <a:off x="2596896" y="3108960"/>
            <a:ext cx="246888" cy="0"/>
          </a:xfrm>
          <a:prstGeom prst="straightConnector1">
            <a:avLst/>
          </a:prstGeom>
          <a:noFill/>
          <a:ln cap="flat" cmpd="sng" w="22225">
            <a:solidFill>
              <a:srgbClr val="6E7C92"/>
            </a:solidFill>
            <a:prstDash val="solid"/>
            <a:round/>
            <a:headEnd len="sm" w="sm" type="none"/>
            <a:tailEnd len="med" w="med" type="triangle"/>
          </a:ln>
        </p:spPr>
      </p:cxnSp>
      <p:sp>
        <p:nvSpPr>
          <p:cNvPr id="290" name="Google Shape;290;p11"/>
          <p:cNvSpPr/>
          <p:nvPr/>
        </p:nvSpPr>
        <p:spPr>
          <a:xfrm>
            <a:off x="2889504" y="2331720"/>
            <a:ext cx="1911096" cy="1554480"/>
          </a:xfrm>
          <a:prstGeom prst="roundRect">
            <a:avLst>
              <a:gd fmla="val 764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1"/>
          <p:cNvSpPr/>
          <p:nvPr/>
        </p:nvSpPr>
        <p:spPr>
          <a:xfrm>
            <a:off x="3653028" y="2532888"/>
            <a:ext cx="384048" cy="384048"/>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3653028" y="25328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a:buNone/>
            </a:pPr>
            <a:r>
              <a:rPr b="1" i="0" lang="en-US" sz="1500" u="none" cap="none" strike="noStrike">
                <a:solidFill>
                  <a:srgbClr val="FFFFFF"/>
                </a:solidFill>
                <a:latin typeface="Poppins"/>
                <a:ea typeface="Poppins"/>
                <a:cs typeface="Poppins"/>
                <a:sym typeface="Poppins"/>
              </a:rPr>
              <a:t>2</a:t>
            </a:r>
            <a:endParaRPr b="0" i="0" sz="1500" u="none" cap="none" strike="noStrike">
              <a:solidFill>
                <a:schemeClr val="dk1"/>
              </a:solidFill>
              <a:latin typeface="Calibri"/>
              <a:ea typeface="Calibri"/>
              <a:cs typeface="Calibri"/>
              <a:sym typeface="Calibri"/>
            </a:endParaRPr>
          </a:p>
        </p:txBody>
      </p:sp>
      <p:sp>
        <p:nvSpPr>
          <p:cNvPr id="293" name="Google Shape;293;p11"/>
          <p:cNvSpPr/>
          <p:nvPr/>
        </p:nvSpPr>
        <p:spPr>
          <a:xfrm>
            <a:off x="2980944" y="3026664"/>
            <a:ext cx="172821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35B0"/>
              </a:buClr>
              <a:buSzPts val="1400"/>
              <a:buFont typeface="Poppins"/>
              <a:buNone/>
            </a:pPr>
            <a:r>
              <a:rPr b="1" i="0" lang="en-US" sz="1400" u="none" cap="none" strike="noStrike">
                <a:solidFill>
                  <a:srgbClr val="4A35B0"/>
                </a:solidFill>
                <a:latin typeface="Poppins"/>
                <a:ea typeface="Poppins"/>
                <a:cs typeface="Poppins"/>
                <a:sym typeface="Poppins"/>
              </a:rPr>
              <a:t>Valuation</a:t>
            </a:r>
            <a:endParaRPr b="0" i="0" sz="1400" u="none" cap="none" strike="noStrike">
              <a:solidFill>
                <a:schemeClr val="dk1"/>
              </a:solidFill>
              <a:latin typeface="Calibri"/>
              <a:ea typeface="Calibri"/>
              <a:cs typeface="Calibri"/>
              <a:sym typeface="Calibri"/>
            </a:endParaRPr>
          </a:p>
        </p:txBody>
      </p:sp>
      <p:sp>
        <p:nvSpPr>
          <p:cNvPr id="294" name="Google Shape;294;p11"/>
          <p:cNvSpPr/>
          <p:nvPr/>
        </p:nvSpPr>
        <p:spPr>
          <a:xfrm>
            <a:off x="2999232" y="3355848"/>
            <a:ext cx="1691640" cy="5029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Traverse comps, transit, permit signals</a:t>
            </a:r>
            <a:endParaRPr b="0" i="0" sz="1050" u="none" cap="none" strike="noStrike">
              <a:solidFill>
                <a:schemeClr val="dk1"/>
              </a:solidFill>
              <a:latin typeface="Calibri"/>
              <a:ea typeface="Calibri"/>
              <a:cs typeface="Calibri"/>
              <a:sym typeface="Calibri"/>
            </a:endParaRPr>
          </a:p>
        </p:txBody>
      </p:sp>
      <p:cxnSp>
        <p:nvCxnSpPr>
          <p:cNvPr id="295" name="Google Shape;295;p11"/>
          <p:cNvCxnSpPr/>
          <p:nvPr/>
        </p:nvCxnSpPr>
        <p:spPr>
          <a:xfrm>
            <a:off x="4846320" y="3108960"/>
            <a:ext cx="246888" cy="0"/>
          </a:xfrm>
          <a:prstGeom prst="straightConnector1">
            <a:avLst/>
          </a:prstGeom>
          <a:noFill/>
          <a:ln cap="flat" cmpd="sng" w="22225">
            <a:solidFill>
              <a:srgbClr val="6E7C92"/>
            </a:solidFill>
            <a:prstDash val="solid"/>
            <a:round/>
            <a:headEnd len="sm" w="sm" type="none"/>
            <a:tailEnd len="med" w="med" type="triangle"/>
          </a:ln>
        </p:spPr>
      </p:cxnSp>
      <p:sp>
        <p:nvSpPr>
          <p:cNvPr id="296" name="Google Shape;296;p11"/>
          <p:cNvSpPr/>
          <p:nvPr/>
        </p:nvSpPr>
        <p:spPr>
          <a:xfrm>
            <a:off x="5138928" y="2331720"/>
            <a:ext cx="1911096" cy="1554480"/>
          </a:xfrm>
          <a:prstGeom prst="roundRect">
            <a:avLst>
              <a:gd fmla="val 764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1"/>
          <p:cNvSpPr/>
          <p:nvPr/>
        </p:nvSpPr>
        <p:spPr>
          <a:xfrm>
            <a:off x="5902452" y="2532888"/>
            <a:ext cx="384048" cy="384048"/>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5902452" y="25328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a:buNone/>
            </a:pPr>
            <a:r>
              <a:rPr b="1" i="0" lang="en-US" sz="1500" u="none" cap="none" strike="noStrike">
                <a:solidFill>
                  <a:srgbClr val="FFFFFF"/>
                </a:solidFill>
                <a:latin typeface="Poppins"/>
                <a:ea typeface="Poppins"/>
                <a:cs typeface="Poppins"/>
                <a:sym typeface="Poppins"/>
              </a:rPr>
              <a:t>3</a:t>
            </a:r>
            <a:endParaRPr b="0" i="0" sz="1500" u="none" cap="none" strike="noStrike">
              <a:solidFill>
                <a:schemeClr val="dk1"/>
              </a:solidFill>
              <a:latin typeface="Calibri"/>
              <a:ea typeface="Calibri"/>
              <a:cs typeface="Calibri"/>
              <a:sym typeface="Calibri"/>
            </a:endParaRPr>
          </a:p>
        </p:txBody>
      </p:sp>
      <p:sp>
        <p:nvSpPr>
          <p:cNvPr id="299" name="Google Shape;299;p11"/>
          <p:cNvSpPr/>
          <p:nvPr/>
        </p:nvSpPr>
        <p:spPr>
          <a:xfrm>
            <a:off x="5230368" y="3026664"/>
            <a:ext cx="172821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35B0"/>
              </a:buClr>
              <a:buSzPts val="1400"/>
              <a:buFont typeface="Poppins"/>
              <a:buNone/>
            </a:pPr>
            <a:r>
              <a:rPr b="1" i="0" lang="en-US" sz="1400" u="none" cap="none" strike="noStrike">
                <a:solidFill>
                  <a:srgbClr val="4A35B0"/>
                </a:solidFill>
                <a:latin typeface="Poppins"/>
                <a:ea typeface="Poppins"/>
                <a:cs typeface="Poppins"/>
                <a:sym typeface="Poppins"/>
              </a:rPr>
              <a:t>Risk</a:t>
            </a:r>
            <a:endParaRPr b="0" i="0" sz="1400" u="none" cap="none" strike="noStrike">
              <a:solidFill>
                <a:schemeClr val="dk1"/>
              </a:solidFill>
              <a:latin typeface="Calibri"/>
              <a:ea typeface="Calibri"/>
              <a:cs typeface="Calibri"/>
              <a:sym typeface="Calibri"/>
            </a:endParaRPr>
          </a:p>
        </p:txBody>
      </p:sp>
      <p:sp>
        <p:nvSpPr>
          <p:cNvPr id="300" name="Google Shape;300;p11"/>
          <p:cNvSpPr/>
          <p:nvPr/>
        </p:nvSpPr>
        <p:spPr>
          <a:xfrm>
            <a:off x="5248656" y="3355848"/>
            <a:ext cx="1691640" cy="5029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Scan flood, insurance, oversupply</a:t>
            </a:r>
            <a:endParaRPr b="0" i="0" sz="1050" u="none" cap="none" strike="noStrike">
              <a:solidFill>
                <a:schemeClr val="dk1"/>
              </a:solidFill>
              <a:latin typeface="Calibri"/>
              <a:ea typeface="Calibri"/>
              <a:cs typeface="Calibri"/>
              <a:sym typeface="Calibri"/>
            </a:endParaRPr>
          </a:p>
        </p:txBody>
      </p:sp>
      <p:cxnSp>
        <p:nvCxnSpPr>
          <p:cNvPr id="301" name="Google Shape;301;p11"/>
          <p:cNvCxnSpPr/>
          <p:nvPr/>
        </p:nvCxnSpPr>
        <p:spPr>
          <a:xfrm>
            <a:off x="7095744" y="3108960"/>
            <a:ext cx="246888" cy="0"/>
          </a:xfrm>
          <a:prstGeom prst="straightConnector1">
            <a:avLst/>
          </a:prstGeom>
          <a:noFill/>
          <a:ln cap="flat" cmpd="sng" w="22225">
            <a:solidFill>
              <a:srgbClr val="6E7C92"/>
            </a:solidFill>
            <a:prstDash val="solid"/>
            <a:round/>
            <a:headEnd len="sm" w="sm" type="none"/>
            <a:tailEnd len="med" w="med" type="triangle"/>
          </a:ln>
        </p:spPr>
      </p:cxnSp>
      <p:sp>
        <p:nvSpPr>
          <p:cNvPr id="302" name="Google Shape;302;p11"/>
          <p:cNvSpPr/>
          <p:nvPr/>
        </p:nvSpPr>
        <p:spPr>
          <a:xfrm>
            <a:off x="7388352" y="2331720"/>
            <a:ext cx="1911096" cy="1554480"/>
          </a:xfrm>
          <a:prstGeom prst="roundRect">
            <a:avLst>
              <a:gd fmla="val 764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1"/>
          <p:cNvSpPr/>
          <p:nvPr/>
        </p:nvSpPr>
        <p:spPr>
          <a:xfrm>
            <a:off x="8151876" y="2532888"/>
            <a:ext cx="384048" cy="384048"/>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8151876" y="25328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a:buNone/>
            </a:pPr>
            <a:r>
              <a:rPr b="1" i="0" lang="en-US" sz="1500" u="none" cap="none" strike="noStrike">
                <a:solidFill>
                  <a:srgbClr val="FFFFFF"/>
                </a:solidFill>
                <a:latin typeface="Poppins"/>
                <a:ea typeface="Poppins"/>
                <a:cs typeface="Poppins"/>
                <a:sym typeface="Poppins"/>
              </a:rPr>
              <a:t>4</a:t>
            </a:r>
            <a:endParaRPr b="0" i="0" sz="1500" u="none" cap="none" strike="noStrike">
              <a:solidFill>
                <a:schemeClr val="dk1"/>
              </a:solidFill>
              <a:latin typeface="Calibri"/>
              <a:ea typeface="Calibri"/>
              <a:cs typeface="Calibri"/>
              <a:sym typeface="Calibri"/>
            </a:endParaRPr>
          </a:p>
        </p:txBody>
      </p:sp>
      <p:sp>
        <p:nvSpPr>
          <p:cNvPr id="305" name="Google Shape;305;p11"/>
          <p:cNvSpPr/>
          <p:nvPr/>
        </p:nvSpPr>
        <p:spPr>
          <a:xfrm>
            <a:off x="7479792" y="3026664"/>
            <a:ext cx="172821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35B0"/>
              </a:buClr>
              <a:buSzPts val="1400"/>
              <a:buFont typeface="Poppins"/>
              <a:buNone/>
            </a:pPr>
            <a:r>
              <a:rPr b="1" i="0" lang="en-US" sz="1400" u="none" cap="none" strike="noStrike">
                <a:solidFill>
                  <a:srgbClr val="4A35B0"/>
                </a:solidFill>
                <a:latin typeface="Poppins"/>
                <a:ea typeface="Poppins"/>
                <a:cs typeface="Poppins"/>
                <a:sym typeface="Poppins"/>
              </a:rPr>
              <a:t>Verifier</a:t>
            </a:r>
            <a:endParaRPr b="0" i="0" sz="1400" u="none" cap="none" strike="noStrike">
              <a:solidFill>
                <a:schemeClr val="dk1"/>
              </a:solidFill>
              <a:latin typeface="Calibri"/>
              <a:ea typeface="Calibri"/>
              <a:cs typeface="Calibri"/>
              <a:sym typeface="Calibri"/>
            </a:endParaRPr>
          </a:p>
        </p:txBody>
      </p:sp>
      <p:sp>
        <p:nvSpPr>
          <p:cNvPr id="306" name="Google Shape;306;p11"/>
          <p:cNvSpPr/>
          <p:nvPr/>
        </p:nvSpPr>
        <p:spPr>
          <a:xfrm>
            <a:off x="7498080" y="3355848"/>
            <a:ext cx="1691640" cy="5029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Check every edge has a source</a:t>
            </a:r>
            <a:endParaRPr b="0" i="0" sz="1050" u="none" cap="none" strike="noStrike">
              <a:solidFill>
                <a:schemeClr val="dk1"/>
              </a:solidFill>
              <a:latin typeface="Calibri"/>
              <a:ea typeface="Calibri"/>
              <a:cs typeface="Calibri"/>
              <a:sym typeface="Calibri"/>
            </a:endParaRPr>
          </a:p>
        </p:txBody>
      </p:sp>
      <p:cxnSp>
        <p:nvCxnSpPr>
          <p:cNvPr id="307" name="Google Shape;307;p11"/>
          <p:cNvCxnSpPr/>
          <p:nvPr/>
        </p:nvCxnSpPr>
        <p:spPr>
          <a:xfrm>
            <a:off x="9345168" y="3108960"/>
            <a:ext cx="246888" cy="0"/>
          </a:xfrm>
          <a:prstGeom prst="straightConnector1">
            <a:avLst/>
          </a:prstGeom>
          <a:noFill/>
          <a:ln cap="flat" cmpd="sng" w="22225">
            <a:solidFill>
              <a:srgbClr val="6E7C92"/>
            </a:solidFill>
            <a:prstDash val="solid"/>
            <a:round/>
            <a:headEnd len="sm" w="sm" type="none"/>
            <a:tailEnd len="med" w="med" type="triangle"/>
          </a:ln>
        </p:spPr>
      </p:cxnSp>
      <p:sp>
        <p:nvSpPr>
          <p:cNvPr id="308" name="Google Shape;308;p11"/>
          <p:cNvSpPr/>
          <p:nvPr/>
        </p:nvSpPr>
        <p:spPr>
          <a:xfrm>
            <a:off x="9637776" y="2331720"/>
            <a:ext cx="1911096" cy="1554480"/>
          </a:xfrm>
          <a:prstGeom prst="roundRect">
            <a:avLst>
              <a:gd fmla="val 764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1"/>
          <p:cNvSpPr/>
          <p:nvPr/>
        </p:nvSpPr>
        <p:spPr>
          <a:xfrm>
            <a:off x="10401300" y="2532888"/>
            <a:ext cx="384048" cy="384048"/>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10401300" y="2532888"/>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Poppins"/>
              <a:buNone/>
            </a:pPr>
            <a:r>
              <a:rPr b="1" i="0" lang="en-US" sz="1500" u="none" cap="none" strike="noStrike">
                <a:solidFill>
                  <a:srgbClr val="FFFFFF"/>
                </a:solidFill>
                <a:latin typeface="Poppins"/>
                <a:ea typeface="Poppins"/>
                <a:cs typeface="Poppins"/>
                <a:sym typeface="Poppins"/>
              </a:rPr>
              <a:t>5</a:t>
            </a:r>
            <a:endParaRPr b="0" i="0" sz="1500" u="none" cap="none" strike="noStrike">
              <a:solidFill>
                <a:schemeClr val="dk1"/>
              </a:solidFill>
              <a:latin typeface="Calibri"/>
              <a:ea typeface="Calibri"/>
              <a:cs typeface="Calibri"/>
              <a:sym typeface="Calibri"/>
            </a:endParaRPr>
          </a:p>
        </p:txBody>
      </p:sp>
      <p:sp>
        <p:nvSpPr>
          <p:cNvPr id="311" name="Google Shape;311;p11"/>
          <p:cNvSpPr/>
          <p:nvPr/>
        </p:nvSpPr>
        <p:spPr>
          <a:xfrm>
            <a:off x="9729216" y="3026664"/>
            <a:ext cx="1728216"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35B0"/>
              </a:buClr>
              <a:buSzPts val="1400"/>
              <a:buFont typeface="Poppins"/>
              <a:buNone/>
            </a:pPr>
            <a:r>
              <a:rPr b="1" i="0" lang="en-US" sz="1400" u="none" cap="none" strike="noStrike">
                <a:solidFill>
                  <a:srgbClr val="4A35B0"/>
                </a:solidFill>
                <a:latin typeface="Poppins"/>
                <a:ea typeface="Poppins"/>
                <a:cs typeface="Poppins"/>
                <a:sym typeface="Poppins"/>
              </a:rPr>
              <a:t>Explainer</a:t>
            </a:r>
            <a:endParaRPr b="0" i="0" sz="1400" u="none" cap="none" strike="noStrike">
              <a:solidFill>
                <a:schemeClr val="dk1"/>
              </a:solidFill>
              <a:latin typeface="Calibri"/>
              <a:ea typeface="Calibri"/>
              <a:cs typeface="Calibri"/>
              <a:sym typeface="Calibri"/>
            </a:endParaRPr>
          </a:p>
        </p:txBody>
      </p:sp>
      <p:sp>
        <p:nvSpPr>
          <p:cNvPr id="312" name="Google Shape;312;p11"/>
          <p:cNvSpPr/>
          <p:nvPr/>
        </p:nvSpPr>
        <p:spPr>
          <a:xfrm>
            <a:off x="9747504" y="3355848"/>
            <a:ext cx="1691640" cy="50292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6E7C92"/>
              </a:buClr>
              <a:buSzPts val="1050"/>
              <a:buFont typeface="Poppins"/>
              <a:buNone/>
            </a:pPr>
            <a:r>
              <a:rPr b="0" i="0" lang="en-US" sz="1050" u="none" cap="none" strike="noStrike">
                <a:solidFill>
                  <a:srgbClr val="6E7C92"/>
                </a:solidFill>
                <a:latin typeface="Poppins"/>
                <a:ea typeface="Poppins"/>
                <a:cs typeface="Poppins"/>
                <a:sym typeface="Poppins"/>
              </a:rPr>
              <a:t>Write the why, with citations</a:t>
            </a:r>
            <a:endParaRPr b="0" i="0" sz="1050" u="none" cap="none" strike="noStrike">
              <a:solidFill>
                <a:schemeClr val="dk1"/>
              </a:solidFill>
              <a:latin typeface="Calibri"/>
              <a:ea typeface="Calibri"/>
              <a:cs typeface="Calibri"/>
              <a:sym typeface="Calibri"/>
            </a:endParaRPr>
          </a:p>
        </p:txBody>
      </p:sp>
      <p:cxnSp>
        <p:nvCxnSpPr>
          <p:cNvPr id="313" name="Google Shape;313;p11"/>
          <p:cNvCxnSpPr/>
          <p:nvPr/>
        </p:nvCxnSpPr>
        <p:spPr>
          <a:xfrm>
            <a:off x="6089904" y="3931920"/>
            <a:ext cx="0" cy="402336"/>
          </a:xfrm>
          <a:prstGeom prst="straightConnector1">
            <a:avLst/>
          </a:prstGeom>
          <a:noFill/>
          <a:ln cap="flat" cmpd="sng" w="22225">
            <a:solidFill>
              <a:srgbClr val="1565D8"/>
            </a:solidFill>
            <a:prstDash val="solid"/>
            <a:round/>
            <a:headEnd len="sm" w="sm" type="none"/>
            <a:tailEnd len="med" w="med" type="triangle"/>
          </a:ln>
        </p:spPr>
      </p:cxnSp>
      <p:sp>
        <p:nvSpPr>
          <p:cNvPr id="314" name="Google Shape;314;p11"/>
          <p:cNvSpPr/>
          <p:nvPr/>
        </p:nvSpPr>
        <p:spPr>
          <a:xfrm>
            <a:off x="640080" y="4370832"/>
            <a:ext cx="10908792" cy="841248"/>
          </a:xfrm>
          <a:prstGeom prst="roundRect">
            <a:avLst>
              <a:gd fmla="val 14130"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1005840" y="4370832"/>
            <a:ext cx="1014984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D8"/>
              </a:buClr>
              <a:buSzPts val="1500"/>
              <a:buFont typeface="Poppins"/>
              <a:buNone/>
            </a:pPr>
            <a:r>
              <a:rPr b="1" i="0" lang="en-US" sz="1500" u="none" cap="none" strike="noStrike">
                <a:solidFill>
                  <a:srgbClr val="1565D8"/>
                </a:solidFill>
                <a:latin typeface="Poppins"/>
                <a:ea typeface="Poppins"/>
                <a:cs typeface="Poppins"/>
                <a:sym typeface="Poppins"/>
              </a:rPr>
              <a:t>The system's answer:  </a:t>
            </a:r>
            <a:r>
              <a:rPr b="1" i="0" lang="en-US" sz="1500" u="none" cap="none" strike="noStrike">
                <a:solidFill>
                  <a:srgbClr val="14233D"/>
                </a:solidFill>
                <a:latin typeface="Poppins"/>
                <a:ea typeface="Poppins"/>
                <a:cs typeface="Poppins"/>
                <a:sym typeface="Poppins"/>
              </a:rPr>
              <a:t>123 Oak St is undervalued — delivered with a traceable, sourced explanation.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sp>
        <p:nvSpPr>
          <p:cNvPr id="321" name="Google Shape;321;p12"/>
          <p:cNvSpPr/>
          <p:nvPr/>
        </p:nvSpPr>
        <p:spPr>
          <a:xfrm>
            <a:off x="640080" y="384048"/>
            <a:ext cx="111558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lang="en-US" sz="2800">
                <a:solidFill>
                  <a:srgbClr val="1565D8"/>
                </a:solidFill>
                <a:latin typeface="Poppins"/>
                <a:ea typeface="Poppins"/>
                <a:cs typeface="Poppins"/>
                <a:sym typeface="Poppins"/>
              </a:rPr>
              <a:t>Value of a house can be estimated in two ways</a:t>
            </a:r>
            <a:endParaRPr b="0" i="0" sz="2800" u="none" cap="none" strike="noStrike">
              <a:solidFill>
                <a:schemeClr val="dk1"/>
              </a:solidFill>
              <a:latin typeface="Calibri"/>
              <a:ea typeface="Calibri"/>
              <a:cs typeface="Calibri"/>
              <a:sym typeface="Calibri"/>
            </a:endParaRPr>
          </a:p>
        </p:txBody>
      </p:sp>
      <p:sp>
        <p:nvSpPr>
          <p:cNvPr id="322" name="Google Shape;322;p12"/>
          <p:cNvSpPr/>
          <p:nvPr/>
        </p:nvSpPr>
        <p:spPr>
          <a:xfrm>
            <a:off x="640080" y="1463040"/>
            <a:ext cx="5285100" cy="3108900"/>
          </a:xfrm>
          <a:prstGeom prst="roundRect">
            <a:avLst>
              <a:gd fmla="val 3824"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2"/>
          <p:cNvSpPr/>
          <p:nvPr/>
        </p:nvSpPr>
        <p:spPr>
          <a:xfrm>
            <a:off x="914400" y="1664208"/>
            <a:ext cx="4755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500">
                <a:solidFill>
                  <a:srgbClr val="0A6E4C"/>
                </a:solidFill>
                <a:latin typeface="Poppins"/>
                <a:ea typeface="Poppins"/>
                <a:cs typeface="Poppins"/>
                <a:sym typeface="Poppins"/>
              </a:rPr>
              <a:t>1. </a:t>
            </a:r>
            <a:r>
              <a:rPr b="1" lang="en-US" sz="1500">
                <a:solidFill>
                  <a:srgbClr val="0A6E4C"/>
                </a:solidFill>
                <a:latin typeface="Poppins"/>
                <a:ea typeface="Poppins"/>
                <a:cs typeface="Poppins"/>
                <a:sym typeface="Poppins"/>
              </a:rPr>
              <a:t>From scratch: Intrinsic value based on macro</a:t>
            </a:r>
            <a:r>
              <a:rPr b="1" i="0" lang="en-US" sz="1500" u="none" cap="none" strike="noStrike">
                <a:solidFill>
                  <a:srgbClr val="0A6E4C"/>
                </a:solidFill>
                <a:latin typeface="Poppins"/>
                <a:ea typeface="Poppins"/>
                <a:cs typeface="Poppins"/>
                <a:sym typeface="Poppins"/>
              </a:rPr>
              <a:t>  </a:t>
            </a:r>
            <a:endParaRPr b="1" i="0" sz="1500" u="none" cap="none" strike="noStrike">
              <a:solidFill>
                <a:srgbClr val="0A6E4C"/>
              </a:solidFill>
              <a:latin typeface="Poppins"/>
              <a:ea typeface="Poppins"/>
              <a:cs typeface="Poppins"/>
              <a:sym typeface="Poppins"/>
            </a:endParaRPr>
          </a:p>
          <a:p>
            <a:pPr indent="0" lvl="0" marL="0" marR="0" rtl="0" algn="l">
              <a:spcBef>
                <a:spcPts val="0"/>
              </a:spcBef>
              <a:spcAft>
                <a:spcPts val="0"/>
              </a:spcAft>
              <a:buClr>
                <a:srgbClr val="0A6E4C"/>
              </a:buClr>
              <a:buSzPts val="1500"/>
              <a:buFont typeface="Poppins"/>
              <a:buNone/>
            </a:pPr>
            <a:r>
              <a:rPr b="1" i="0" lang="en-US" sz="1300" u="none" cap="none" strike="noStrike">
                <a:solidFill>
                  <a:srgbClr val="0A6E4C"/>
                </a:solidFill>
                <a:latin typeface="Poppins"/>
                <a:ea typeface="Poppins"/>
                <a:cs typeface="Poppins"/>
                <a:sym typeface="Poppins"/>
              </a:rPr>
              <a:t>(</a:t>
            </a:r>
            <a:r>
              <a:rPr b="1" lang="en-US" sz="1300">
                <a:solidFill>
                  <a:srgbClr val="0A6E4C"/>
                </a:solidFill>
                <a:latin typeface="Poppins"/>
                <a:ea typeface="Poppins"/>
                <a:cs typeface="Poppins"/>
                <a:sym typeface="Poppins"/>
              </a:rPr>
              <a:t>analogous</a:t>
            </a:r>
            <a:r>
              <a:rPr b="1" i="0" lang="en-US" sz="1300" u="none" cap="none" strike="noStrike">
                <a:solidFill>
                  <a:srgbClr val="0A6E4C"/>
                </a:solidFill>
                <a:latin typeface="Poppins"/>
                <a:ea typeface="Poppins"/>
                <a:cs typeface="Poppins"/>
                <a:sym typeface="Poppins"/>
              </a:rPr>
              <a:t> to valu</a:t>
            </a:r>
            <a:r>
              <a:rPr b="1" lang="en-US" sz="1300">
                <a:solidFill>
                  <a:srgbClr val="0A6E4C"/>
                </a:solidFill>
                <a:latin typeface="Poppins"/>
                <a:ea typeface="Poppins"/>
                <a:cs typeface="Poppins"/>
                <a:sym typeface="Poppins"/>
              </a:rPr>
              <a:t>ing a stock based on fundamentals</a:t>
            </a:r>
            <a:r>
              <a:rPr b="1" i="0" lang="en-US" sz="1300" u="none" cap="none" strike="noStrike">
                <a:solidFill>
                  <a:srgbClr val="0A6E4C"/>
                </a:solidFill>
                <a:latin typeface="Poppins"/>
                <a:ea typeface="Poppins"/>
                <a:cs typeface="Poppins"/>
                <a:sym typeface="Poppins"/>
              </a:rPr>
              <a:t>)</a:t>
            </a:r>
            <a:endParaRPr b="0" i="0" sz="1300" u="none" cap="none" strike="noStrike">
              <a:solidFill>
                <a:schemeClr val="dk1"/>
              </a:solidFill>
              <a:latin typeface="Calibri"/>
              <a:ea typeface="Calibri"/>
              <a:cs typeface="Calibri"/>
              <a:sym typeface="Calibri"/>
            </a:endParaRPr>
          </a:p>
        </p:txBody>
      </p:sp>
      <p:sp>
        <p:nvSpPr>
          <p:cNvPr id="324" name="Google Shape;324;p12"/>
          <p:cNvSpPr/>
          <p:nvPr/>
        </p:nvSpPr>
        <p:spPr>
          <a:xfrm>
            <a:off x="960120" y="2121408"/>
            <a:ext cx="4755000" cy="237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b="1" sz="1350">
              <a:solidFill>
                <a:srgbClr val="3D4B62"/>
              </a:solidFill>
              <a:latin typeface="Poppins"/>
              <a:ea typeface="Poppins"/>
              <a:cs typeface="Poppins"/>
              <a:sym typeface="Poppins"/>
            </a:endParaRPr>
          </a:p>
          <a:p>
            <a:pPr indent="-314325" lvl="1" marL="914400" marR="0" rtl="0" algn="l">
              <a:spcBef>
                <a:spcPts val="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Supply &amp; Demand</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Mortgage interest rate</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Unemployment rate</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Inflation rate</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Eco</a:t>
            </a:r>
            <a:r>
              <a:rPr lang="en-US" sz="1350">
                <a:solidFill>
                  <a:srgbClr val="3D4B62"/>
                </a:solidFill>
                <a:latin typeface="Poppins"/>
                <a:ea typeface="Poppins"/>
                <a:cs typeface="Poppins"/>
                <a:sym typeface="Poppins"/>
              </a:rPr>
              <a:t>nomy and geo political stability</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Regulation / Legislation</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Consumer confidence</a:t>
            </a:r>
            <a:endParaRPr b="0" i="0" sz="1350" u="none" cap="none" strike="noStrike">
              <a:solidFill>
                <a:schemeClr val="dk1"/>
              </a:solidFill>
              <a:latin typeface="Calibri"/>
              <a:ea typeface="Calibri"/>
              <a:cs typeface="Calibri"/>
              <a:sym typeface="Calibri"/>
            </a:endParaRPr>
          </a:p>
        </p:txBody>
      </p:sp>
      <p:sp>
        <p:nvSpPr>
          <p:cNvPr id="325" name="Google Shape;325;p12"/>
          <p:cNvSpPr/>
          <p:nvPr/>
        </p:nvSpPr>
        <p:spPr>
          <a:xfrm>
            <a:off x="6263640" y="1463040"/>
            <a:ext cx="5285100" cy="3108900"/>
          </a:xfrm>
          <a:prstGeom prst="roundRect">
            <a:avLst>
              <a:gd fmla="val 3824"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2"/>
          <p:cNvSpPr/>
          <p:nvPr/>
        </p:nvSpPr>
        <p:spPr>
          <a:xfrm>
            <a:off x="6583675" y="1664200"/>
            <a:ext cx="4475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8"/>
              </a:buClr>
              <a:buSzPts val="1500"/>
              <a:buFont typeface="Poppins"/>
              <a:buNone/>
            </a:pPr>
            <a:r>
              <a:rPr b="1" lang="en-US" sz="1500">
                <a:solidFill>
                  <a:srgbClr val="8A5208"/>
                </a:solidFill>
                <a:latin typeface="Poppins"/>
                <a:ea typeface="Poppins"/>
                <a:cs typeface="Poppins"/>
                <a:sym typeface="Poppins"/>
              </a:rPr>
              <a:t>2.</a:t>
            </a:r>
            <a:r>
              <a:rPr b="1" lang="en-US" sz="1500">
                <a:solidFill>
                  <a:srgbClr val="0A6E4C"/>
                </a:solidFill>
                <a:latin typeface="Poppins"/>
                <a:ea typeface="Poppins"/>
                <a:cs typeface="Poppins"/>
                <a:sym typeface="Poppins"/>
              </a:rPr>
              <a:t> </a:t>
            </a:r>
            <a:r>
              <a:rPr b="1" lang="en-US" sz="1500">
                <a:solidFill>
                  <a:srgbClr val="8A5208"/>
                </a:solidFill>
                <a:latin typeface="Poppins"/>
                <a:ea typeface="Poppins"/>
                <a:cs typeface="Poppins"/>
                <a:sym typeface="Poppins"/>
              </a:rPr>
              <a:t>Leverage comparable sale price</a:t>
            </a:r>
            <a:endParaRPr b="1" sz="1500">
              <a:solidFill>
                <a:srgbClr val="8A5208"/>
              </a:solidFill>
              <a:latin typeface="Poppins"/>
              <a:ea typeface="Poppins"/>
              <a:cs typeface="Poppins"/>
              <a:sym typeface="Poppins"/>
            </a:endParaRPr>
          </a:p>
          <a:p>
            <a:pPr indent="0" lvl="0" marL="0" marR="0" rtl="0" algn="l">
              <a:spcBef>
                <a:spcPts val="0"/>
              </a:spcBef>
              <a:spcAft>
                <a:spcPts val="0"/>
              </a:spcAft>
              <a:buClr>
                <a:srgbClr val="8A5208"/>
              </a:buClr>
              <a:buSzPts val="1500"/>
              <a:buFont typeface="Poppins"/>
              <a:buNone/>
            </a:pPr>
            <a:r>
              <a:rPr b="1" lang="en-US" sz="1300">
                <a:solidFill>
                  <a:srgbClr val="8A5208"/>
                </a:solidFill>
                <a:latin typeface="Poppins"/>
                <a:ea typeface="Poppins"/>
                <a:cs typeface="Poppins"/>
                <a:sym typeface="Poppins"/>
              </a:rPr>
              <a:t>(e.g., Today’s stock price adjusted for change in recent performance &amp; expectations</a:t>
            </a:r>
            <a:r>
              <a:rPr b="1" i="0" lang="en-US" sz="1300" u="none" cap="none" strike="noStrike">
                <a:solidFill>
                  <a:srgbClr val="8A5208"/>
                </a:solidFill>
                <a:latin typeface="Poppins"/>
                <a:ea typeface="Poppins"/>
                <a:cs typeface="Poppins"/>
                <a:sym typeface="Poppins"/>
              </a:rPr>
              <a:t>)</a:t>
            </a:r>
            <a:endParaRPr b="0" i="0" sz="1300" u="none" cap="none" strike="noStrike">
              <a:solidFill>
                <a:schemeClr val="dk1"/>
              </a:solidFill>
              <a:latin typeface="Calibri"/>
              <a:ea typeface="Calibri"/>
              <a:cs typeface="Calibri"/>
              <a:sym typeface="Calibri"/>
            </a:endParaRPr>
          </a:p>
        </p:txBody>
      </p:sp>
      <p:sp>
        <p:nvSpPr>
          <p:cNvPr id="327" name="Google Shape;327;p12"/>
          <p:cNvSpPr/>
          <p:nvPr/>
        </p:nvSpPr>
        <p:spPr>
          <a:xfrm>
            <a:off x="6583680" y="2121408"/>
            <a:ext cx="4755000" cy="2377500"/>
          </a:xfrm>
          <a:prstGeom prst="rect">
            <a:avLst/>
          </a:prstGeom>
          <a:noFill/>
          <a:ln>
            <a:noFill/>
          </a:ln>
        </p:spPr>
        <p:txBody>
          <a:bodyPr anchorCtr="0" anchor="ctr" bIns="0" lIns="0" spcFirstLastPara="1" rIns="0" wrap="square" tIns="0">
            <a:noAutofit/>
          </a:bodyPr>
          <a:lstStyle/>
          <a:p>
            <a:pPr indent="0" lvl="0" marL="457200" marR="0" rtl="0" algn="l">
              <a:spcBef>
                <a:spcPts val="0"/>
              </a:spcBef>
              <a:spcAft>
                <a:spcPts val="0"/>
              </a:spcAft>
              <a:buNone/>
            </a:pPr>
            <a:r>
              <a:t/>
            </a:r>
            <a:endParaRPr sz="1350">
              <a:solidFill>
                <a:srgbClr val="3D4B62"/>
              </a:solidFill>
              <a:latin typeface="Poppins"/>
              <a:ea typeface="Poppins"/>
              <a:cs typeface="Poppins"/>
              <a:sym typeface="Poppins"/>
            </a:endParaRPr>
          </a:p>
          <a:p>
            <a:pPr indent="-203200" lvl="0" marL="203200" marR="0" rtl="0" algn="l">
              <a:spcBef>
                <a:spcPts val="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Define</a:t>
            </a:r>
            <a:r>
              <a:rPr lang="en-US" sz="1350">
                <a:solidFill>
                  <a:srgbClr val="3D4B62"/>
                </a:solidFill>
                <a:latin typeface="Poppins"/>
                <a:ea typeface="Poppins"/>
                <a:cs typeface="Poppins"/>
                <a:sym typeface="Poppins"/>
              </a:rPr>
              <a:t> comparable – guardrails to control macro</a:t>
            </a:r>
            <a:endParaRPr b="0" i="0" sz="13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Adjust comparables’ value for the delta in property specific micro factors (listed in the next page)</a:t>
            </a:r>
            <a:endParaRPr b="0" i="0" sz="13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ranking, </a:t>
            </a:r>
            <a:r>
              <a:rPr b="0" i="0" lang="en-US" sz="1350" u="none" cap="none" strike="noStrike">
                <a:solidFill>
                  <a:srgbClr val="3D4B62"/>
                </a:solidFill>
                <a:latin typeface="Poppins"/>
                <a:ea typeface="Poppins"/>
                <a:cs typeface="Poppins"/>
                <a:sym typeface="Poppins"/>
              </a:rPr>
              <a:t>commute</a:t>
            </a:r>
            <a:endParaRPr b="0" i="0" sz="13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served_by</a:t>
            </a:r>
            <a:endParaRPr b="0" i="0" sz="13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Employment, income</a:t>
            </a:r>
            <a:endParaRPr b="0" i="0" sz="13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zoned_for</a:t>
            </a:r>
            <a:endParaRPr b="0" i="0" sz="13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prioritizes / sop</a:t>
            </a:r>
            <a:r>
              <a:rPr lang="en-US" sz="1350">
                <a:solidFill>
                  <a:srgbClr val="3D4B62"/>
                </a:solidFill>
                <a:latin typeface="Poppins"/>
                <a:ea typeface="Poppins"/>
                <a:cs typeface="Poppins"/>
                <a:sym typeface="Poppins"/>
              </a:rPr>
              <a:t>histication</a:t>
            </a:r>
            <a:endParaRPr b="0" i="0" sz="1350" u="none" cap="none" strike="noStrike">
              <a:solidFill>
                <a:schemeClr val="dk1"/>
              </a:solidFill>
              <a:latin typeface="Calibri"/>
              <a:ea typeface="Calibri"/>
              <a:cs typeface="Calibri"/>
              <a:sym typeface="Calibri"/>
            </a:endParaRPr>
          </a:p>
        </p:txBody>
      </p:sp>
      <p:sp>
        <p:nvSpPr>
          <p:cNvPr id="328" name="Google Shape;328;p12"/>
          <p:cNvSpPr/>
          <p:nvPr/>
        </p:nvSpPr>
        <p:spPr>
          <a:xfrm>
            <a:off x="640075" y="4761025"/>
            <a:ext cx="10908900" cy="1279200"/>
          </a:xfrm>
          <a:prstGeom prst="roundRect">
            <a:avLst>
              <a:gd fmla="val 12381"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914400" y="4800600"/>
            <a:ext cx="10328700" cy="119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450"/>
              <a:buFont typeface="Poppins"/>
              <a:buNone/>
            </a:pPr>
            <a:r>
              <a:rPr b="1" lang="en-US" sz="1350">
                <a:solidFill>
                  <a:srgbClr val="1565D8"/>
                </a:solidFill>
                <a:latin typeface="Poppins"/>
                <a:ea typeface="Poppins"/>
                <a:cs typeface="Poppins"/>
                <a:sym typeface="Poppins"/>
              </a:rPr>
              <a:t>“Intrinsic method” attempts to account for myriad of factors and hence complex and prone to errors in the near term.</a:t>
            </a:r>
            <a:endParaRPr b="1" sz="1350">
              <a:solidFill>
                <a:srgbClr val="1565D8"/>
              </a:solidFill>
              <a:latin typeface="Poppins"/>
              <a:ea typeface="Poppins"/>
              <a:cs typeface="Poppins"/>
              <a:sym typeface="Poppins"/>
            </a:endParaRPr>
          </a:p>
          <a:p>
            <a:pPr indent="0" lvl="0" marL="0" marR="0" rtl="0" algn="l">
              <a:spcBef>
                <a:spcPts val="0"/>
              </a:spcBef>
              <a:spcAft>
                <a:spcPts val="0"/>
              </a:spcAft>
              <a:buClr>
                <a:srgbClr val="1565D8"/>
              </a:buClr>
              <a:buSzPts val="1450"/>
              <a:buFont typeface="Poppins"/>
              <a:buNone/>
            </a:pPr>
            <a:r>
              <a:t/>
            </a:r>
            <a:endParaRPr b="1" sz="1350">
              <a:solidFill>
                <a:srgbClr val="1565D8"/>
              </a:solidFill>
              <a:latin typeface="Poppins"/>
              <a:ea typeface="Poppins"/>
              <a:cs typeface="Poppins"/>
              <a:sym typeface="Poppins"/>
            </a:endParaRPr>
          </a:p>
          <a:p>
            <a:pPr indent="0" lvl="0" marL="0" marR="0" rtl="0" algn="l">
              <a:spcBef>
                <a:spcPts val="0"/>
              </a:spcBef>
              <a:spcAft>
                <a:spcPts val="0"/>
              </a:spcAft>
              <a:buClr>
                <a:srgbClr val="1565D8"/>
              </a:buClr>
              <a:buSzPts val="1450"/>
              <a:buFont typeface="Poppins"/>
              <a:buNone/>
            </a:pPr>
            <a:r>
              <a:rPr b="1" lang="en-US" sz="1350">
                <a:solidFill>
                  <a:srgbClr val="1565D8"/>
                </a:solidFill>
                <a:latin typeface="Poppins"/>
                <a:ea typeface="Poppins"/>
                <a:cs typeface="Poppins"/>
                <a:sym typeface="Poppins"/>
              </a:rPr>
              <a:t>On the other hand Comparable sale adjustment method is simple to understand, execute and more accurate in the near term and hence used in practice. This project will use this method to </a:t>
            </a:r>
            <a:r>
              <a:rPr b="1" lang="en-US" sz="1350">
                <a:solidFill>
                  <a:srgbClr val="1565D8"/>
                </a:solidFill>
                <a:latin typeface="Poppins"/>
                <a:ea typeface="Poppins"/>
                <a:cs typeface="Poppins"/>
                <a:sym typeface="Poppins"/>
              </a:rPr>
              <a:t>estimate</a:t>
            </a:r>
            <a:r>
              <a:rPr b="1" lang="en-US" sz="1350">
                <a:solidFill>
                  <a:srgbClr val="1565D8"/>
                </a:solidFill>
                <a:latin typeface="Poppins"/>
                <a:ea typeface="Poppins"/>
                <a:cs typeface="Poppins"/>
                <a:sym typeface="Poppins"/>
              </a:rPr>
              <a:t> real property values </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13"/>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A Typed Graph of Properties &amp; Value Drivers</a:t>
            </a:r>
            <a:endParaRPr b="0" i="0" sz="2800" u="none" cap="none" strike="noStrike">
              <a:solidFill>
                <a:schemeClr val="dk1"/>
              </a:solidFill>
              <a:latin typeface="Calibri"/>
              <a:ea typeface="Calibri"/>
              <a:cs typeface="Calibri"/>
              <a:sym typeface="Calibri"/>
            </a:endParaRPr>
          </a:p>
        </p:txBody>
      </p:sp>
      <p:sp>
        <p:nvSpPr>
          <p:cNvPr id="336" name="Google Shape;336;p13"/>
          <p:cNvSpPr/>
          <p:nvPr/>
        </p:nvSpPr>
        <p:spPr>
          <a:xfrm>
            <a:off x="640080" y="1463040"/>
            <a:ext cx="5285232" cy="3108960"/>
          </a:xfrm>
          <a:prstGeom prst="roundRect">
            <a:avLst>
              <a:gd fmla="val 3824"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914400" y="1664208"/>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6E4C"/>
              </a:buClr>
              <a:buSzPts val="1500"/>
              <a:buFont typeface="Poppins"/>
              <a:buNone/>
            </a:pPr>
            <a:r>
              <a:rPr b="1" i="0" lang="en-US" sz="1500" u="none" cap="none" strike="noStrike">
                <a:solidFill>
                  <a:srgbClr val="0A6E4C"/>
                </a:solidFill>
                <a:latin typeface="Poppins"/>
                <a:ea typeface="Poppins"/>
                <a:cs typeface="Poppins"/>
                <a:sym typeface="Poppins"/>
              </a:rPr>
              <a:t>Node types  (the things)</a:t>
            </a:r>
            <a:endParaRPr b="0" i="0" sz="1500" u="none" cap="none" strike="noStrike">
              <a:solidFill>
                <a:schemeClr val="dk1"/>
              </a:solidFill>
              <a:latin typeface="Calibri"/>
              <a:ea typeface="Calibri"/>
              <a:cs typeface="Calibri"/>
              <a:sym typeface="Calibri"/>
            </a:endParaRPr>
          </a:p>
        </p:txBody>
      </p:sp>
      <p:sp>
        <p:nvSpPr>
          <p:cNvPr id="338" name="Google Shape;338;p13"/>
          <p:cNvSpPr/>
          <p:nvPr/>
        </p:nvSpPr>
        <p:spPr>
          <a:xfrm>
            <a:off x="927149" y="2035683"/>
            <a:ext cx="4755000" cy="237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350">
                <a:solidFill>
                  <a:srgbClr val="3D4B62"/>
                </a:solidFill>
                <a:latin typeface="Poppins"/>
                <a:ea typeface="Poppins"/>
                <a:cs typeface="Poppins"/>
                <a:sym typeface="Poppins"/>
              </a:rPr>
              <a:t>Comparable’s sale  to be adjusted for macro factors:</a:t>
            </a:r>
            <a:endParaRPr b="1" sz="1350">
              <a:solidFill>
                <a:srgbClr val="3D4B62"/>
              </a:solidFill>
              <a:latin typeface="Poppins"/>
              <a:ea typeface="Poppins"/>
              <a:cs typeface="Poppins"/>
              <a:sym typeface="Poppins"/>
            </a:endParaRPr>
          </a:p>
          <a:p>
            <a:pPr indent="0" lvl="0" marL="0" marR="0" rtl="0" algn="l">
              <a:spcBef>
                <a:spcPts val="0"/>
              </a:spcBef>
              <a:spcAft>
                <a:spcPts val="0"/>
              </a:spcAft>
              <a:buNone/>
            </a:pPr>
            <a:r>
              <a:t/>
            </a:r>
            <a:endParaRPr b="1" sz="1350">
              <a:solidFill>
                <a:srgbClr val="3D4B62"/>
              </a:solidFill>
              <a:latin typeface="Poppins"/>
              <a:ea typeface="Poppins"/>
              <a:cs typeface="Poppins"/>
              <a:sym typeface="Poppins"/>
            </a:endParaRPr>
          </a:p>
          <a:p>
            <a:pPr indent="-314325" lvl="1" marL="914400" marR="0" rtl="0" algn="l">
              <a:spcBef>
                <a:spcPts val="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Property</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Neighborhood</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School</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Trans</a:t>
            </a:r>
            <a:r>
              <a:rPr lang="en-US" sz="1350">
                <a:solidFill>
                  <a:srgbClr val="3D4B62"/>
                </a:solidFill>
                <a:latin typeface="Poppins"/>
                <a:ea typeface="Poppins"/>
                <a:cs typeface="Poppins"/>
                <a:sym typeface="Poppins"/>
              </a:rPr>
              <a:t>portation</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Eco</a:t>
            </a:r>
            <a:r>
              <a:rPr lang="en-US" sz="1350">
                <a:solidFill>
                  <a:srgbClr val="3D4B62"/>
                </a:solidFill>
                <a:latin typeface="Poppins"/>
                <a:ea typeface="Poppins"/>
                <a:cs typeface="Poppins"/>
                <a:sym typeface="Poppins"/>
              </a:rPr>
              <a:t>nomic opportunity</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Market signal (permit, re-zoning)</a:t>
            </a:r>
            <a:endParaRPr b="0" i="0" sz="1350" u="none" cap="none" strike="noStrike">
              <a:solidFill>
                <a:schemeClr val="dk1"/>
              </a:solidFill>
              <a:latin typeface="Calibri"/>
              <a:ea typeface="Calibri"/>
              <a:cs typeface="Calibri"/>
              <a:sym typeface="Calibri"/>
            </a:endParaRPr>
          </a:p>
          <a:p>
            <a:pPr indent="-314325" lvl="1" marL="914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Buyer / investor</a:t>
            </a:r>
            <a:endParaRPr b="0" i="0" sz="1350" u="none" cap="none" strike="noStrike">
              <a:solidFill>
                <a:schemeClr val="dk1"/>
              </a:solidFill>
              <a:latin typeface="Calibri"/>
              <a:ea typeface="Calibri"/>
              <a:cs typeface="Calibri"/>
              <a:sym typeface="Calibri"/>
            </a:endParaRPr>
          </a:p>
        </p:txBody>
      </p:sp>
      <p:sp>
        <p:nvSpPr>
          <p:cNvPr id="339" name="Google Shape;339;p13"/>
          <p:cNvSpPr/>
          <p:nvPr/>
        </p:nvSpPr>
        <p:spPr>
          <a:xfrm>
            <a:off x="6263640" y="1463040"/>
            <a:ext cx="5285232" cy="3108960"/>
          </a:xfrm>
          <a:prstGeom prst="roundRect">
            <a:avLst>
              <a:gd fmla="val 3824"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3"/>
          <p:cNvSpPr/>
          <p:nvPr/>
        </p:nvSpPr>
        <p:spPr>
          <a:xfrm>
            <a:off x="6537960" y="1664208"/>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8"/>
              </a:buClr>
              <a:buSzPts val="1500"/>
              <a:buFont typeface="Poppins"/>
              <a:buNone/>
            </a:pPr>
            <a:r>
              <a:rPr b="1" i="0" lang="en-US" sz="1500" u="none" cap="none" strike="noStrike">
                <a:solidFill>
                  <a:srgbClr val="8A5208"/>
                </a:solidFill>
                <a:latin typeface="Poppins"/>
                <a:ea typeface="Poppins"/>
                <a:cs typeface="Poppins"/>
                <a:sym typeface="Poppins"/>
              </a:rPr>
              <a:t>Edge types  (how they connect)</a:t>
            </a:r>
            <a:endParaRPr b="0" i="0" sz="1500" u="none" cap="none" strike="noStrike">
              <a:solidFill>
                <a:schemeClr val="dk1"/>
              </a:solidFill>
              <a:latin typeface="Calibri"/>
              <a:ea typeface="Calibri"/>
              <a:cs typeface="Calibri"/>
              <a:sym typeface="Calibri"/>
            </a:endParaRPr>
          </a:p>
        </p:txBody>
      </p:sp>
      <p:sp>
        <p:nvSpPr>
          <p:cNvPr id="341" name="Google Shape;341;p13"/>
          <p:cNvSpPr/>
          <p:nvPr/>
        </p:nvSpPr>
        <p:spPr>
          <a:xfrm>
            <a:off x="6583680" y="2121408"/>
            <a:ext cx="4754880" cy="2377440"/>
          </a:xfrm>
          <a:prstGeom prst="rect">
            <a:avLst/>
          </a:prstGeom>
          <a:noFill/>
          <a:ln>
            <a:noFill/>
          </a:ln>
        </p:spPr>
        <p:txBody>
          <a:bodyPr anchorCtr="0" anchor="ctr" bIns="0" lIns="0" spcFirstLastPara="1" rIns="0" wrap="square" tIns="0">
            <a:noAutofit/>
          </a:bodyPr>
          <a:lstStyle/>
          <a:p>
            <a:pPr indent="0" lvl="0" marL="457200" marR="0" rtl="0" algn="l">
              <a:spcBef>
                <a:spcPts val="0"/>
              </a:spcBef>
              <a:spcAft>
                <a:spcPts val="0"/>
              </a:spcAft>
              <a:buNone/>
            </a:pPr>
            <a:r>
              <a:t/>
            </a:r>
            <a:endParaRPr sz="1350">
              <a:solidFill>
                <a:srgbClr val="3D4B62"/>
              </a:solidFill>
              <a:latin typeface="Poppins"/>
              <a:ea typeface="Poppins"/>
              <a:cs typeface="Poppins"/>
              <a:sym typeface="Poppins"/>
            </a:endParaRPr>
          </a:p>
          <a:p>
            <a:pPr indent="-203200" lvl="0" marL="660400" marR="0" rtl="0" algn="l">
              <a:spcBef>
                <a:spcPts val="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located_in</a:t>
            </a:r>
            <a:endParaRPr b="0" i="0" sz="1350" u="none" cap="none" strike="noStrike">
              <a:solidFill>
                <a:schemeClr val="dk1"/>
              </a:solidFill>
              <a:latin typeface="Calibri"/>
              <a:ea typeface="Calibri"/>
              <a:cs typeface="Calibri"/>
              <a:sym typeface="Calibri"/>
            </a:endParaRPr>
          </a:p>
          <a:p>
            <a:pPr indent="-203200" lvl="0" marL="660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near (distance)</a:t>
            </a:r>
            <a:endParaRPr b="0" i="0" sz="1350" u="none" cap="none" strike="noStrike">
              <a:solidFill>
                <a:schemeClr val="dk1"/>
              </a:solidFill>
              <a:latin typeface="Calibri"/>
              <a:ea typeface="Calibri"/>
              <a:cs typeface="Calibri"/>
              <a:sym typeface="Calibri"/>
            </a:endParaRPr>
          </a:p>
          <a:p>
            <a:pPr indent="-203200" lvl="0" marL="6604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ranking, </a:t>
            </a:r>
            <a:r>
              <a:rPr b="0" i="0" lang="en-US" sz="1350" u="none" cap="none" strike="noStrike">
                <a:solidFill>
                  <a:srgbClr val="3D4B62"/>
                </a:solidFill>
                <a:latin typeface="Poppins"/>
                <a:ea typeface="Poppins"/>
                <a:cs typeface="Poppins"/>
                <a:sym typeface="Poppins"/>
              </a:rPr>
              <a:t>commute</a:t>
            </a:r>
            <a:endParaRPr b="0" i="0" sz="1350" u="none" cap="none" strike="noStrike">
              <a:solidFill>
                <a:schemeClr val="dk1"/>
              </a:solidFill>
              <a:latin typeface="Calibri"/>
              <a:ea typeface="Calibri"/>
              <a:cs typeface="Calibri"/>
              <a:sym typeface="Calibri"/>
            </a:endParaRPr>
          </a:p>
          <a:p>
            <a:pPr indent="-203200" lvl="0" marL="660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served_by</a:t>
            </a:r>
            <a:endParaRPr b="0" i="0" sz="1350" u="none" cap="none" strike="noStrike">
              <a:solidFill>
                <a:schemeClr val="dk1"/>
              </a:solidFill>
              <a:latin typeface="Calibri"/>
              <a:ea typeface="Calibri"/>
              <a:cs typeface="Calibri"/>
              <a:sym typeface="Calibri"/>
            </a:endParaRPr>
          </a:p>
          <a:p>
            <a:pPr indent="-203200" lvl="0" marL="660400" marR="0" rtl="0" algn="l">
              <a:spcBef>
                <a:spcPts val="600"/>
              </a:spcBef>
              <a:spcAft>
                <a:spcPts val="0"/>
              </a:spcAft>
              <a:buClr>
                <a:srgbClr val="3D4B62"/>
              </a:buClr>
              <a:buSzPts val="1350"/>
              <a:buFont typeface="Poppins"/>
              <a:buChar char="•"/>
            </a:pPr>
            <a:r>
              <a:rPr lang="en-US" sz="1350">
                <a:solidFill>
                  <a:srgbClr val="3D4B62"/>
                </a:solidFill>
                <a:latin typeface="Poppins"/>
                <a:ea typeface="Poppins"/>
                <a:cs typeface="Poppins"/>
                <a:sym typeface="Poppins"/>
              </a:rPr>
              <a:t>Employment, income</a:t>
            </a:r>
            <a:endParaRPr b="0" i="0" sz="1350" u="none" cap="none" strike="noStrike">
              <a:solidFill>
                <a:schemeClr val="dk1"/>
              </a:solidFill>
              <a:latin typeface="Calibri"/>
              <a:ea typeface="Calibri"/>
              <a:cs typeface="Calibri"/>
              <a:sym typeface="Calibri"/>
            </a:endParaRPr>
          </a:p>
          <a:p>
            <a:pPr indent="-203200" lvl="0" marL="660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zoned_for</a:t>
            </a:r>
            <a:endParaRPr b="0" i="0" sz="1350" u="none" cap="none" strike="noStrike">
              <a:solidFill>
                <a:schemeClr val="dk1"/>
              </a:solidFill>
              <a:latin typeface="Calibri"/>
              <a:ea typeface="Calibri"/>
              <a:cs typeface="Calibri"/>
              <a:sym typeface="Calibri"/>
            </a:endParaRPr>
          </a:p>
          <a:p>
            <a:pPr indent="-203200" lvl="0" marL="660400" marR="0" rtl="0" algn="l">
              <a:spcBef>
                <a:spcPts val="600"/>
              </a:spcBef>
              <a:spcAft>
                <a:spcPts val="0"/>
              </a:spcAft>
              <a:buClr>
                <a:srgbClr val="3D4B62"/>
              </a:buClr>
              <a:buSzPts val="1350"/>
              <a:buFont typeface="Poppins"/>
              <a:buChar char="•"/>
            </a:pPr>
            <a:r>
              <a:rPr b="0" i="0" lang="en-US" sz="1350" u="none" cap="none" strike="noStrike">
                <a:solidFill>
                  <a:srgbClr val="3D4B62"/>
                </a:solidFill>
                <a:latin typeface="Poppins"/>
                <a:ea typeface="Poppins"/>
                <a:cs typeface="Poppins"/>
                <a:sym typeface="Poppins"/>
              </a:rPr>
              <a:t>prioritizes / sop</a:t>
            </a:r>
            <a:r>
              <a:rPr lang="en-US" sz="1350">
                <a:solidFill>
                  <a:srgbClr val="3D4B62"/>
                </a:solidFill>
                <a:latin typeface="Poppins"/>
                <a:ea typeface="Poppins"/>
                <a:cs typeface="Poppins"/>
                <a:sym typeface="Poppins"/>
              </a:rPr>
              <a:t>histication</a:t>
            </a:r>
            <a:endParaRPr b="0" i="0" sz="1350" u="none" cap="none" strike="noStrike">
              <a:solidFill>
                <a:schemeClr val="dk1"/>
              </a:solidFill>
              <a:latin typeface="Calibri"/>
              <a:ea typeface="Calibri"/>
              <a:cs typeface="Calibri"/>
              <a:sym typeface="Calibri"/>
            </a:endParaRPr>
          </a:p>
        </p:txBody>
      </p:sp>
      <p:sp>
        <p:nvSpPr>
          <p:cNvPr id="342" name="Google Shape;342;p13"/>
          <p:cNvSpPr/>
          <p:nvPr/>
        </p:nvSpPr>
        <p:spPr>
          <a:xfrm>
            <a:off x="640080" y="4800600"/>
            <a:ext cx="10908792" cy="960120"/>
          </a:xfrm>
          <a:prstGeom prst="roundRect">
            <a:avLst>
              <a:gd fmla="val 12381"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1005840" y="4800600"/>
            <a:ext cx="10149900" cy="9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450"/>
              <a:buFont typeface="Poppins"/>
              <a:buNone/>
            </a:pPr>
            <a:r>
              <a:rPr lang="en-US" sz="1450">
                <a:solidFill>
                  <a:srgbClr val="14233D"/>
                </a:solidFill>
                <a:latin typeface="Poppins"/>
                <a:ea typeface="Poppins"/>
                <a:cs typeface="Poppins"/>
                <a:sym typeface="Poppins"/>
              </a:rPr>
              <a:t>V</a:t>
            </a:r>
            <a:r>
              <a:rPr b="0" i="0" lang="en-US" sz="1450" u="none" cap="none" strike="noStrike">
                <a:solidFill>
                  <a:srgbClr val="14233D"/>
                </a:solidFill>
                <a:latin typeface="Poppins"/>
                <a:ea typeface="Poppins"/>
                <a:cs typeface="Poppins"/>
                <a:sym typeface="Poppins"/>
              </a:rPr>
              <a:t>alu</a:t>
            </a:r>
            <a:r>
              <a:rPr lang="en-US" sz="1450">
                <a:solidFill>
                  <a:srgbClr val="14233D"/>
                </a:solidFill>
                <a:latin typeface="Poppins"/>
                <a:ea typeface="Poppins"/>
                <a:cs typeface="Poppins"/>
                <a:sym typeface="Poppins"/>
              </a:rPr>
              <a:t>e adjustment factors</a:t>
            </a:r>
            <a:r>
              <a:rPr b="0" i="0" lang="en-US" sz="1450" u="none" cap="none" strike="noStrike">
                <a:solidFill>
                  <a:srgbClr val="14233D"/>
                </a:solidFill>
                <a:latin typeface="Poppins"/>
                <a:ea typeface="Poppins"/>
                <a:cs typeface="Poppins"/>
                <a:sym typeface="Poppins"/>
              </a:rPr>
              <a:t> trace to a real and verifiable source — a permit ID, a transit stop, an assessor record</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8" name="Shape 348"/>
        <p:cNvGrpSpPr/>
        <p:nvPr/>
      </p:nvGrpSpPr>
      <p:grpSpPr>
        <a:xfrm>
          <a:off x="0" y="0"/>
          <a:ext cx="0" cy="0"/>
          <a:chOff x="0" y="0"/>
          <a:chExt cx="0" cy="0"/>
        </a:xfrm>
      </p:grpSpPr>
      <p:sp>
        <p:nvSpPr>
          <p:cNvPr id="349" name="Google Shape;349;p14"/>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lang="en-US" sz="2800">
                <a:solidFill>
                  <a:srgbClr val="1565D8"/>
                </a:solidFill>
                <a:latin typeface="Poppins"/>
                <a:ea typeface="Poppins"/>
                <a:cs typeface="Poppins"/>
                <a:sym typeface="Poppins"/>
              </a:rPr>
              <a:t>Much of t</a:t>
            </a:r>
            <a:r>
              <a:rPr b="1" i="0" lang="en-US" sz="2800" u="none" cap="none" strike="noStrike">
                <a:solidFill>
                  <a:srgbClr val="1565D8"/>
                </a:solidFill>
                <a:latin typeface="Poppins"/>
                <a:ea typeface="Poppins"/>
                <a:cs typeface="Poppins"/>
                <a:sym typeface="Poppins"/>
              </a:rPr>
              <a:t>he Value-Driver Data </a:t>
            </a:r>
            <a:r>
              <a:rPr b="1" lang="en-US" sz="2800">
                <a:solidFill>
                  <a:srgbClr val="1565D8"/>
                </a:solidFill>
                <a:latin typeface="Poppins"/>
                <a:ea typeface="Poppins"/>
                <a:cs typeface="Poppins"/>
                <a:sym typeface="Poppins"/>
              </a:rPr>
              <a:t>are</a:t>
            </a:r>
            <a:r>
              <a:rPr b="1" i="0" lang="en-US" sz="2800" u="none" cap="none" strike="noStrike">
                <a:solidFill>
                  <a:srgbClr val="1565D8"/>
                </a:solidFill>
                <a:latin typeface="Poppins"/>
                <a:ea typeface="Poppins"/>
                <a:cs typeface="Poppins"/>
                <a:sym typeface="Poppins"/>
              </a:rPr>
              <a:t> Public &amp; Free</a:t>
            </a:r>
            <a:endParaRPr b="0" i="0" sz="2800" u="none" cap="none" strike="noStrike">
              <a:solidFill>
                <a:schemeClr val="dk1"/>
              </a:solidFill>
              <a:latin typeface="Calibri"/>
              <a:ea typeface="Calibri"/>
              <a:cs typeface="Calibri"/>
              <a:sym typeface="Calibri"/>
            </a:endParaRPr>
          </a:p>
        </p:txBody>
      </p:sp>
      <p:sp>
        <p:nvSpPr>
          <p:cNvPr id="350" name="Google Shape;350;p14"/>
          <p:cNvSpPr/>
          <p:nvPr/>
        </p:nvSpPr>
        <p:spPr>
          <a:xfrm>
            <a:off x="640080" y="1508760"/>
            <a:ext cx="3502152" cy="1389888"/>
          </a:xfrm>
          <a:prstGeom prst="roundRect">
            <a:avLst>
              <a:gd fmla="val 8553"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4"/>
          <p:cNvSpPr/>
          <p:nvPr/>
        </p:nvSpPr>
        <p:spPr>
          <a:xfrm>
            <a:off x="886968" y="1783080"/>
            <a:ext cx="128016" cy="128016"/>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4"/>
          <p:cNvSpPr/>
          <p:nvPr/>
        </p:nvSpPr>
        <p:spPr>
          <a:xfrm>
            <a:off x="1115568" y="1709928"/>
            <a:ext cx="28620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50"/>
              <a:buFont typeface="Poppins"/>
              <a:buNone/>
            </a:pPr>
            <a:r>
              <a:rPr b="1" i="0" lang="en-US" sz="1450" u="none" cap="none" strike="noStrike">
                <a:solidFill>
                  <a:srgbClr val="14233D"/>
                </a:solidFill>
                <a:latin typeface="Poppins"/>
                <a:ea typeface="Poppins"/>
                <a:cs typeface="Poppins"/>
                <a:sym typeface="Poppins"/>
              </a:rPr>
              <a:t>Properties &amp; sales</a:t>
            </a:r>
            <a:endParaRPr b="0" i="0" sz="1450" u="none" cap="none" strike="noStrike">
              <a:solidFill>
                <a:schemeClr val="dk1"/>
              </a:solidFill>
              <a:latin typeface="Calibri"/>
              <a:ea typeface="Calibri"/>
              <a:cs typeface="Calibri"/>
              <a:sym typeface="Calibri"/>
            </a:endParaRPr>
          </a:p>
        </p:txBody>
      </p:sp>
      <p:sp>
        <p:nvSpPr>
          <p:cNvPr id="353" name="Google Shape;353;p14"/>
          <p:cNvSpPr/>
          <p:nvPr/>
        </p:nvSpPr>
        <p:spPr>
          <a:xfrm>
            <a:off x="886968" y="2130552"/>
            <a:ext cx="30449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250"/>
              <a:buFont typeface="Poppins"/>
              <a:buNone/>
            </a:pPr>
            <a:r>
              <a:rPr b="1" i="0" lang="en-US" sz="1250" u="none" cap="none" strike="noStrike">
                <a:solidFill>
                  <a:srgbClr val="1565D8"/>
                </a:solidFill>
                <a:latin typeface="Poppins"/>
                <a:ea typeface="Poppins"/>
                <a:cs typeface="Poppins"/>
                <a:sym typeface="Poppins"/>
              </a:rPr>
              <a:t>County assessor / recorder</a:t>
            </a:r>
            <a:endParaRPr b="0" i="0" sz="1250" u="none" cap="none" strike="noStrike">
              <a:solidFill>
                <a:schemeClr val="dk1"/>
              </a:solidFill>
              <a:latin typeface="Calibri"/>
              <a:ea typeface="Calibri"/>
              <a:cs typeface="Calibri"/>
              <a:sym typeface="Calibri"/>
            </a:endParaRPr>
          </a:p>
        </p:txBody>
      </p:sp>
      <p:sp>
        <p:nvSpPr>
          <p:cNvPr id="354" name="Google Shape;354;p14"/>
          <p:cNvSpPr/>
          <p:nvPr/>
        </p:nvSpPr>
        <p:spPr>
          <a:xfrm>
            <a:off x="886968" y="2478024"/>
            <a:ext cx="30449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1" lang="en-US" sz="1100" u="none" cap="none" strike="noStrike">
                <a:solidFill>
                  <a:srgbClr val="6E7C92"/>
                </a:solidFill>
                <a:latin typeface="Poppins"/>
                <a:ea typeface="Poppins"/>
                <a:cs typeface="Poppins"/>
                <a:sym typeface="Poppins"/>
              </a:rPr>
              <a:t>also our backtest answer key</a:t>
            </a:r>
            <a:endParaRPr b="0" i="0" sz="1100" u="none" cap="none" strike="noStrike">
              <a:solidFill>
                <a:schemeClr val="dk1"/>
              </a:solidFill>
              <a:latin typeface="Calibri"/>
              <a:ea typeface="Calibri"/>
              <a:cs typeface="Calibri"/>
              <a:sym typeface="Calibri"/>
            </a:endParaRPr>
          </a:p>
        </p:txBody>
      </p:sp>
      <p:sp>
        <p:nvSpPr>
          <p:cNvPr id="355" name="Google Shape;355;p14"/>
          <p:cNvSpPr/>
          <p:nvPr/>
        </p:nvSpPr>
        <p:spPr>
          <a:xfrm>
            <a:off x="4343400" y="1508760"/>
            <a:ext cx="3502152" cy="1389888"/>
          </a:xfrm>
          <a:prstGeom prst="roundRect">
            <a:avLst>
              <a:gd fmla="val 855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4590288" y="1783080"/>
            <a:ext cx="128016" cy="128016"/>
          </a:xfrm>
          <a:prstGeom prst="ellipse">
            <a:avLst/>
          </a:prstGeom>
          <a:solidFill>
            <a:srgbClr val="6E7C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4"/>
          <p:cNvSpPr/>
          <p:nvPr/>
        </p:nvSpPr>
        <p:spPr>
          <a:xfrm>
            <a:off x="4818888" y="1709928"/>
            <a:ext cx="28620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50"/>
              <a:buFont typeface="Poppins"/>
              <a:buNone/>
            </a:pPr>
            <a:r>
              <a:rPr b="1" i="0" lang="en-US" sz="1450" u="none" cap="none" strike="noStrike">
                <a:solidFill>
                  <a:srgbClr val="14233D"/>
                </a:solidFill>
                <a:latin typeface="Poppins"/>
                <a:ea typeface="Poppins"/>
                <a:cs typeface="Poppins"/>
                <a:sym typeface="Poppins"/>
              </a:rPr>
              <a:t>Demographics</a:t>
            </a:r>
            <a:endParaRPr b="0" i="0" sz="1450" u="none" cap="none" strike="noStrike">
              <a:solidFill>
                <a:schemeClr val="dk1"/>
              </a:solidFill>
              <a:latin typeface="Calibri"/>
              <a:ea typeface="Calibri"/>
              <a:cs typeface="Calibri"/>
              <a:sym typeface="Calibri"/>
            </a:endParaRPr>
          </a:p>
        </p:txBody>
      </p:sp>
      <p:sp>
        <p:nvSpPr>
          <p:cNvPr id="358" name="Google Shape;358;p14"/>
          <p:cNvSpPr/>
          <p:nvPr/>
        </p:nvSpPr>
        <p:spPr>
          <a:xfrm>
            <a:off x="4590288" y="2130552"/>
            <a:ext cx="30449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250"/>
              <a:buFont typeface="Poppins"/>
              <a:buNone/>
            </a:pPr>
            <a:r>
              <a:rPr b="1" i="0" lang="en-US" sz="1250" u="none" cap="none" strike="noStrike">
                <a:solidFill>
                  <a:srgbClr val="1565D8"/>
                </a:solidFill>
                <a:latin typeface="Poppins"/>
                <a:ea typeface="Poppins"/>
                <a:cs typeface="Poppins"/>
                <a:sym typeface="Poppins"/>
              </a:rPr>
              <a:t>US Census ACS</a:t>
            </a:r>
            <a:endParaRPr b="0" i="0" sz="1250" u="none" cap="none" strike="noStrike">
              <a:solidFill>
                <a:schemeClr val="dk1"/>
              </a:solidFill>
              <a:latin typeface="Calibri"/>
              <a:ea typeface="Calibri"/>
              <a:cs typeface="Calibri"/>
              <a:sym typeface="Calibri"/>
            </a:endParaRPr>
          </a:p>
        </p:txBody>
      </p:sp>
      <p:sp>
        <p:nvSpPr>
          <p:cNvPr id="359" name="Google Shape;359;p14"/>
          <p:cNvSpPr/>
          <p:nvPr/>
        </p:nvSpPr>
        <p:spPr>
          <a:xfrm>
            <a:off x="4590288" y="2478024"/>
            <a:ext cx="30449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1" lang="en-US" sz="1100" u="none" cap="none" strike="noStrike">
                <a:solidFill>
                  <a:srgbClr val="6E7C92"/>
                </a:solidFill>
                <a:latin typeface="Poppins"/>
                <a:ea typeface="Poppins"/>
                <a:cs typeface="Poppins"/>
                <a:sym typeface="Poppins"/>
              </a:rPr>
              <a:t>income, commute, housing</a:t>
            </a:r>
            <a:endParaRPr b="0" i="0" sz="1100" u="none" cap="none" strike="noStrike">
              <a:solidFill>
                <a:schemeClr val="dk1"/>
              </a:solidFill>
              <a:latin typeface="Calibri"/>
              <a:ea typeface="Calibri"/>
              <a:cs typeface="Calibri"/>
              <a:sym typeface="Calibri"/>
            </a:endParaRPr>
          </a:p>
        </p:txBody>
      </p:sp>
      <p:sp>
        <p:nvSpPr>
          <p:cNvPr id="360" name="Google Shape;360;p14"/>
          <p:cNvSpPr/>
          <p:nvPr/>
        </p:nvSpPr>
        <p:spPr>
          <a:xfrm>
            <a:off x="8046720" y="1508760"/>
            <a:ext cx="3502152" cy="1389888"/>
          </a:xfrm>
          <a:prstGeom prst="roundRect">
            <a:avLst>
              <a:gd fmla="val 855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4"/>
          <p:cNvSpPr/>
          <p:nvPr/>
        </p:nvSpPr>
        <p:spPr>
          <a:xfrm>
            <a:off x="8293608" y="1783080"/>
            <a:ext cx="128016" cy="128016"/>
          </a:xfrm>
          <a:prstGeom prst="ellipse">
            <a:avLst/>
          </a:prstGeom>
          <a:solidFill>
            <a:srgbClr val="6E7C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4"/>
          <p:cNvSpPr/>
          <p:nvPr/>
        </p:nvSpPr>
        <p:spPr>
          <a:xfrm>
            <a:off x="8522208" y="1709928"/>
            <a:ext cx="28620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50"/>
              <a:buFont typeface="Poppins"/>
              <a:buNone/>
            </a:pPr>
            <a:r>
              <a:rPr b="1" i="0" lang="en-US" sz="1450" u="none" cap="none" strike="noStrike">
                <a:solidFill>
                  <a:srgbClr val="14233D"/>
                </a:solidFill>
                <a:latin typeface="Poppins"/>
                <a:ea typeface="Poppins"/>
                <a:cs typeface="Poppins"/>
                <a:sym typeface="Poppins"/>
              </a:rPr>
              <a:t>Schools</a:t>
            </a:r>
            <a:endParaRPr b="0" i="0" sz="1450" u="none" cap="none" strike="noStrike">
              <a:solidFill>
                <a:schemeClr val="dk1"/>
              </a:solidFill>
              <a:latin typeface="Calibri"/>
              <a:ea typeface="Calibri"/>
              <a:cs typeface="Calibri"/>
              <a:sym typeface="Calibri"/>
            </a:endParaRPr>
          </a:p>
        </p:txBody>
      </p:sp>
      <p:sp>
        <p:nvSpPr>
          <p:cNvPr id="363" name="Google Shape;363;p14"/>
          <p:cNvSpPr/>
          <p:nvPr/>
        </p:nvSpPr>
        <p:spPr>
          <a:xfrm>
            <a:off x="8293608" y="2130552"/>
            <a:ext cx="30449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250"/>
              <a:buFont typeface="Poppins"/>
              <a:buNone/>
            </a:pPr>
            <a:r>
              <a:rPr b="1" i="0" lang="en-US" sz="1250" u="none" cap="none" strike="noStrike">
                <a:solidFill>
                  <a:srgbClr val="1565D8"/>
                </a:solidFill>
                <a:latin typeface="Poppins"/>
                <a:ea typeface="Poppins"/>
                <a:cs typeface="Poppins"/>
                <a:sym typeface="Poppins"/>
              </a:rPr>
              <a:t>NCES / Urban Institute</a:t>
            </a:r>
            <a:endParaRPr b="0" i="0" sz="1250" u="none" cap="none" strike="noStrike">
              <a:solidFill>
                <a:schemeClr val="dk1"/>
              </a:solidFill>
              <a:latin typeface="Calibri"/>
              <a:ea typeface="Calibri"/>
              <a:cs typeface="Calibri"/>
              <a:sym typeface="Calibri"/>
            </a:endParaRPr>
          </a:p>
        </p:txBody>
      </p:sp>
      <p:sp>
        <p:nvSpPr>
          <p:cNvPr id="364" name="Google Shape;364;p14"/>
          <p:cNvSpPr/>
          <p:nvPr/>
        </p:nvSpPr>
        <p:spPr>
          <a:xfrm>
            <a:off x="8293608" y="2478024"/>
            <a:ext cx="30449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1" lang="en-US" sz="1100" u="none" cap="none" strike="noStrike">
                <a:solidFill>
                  <a:srgbClr val="6E7C92"/>
                </a:solidFill>
                <a:latin typeface="Poppins"/>
                <a:ea typeface="Poppins"/>
                <a:cs typeface="Poppins"/>
                <a:sym typeface="Poppins"/>
              </a:rPr>
              <a:t>ratings &amp; locations</a:t>
            </a:r>
            <a:endParaRPr b="0" i="0" sz="1100" u="none" cap="none" strike="noStrike">
              <a:solidFill>
                <a:schemeClr val="dk1"/>
              </a:solidFill>
              <a:latin typeface="Calibri"/>
              <a:ea typeface="Calibri"/>
              <a:cs typeface="Calibri"/>
              <a:sym typeface="Calibri"/>
            </a:endParaRPr>
          </a:p>
        </p:txBody>
      </p:sp>
      <p:sp>
        <p:nvSpPr>
          <p:cNvPr id="365" name="Google Shape;365;p14"/>
          <p:cNvSpPr/>
          <p:nvPr/>
        </p:nvSpPr>
        <p:spPr>
          <a:xfrm>
            <a:off x="640080" y="3099816"/>
            <a:ext cx="3502152" cy="1389888"/>
          </a:xfrm>
          <a:prstGeom prst="roundRect">
            <a:avLst>
              <a:gd fmla="val 855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p:nvPr/>
        </p:nvSpPr>
        <p:spPr>
          <a:xfrm>
            <a:off x="886968" y="3374136"/>
            <a:ext cx="128016" cy="128016"/>
          </a:xfrm>
          <a:prstGeom prst="ellipse">
            <a:avLst/>
          </a:prstGeom>
          <a:solidFill>
            <a:srgbClr val="6E7C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4"/>
          <p:cNvSpPr/>
          <p:nvPr/>
        </p:nvSpPr>
        <p:spPr>
          <a:xfrm>
            <a:off x="1115568" y="3300984"/>
            <a:ext cx="28620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50"/>
              <a:buFont typeface="Poppins"/>
              <a:buNone/>
            </a:pPr>
            <a:r>
              <a:rPr b="1" i="0" lang="en-US" sz="1450" u="none" cap="none" strike="noStrike">
                <a:solidFill>
                  <a:srgbClr val="14233D"/>
                </a:solidFill>
                <a:latin typeface="Poppins"/>
                <a:ea typeface="Poppins"/>
                <a:cs typeface="Poppins"/>
                <a:sym typeface="Poppins"/>
              </a:rPr>
              <a:t>Transit</a:t>
            </a:r>
            <a:endParaRPr b="0" i="0" sz="1450" u="none" cap="none" strike="noStrike">
              <a:solidFill>
                <a:schemeClr val="dk1"/>
              </a:solidFill>
              <a:latin typeface="Calibri"/>
              <a:ea typeface="Calibri"/>
              <a:cs typeface="Calibri"/>
              <a:sym typeface="Calibri"/>
            </a:endParaRPr>
          </a:p>
        </p:txBody>
      </p:sp>
      <p:sp>
        <p:nvSpPr>
          <p:cNvPr id="368" name="Google Shape;368;p14"/>
          <p:cNvSpPr/>
          <p:nvPr/>
        </p:nvSpPr>
        <p:spPr>
          <a:xfrm>
            <a:off x="886968" y="3721608"/>
            <a:ext cx="30449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250"/>
              <a:buFont typeface="Poppins"/>
              <a:buNone/>
            </a:pPr>
            <a:r>
              <a:rPr b="1" i="0" lang="en-US" sz="1250" u="none" cap="none" strike="noStrike">
                <a:solidFill>
                  <a:srgbClr val="1565D8"/>
                </a:solidFill>
                <a:latin typeface="Poppins"/>
                <a:ea typeface="Poppins"/>
                <a:cs typeface="Poppins"/>
                <a:sym typeface="Poppins"/>
              </a:rPr>
              <a:t>GTFS (Mobility DB, 511.org)</a:t>
            </a:r>
            <a:endParaRPr b="0" i="0" sz="1250" u="none" cap="none" strike="noStrike">
              <a:solidFill>
                <a:schemeClr val="dk1"/>
              </a:solidFill>
              <a:latin typeface="Calibri"/>
              <a:ea typeface="Calibri"/>
              <a:cs typeface="Calibri"/>
              <a:sym typeface="Calibri"/>
            </a:endParaRPr>
          </a:p>
        </p:txBody>
      </p:sp>
      <p:sp>
        <p:nvSpPr>
          <p:cNvPr id="369" name="Google Shape;369;p14"/>
          <p:cNvSpPr/>
          <p:nvPr/>
        </p:nvSpPr>
        <p:spPr>
          <a:xfrm>
            <a:off x="886968" y="4069080"/>
            <a:ext cx="30449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1" lang="en-US" sz="1100" u="none" cap="none" strike="noStrike">
                <a:solidFill>
                  <a:srgbClr val="6E7C92"/>
                </a:solidFill>
                <a:latin typeface="Poppins"/>
                <a:ea typeface="Poppins"/>
                <a:cs typeface="Poppins"/>
                <a:sym typeface="Poppins"/>
              </a:rPr>
              <a:t>stops, routes, commute times</a:t>
            </a:r>
            <a:endParaRPr b="0" i="0" sz="1100" u="none" cap="none" strike="noStrike">
              <a:solidFill>
                <a:schemeClr val="dk1"/>
              </a:solidFill>
              <a:latin typeface="Calibri"/>
              <a:ea typeface="Calibri"/>
              <a:cs typeface="Calibri"/>
              <a:sym typeface="Calibri"/>
            </a:endParaRPr>
          </a:p>
        </p:txBody>
      </p:sp>
      <p:sp>
        <p:nvSpPr>
          <p:cNvPr id="370" name="Google Shape;370;p14"/>
          <p:cNvSpPr/>
          <p:nvPr/>
        </p:nvSpPr>
        <p:spPr>
          <a:xfrm>
            <a:off x="4343400" y="3099816"/>
            <a:ext cx="3502152" cy="1389888"/>
          </a:xfrm>
          <a:prstGeom prst="roundRect">
            <a:avLst>
              <a:gd fmla="val 855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4"/>
          <p:cNvSpPr/>
          <p:nvPr/>
        </p:nvSpPr>
        <p:spPr>
          <a:xfrm>
            <a:off x="4590288" y="3374136"/>
            <a:ext cx="128016" cy="128016"/>
          </a:xfrm>
          <a:prstGeom prst="ellipse">
            <a:avLst/>
          </a:prstGeom>
          <a:solidFill>
            <a:srgbClr val="6E7C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p:nvPr/>
        </p:nvSpPr>
        <p:spPr>
          <a:xfrm>
            <a:off x="4818888" y="3300984"/>
            <a:ext cx="28620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50"/>
              <a:buFont typeface="Poppins"/>
              <a:buNone/>
            </a:pPr>
            <a:r>
              <a:rPr b="1" i="0" lang="en-US" sz="1450" u="none" cap="none" strike="noStrike">
                <a:solidFill>
                  <a:srgbClr val="14233D"/>
                </a:solidFill>
                <a:latin typeface="Poppins"/>
                <a:ea typeface="Poppins"/>
                <a:cs typeface="Poppins"/>
                <a:sym typeface="Poppins"/>
              </a:rPr>
              <a:t>Amenities</a:t>
            </a:r>
            <a:endParaRPr b="0" i="0" sz="1450" u="none" cap="none" strike="noStrike">
              <a:solidFill>
                <a:schemeClr val="dk1"/>
              </a:solidFill>
              <a:latin typeface="Calibri"/>
              <a:ea typeface="Calibri"/>
              <a:cs typeface="Calibri"/>
              <a:sym typeface="Calibri"/>
            </a:endParaRPr>
          </a:p>
        </p:txBody>
      </p:sp>
      <p:sp>
        <p:nvSpPr>
          <p:cNvPr id="373" name="Google Shape;373;p14"/>
          <p:cNvSpPr/>
          <p:nvPr/>
        </p:nvSpPr>
        <p:spPr>
          <a:xfrm>
            <a:off x="4590288" y="3721608"/>
            <a:ext cx="30449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250"/>
              <a:buFont typeface="Poppins"/>
              <a:buNone/>
            </a:pPr>
            <a:r>
              <a:rPr b="1" i="0" lang="en-US" sz="1250" u="none" cap="none" strike="noStrike">
                <a:solidFill>
                  <a:srgbClr val="1565D8"/>
                </a:solidFill>
                <a:latin typeface="Poppins"/>
                <a:ea typeface="Poppins"/>
                <a:cs typeface="Poppins"/>
                <a:sym typeface="Poppins"/>
              </a:rPr>
              <a:t>OpenStreetMap</a:t>
            </a:r>
            <a:endParaRPr b="0" i="0" sz="1250" u="none" cap="none" strike="noStrike">
              <a:solidFill>
                <a:schemeClr val="dk1"/>
              </a:solidFill>
              <a:latin typeface="Calibri"/>
              <a:ea typeface="Calibri"/>
              <a:cs typeface="Calibri"/>
              <a:sym typeface="Calibri"/>
            </a:endParaRPr>
          </a:p>
        </p:txBody>
      </p:sp>
      <p:sp>
        <p:nvSpPr>
          <p:cNvPr id="374" name="Google Shape;374;p14"/>
          <p:cNvSpPr/>
          <p:nvPr/>
        </p:nvSpPr>
        <p:spPr>
          <a:xfrm>
            <a:off x="4590288" y="4069080"/>
            <a:ext cx="30449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1" lang="en-US" sz="1100" u="none" cap="none" strike="noStrike">
                <a:solidFill>
                  <a:srgbClr val="6E7C92"/>
                </a:solidFill>
                <a:latin typeface="Poppins"/>
                <a:ea typeface="Poppins"/>
                <a:cs typeface="Poppins"/>
                <a:sym typeface="Poppins"/>
              </a:rPr>
              <a:t>parks, groceries, POIs</a:t>
            </a:r>
            <a:endParaRPr b="0" i="0" sz="1100" u="none" cap="none" strike="noStrike">
              <a:solidFill>
                <a:schemeClr val="dk1"/>
              </a:solidFill>
              <a:latin typeface="Calibri"/>
              <a:ea typeface="Calibri"/>
              <a:cs typeface="Calibri"/>
              <a:sym typeface="Calibri"/>
            </a:endParaRPr>
          </a:p>
        </p:txBody>
      </p:sp>
      <p:sp>
        <p:nvSpPr>
          <p:cNvPr id="375" name="Google Shape;375;p14"/>
          <p:cNvSpPr/>
          <p:nvPr/>
        </p:nvSpPr>
        <p:spPr>
          <a:xfrm>
            <a:off x="8046720" y="3099816"/>
            <a:ext cx="3502152" cy="1389888"/>
          </a:xfrm>
          <a:prstGeom prst="roundRect">
            <a:avLst>
              <a:gd fmla="val 8553"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4"/>
          <p:cNvSpPr/>
          <p:nvPr/>
        </p:nvSpPr>
        <p:spPr>
          <a:xfrm>
            <a:off x="8293608" y="3374136"/>
            <a:ext cx="128016" cy="128016"/>
          </a:xfrm>
          <a:prstGeom prst="ellipse">
            <a:avLst/>
          </a:prstGeom>
          <a:solidFill>
            <a:srgbClr val="6E7C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8522208" y="3300984"/>
            <a:ext cx="286207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50"/>
              <a:buFont typeface="Poppins"/>
              <a:buNone/>
            </a:pPr>
            <a:r>
              <a:rPr b="1" i="0" lang="en-US" sz="1450" u="none" cap="none" strike="noStrike">
                <a:solidFill>
                  <a:srgbClr val="14233D"/>
                </a:solidFill>
                <a:latin typeface="Poppins"/>
                <a:ea typeface="Poppins"/>
                <a:cs typeface="Poppins"/>
                <a:sym typeface="Poppins"/>
              </a:rPr>
              <a:t>Permits &amp; zoning</a:t>
            </a:r>
            <a:endParaRPr b="0" i="0" sz="1450" u="none" cap="none" strike="noStrike">
              <a:solidFill>
                <a:schemeClr val="dk1"/>
              </a:solidFill>
              <a:latin typeface="Calibri"/>
              <a:ea typeface="Calibri"/>
              <a:cs typeface="Calibri"/>
              <a:sym typeface="Calibri"/>
            </a:endParaRPr>
          </a:p>
        </p:txBody>
      </p:sp>
      <p:sp>
        <p:nvSpPr>
          <p:cNvPr id="378" name="Google Shape;378;p14"/>
          <p:cNvSpPr/>
          <p:nvPr/>
        </p:nvSpPr>
        <p:spPr>
          <a:xfrm>
            <a:off x="8293608" y="3721608"/>
            <a:ext cx="30449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250"/>
              <a:buFont typeface="Poppins"/>
              <a:buNone/>
            </a:pPr>
            <a:r>
              <a:rPr b="1" i="0" lang="en-US" sz="1250" u="none" cap="none" strike="noStrike">
                <a:solidFill>
                  <a:srgbClr val="1565D8"/>
                </a:solidFill>
                <a:latin typeface="Poppins"/>
                <a:ea typeface="Poppins"/>
                <a:cs typeface="Poppins"/>
                <a:sym typeface="Poppins"/>
              </a:rPr>
              <a:t>City open-data portals</a:t>
            </a:r>
            <a:endParaRPr b="0" i="0" sz="1250" u="none" cap="none" strike="noStrike">
              <a:solidFill>
                <a:schemeClr val="dk1"/>
              </a:solidFill>
              <a:latin typeface="Calibri"/>
              <a:ea typeface="Calibri"/>
              <a:cs typeface="Calibri"/>
              <a:sym typeface="Calibri"/>
            </a:endParaRPr>
          </a:p>
        </p:txBody>
      </p:sp>
      <p:sp>
        <p:nvSpPr>
          <p:cNvPr id="379" name="Google Shape;379;p14"/>
          <p:cNvSpPr/>
          <p:nvPr/>
        </p:nvSpPr>
        <p:spPr>
          <a:xfrm>
            <a:off x="8293608" y="4069080"/>
            <a:ext cx="304495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1" lang="en-US" sz="1100" u="none" cap="none" strike="noStrike">
                <a:solidFill>
                  <a:srgbClr val="6E7C92"/>
                </a:solidFill>
                <a:latin typeface="Poppins"/>
                <a:ea typeface="Poppins"/>
                <a:cs typeface="Poppins"/>
                <a:sym typeface="Poppins"/>
              </a:rPr>
              <a:t>the relational signals</a:t>
            </a:r>
            <a:endParaRPr b="0" i="0" sz="1100" u="none" cap="none" strike="noStrike">
              <a:solidFill>
                <a:schemeClr val="dk1"/>
              </a:solidFill>
              <a:latin typeface="Calibri"/>
              <a:ea typeface="Calibri"/>
              <a:cs typeface="Calibri"/>
              <a:sym typeface="Calibri"/>
            </a:endParaRPr>
          </a:p>
        </p:txBody>
      </p:sp>
      <p:sp>
        <p:nvSpPr>
          <p:cNvPr id="380" name="Google Shape;380;p14"/>
          <p:cNvSpPr/>
          <p:nvPr/>
        </p:nvSpPr>
        <p:spPr>
          <a:xfrm>
            <a:off x="640080" y="4892040"/>
            <a:ext cx="10908792" cy="822960"/>
          </a:xfrm>
          <a:prstGeom prst="roundRect">
            <a:avLst>
              <a:gd fmla="val 14444" name="adj"/>
            </a:avLst>
          </a:prstGeom>
          <a:solidFill>
            <a:srgbClr val="E7F0FC"/>
          </a:solidFill>
          <a:ln cap="flat" cmpd="sng" w="12700">
            <a:solidFill>
              <a:srgbClr val="6D4FE0"/>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a:off x="1005840" y="4892040"/>
            <a:ext cx="1014984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92"/>
              </a:buClr>
              <a:buSzPts val="1450"/>
              <a:buFont typeface="Poppins"/>
              <a:buNone/>
            </a:pPr>
            <a:r>
              <a:rPr b="0" i="0" lang="en-US" sz="1450" u="none" cap="none" strike="noStrike">
                <a:solidFill>
                  <a:srgbClr val="6E7C92"/>
                </a:solidFill>
                <a:latin typeface="Poppins"/>
                <a:ea typeface="Poppins"/>
                <a:cs typeface="Poppins"/>
                <a:sym typeface="Poppins"/>
              </a:rPr>
              <a:t>Listing / MLS data is license-restricted — we don't need it.  </a:t>
            </a:r>
            <a:r>
              <a:rPr b="1" i="0" lang="en-US" sz="1450" u="none" cap="none" strike="noStrike">
                <a:solidFill>
                  <a:srgbClr val="14233D"/>
                </a:solidFill>
                <a:latin typeface="Poppins"/>
                <a:ea typeface="Poppins"/>
                <a:cs typeface="Poppins"/>
                <a:sym typeface="Poppins"/>
              </a:rPr>
              <a:t>Our differentiator isn't gated behind paid data.</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6" name="Shape 386"/>
        <p:cNvGrpSpPr/>
        <p:nvPr/>
      </p:nvGrpSpPr>
      <p:grpSpPr>
        <a:xfrm>
          <a:off x="0" y="0"/>
          <a:ext cx="0" cy="0"/>
          <a:chOff x="0" y="0"/>
          <a:chExt cx="0" cy="0"/>
        </a:xfrm>
      </p:grpSpPr>
      <p:sp>
        <p:nvSpPr>
          <p:cNvPr id="387" name="Google Shape;387;p15"/>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How Reliable Is the Data — and How We Handle It</a:t>
            </a:r>
            <a:endParaRPr b="0" i="0" sz="2800" u="none" cap="none" strike="noStrike">
              <a:solidFill>
                <a:schemeClr val="dk1"/>
              </a:solidFill>
              <a:latin typeface="Calibri"/>
              <a:ea typeface="Calibri"/>
              <a:cs typeface="Calibri"/>
              <a:sym typeface="Calibri"/>
            </a:endParaRPr>
          </a:p>
        </p:txBody>
      </p:sp>
      <p:graphicFrame>
        <p:nvGraphicFramePr>
          <p:cNvPr id="388" name="Google Shape;388;p15"/>
          <p:cNvGraphicFramePr/>
          <p:nvPr/>
        </p:nvGraphicFramePr>
        <p:xfrm>
          <a:off x="640080" y="1371600"/>
          <a:ext cx="3000000" cy="3000000"/>
        </p:xfrm>
        <a:graphic>
          <a:graphicData uri="http://schemas.openxmlformats.org/drawingml/2006/table">
            <a:tbl>
              <a:tblPr>
                <a:noFill/>
                <a:tableStyleId>{E11D1FEF-33C9-44F1-A661-5C6B31074650}</a:tableStyleId>
              </a:tblPr>
              <a:tblGrid>
                <a:gridCol w="2103125"/>
                <a:gridCol w="1234450"/>
                <a:gridCol w="1417325"/>
                <a:gridCol w="2468875"/>
                <a:gridCol w="3685025"/>
              </a:tblGrid>
              <a:tr h="384050">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Source</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Reliability</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Updated</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Main risk</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How we handle it</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r>
              <a:tr h="548650">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County assessor &amp; sales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A6E4C"/>
                        </a:buClr>
                        <a:buSzPts val="1100"/>
                        <a:buFont typeface="Poppins"/>
                        <a:buNone/>
                      </a:pPr>
                      <a:r>
                        <a:rPr b="1" lang="en-US" sz="1100" u="none" cap="none" strike="noStrike">
                          <a:solidFill>
                            <a:srgbClr val="0A6E4C"/>
                          </a:solidFill>
                          <a:latin typeface="Poppins"/>
                          <a:ea typeface="Poppins"/>
                          <a:cs typeface="Poppins"/>
                          <a:sym typeface="Poppins"/>
                        </a:rPr>
                        <a:t>High</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per recording</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recording lag, stale assessments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use recorded sale price as truth; date-stamp records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r h="548650">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Permits &amp; zoning</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A6E4C"/>
                        </a:buClr>
                        <a:buSzPts val="1100"/>
                        <a:buFont typeface="Poppins"/>
                        <a:buNone/>
                      </a:pPr>
                      <a:r>
                        <a:rPr b="1" lang="en-US" sz="1100" u="none" cap="none" strike="noStrike">
                          <a:solidFill>
                            <a:srgbClr val="0A6E4C"/>
                          </a:solidFill>
                          <a:latin typeface="Poppins"/>
                          <a:ea typeface="Poppins"/>
                          <a:cs typeface="Poppins"/>
                          <a:sym typeface="Poppins"/>
                        </a:rPr>
                        <a:t>High</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frequent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coverage varies by city</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choose metros with strong portals; flag gaps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r h="548650">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Census ACS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A6E4C"/>
                        </a:buClr>
                        <a:buSzPts val="1100"/>
                        <a:buFont typeface="Poppins"/>
                        <a:buNone/>
                      </a:pPr>
                      <a:r>
                        <a:rPr b="1" lang="en-US" sz="1100" u="none" cap="none" strike="noStrike">
                          <a:solidFill>
                            <a:srgbClr val="0A6E4C"/>
                          </a:solidFill>
                          <a:latin typeface="Poppins"/>
                          <a:ea typeface="Poppins"/>
                          <a:cs typeface="Poppins"/>
                          <a:sym typeface="Poppins"/>
                        </a:rPr>
                        <a:t>High</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annual</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lag &amp; tract granularity</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treat as slow context, not a point signal</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r h="548650">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Transit (GTFS)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A6E4C"/>
                        </a:buClr>
                        <a:buSzPts val="1100"/>
                        <a:buFont typeface="Poppins"/>
                        <a:buNone/>
                      </a:pPr>
                      <a:r>
                        <a:rPr b="1" lang="en-US" sz="1100" u="none" cap="none" strike="noStrike">
                          <a:solidFill>
                            <a:srgbClr val="0A6E4C"/>
                          </a:solidFill>
                          <a:latin typeface="Poppins"/>
                          <a:ea typeface="Poppins"/>
                          <a:cs typeface="Poppins"/>
                          <a:sym typeface="Poppins"/>
                        </a:rPr>
                        <a:t>High</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per service change</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only where published</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pick metros with published feeds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r h="548650">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OpenStreetMap</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8A5208"/>
                        </a:buClr>
                        <a:buSzPts val="1100"/>
                        <a:buFont typeface="Poppins"/>
                        <a:buNone/>
                      </a:pPr>
                      <a:r>
                        <a:rPr b="1" lang="en-US" sz="1100" u="none" cap="none" strike="noStrike">
                          <a:solidFill>
                            <a:srgbClr val="8A5208"/>
                          </a:solidFill>
                          <a:latin typeface="Poppins"/>
                          <a:ea typeface="Poppins"/>
                          <a:cs typeface="Poppins"/>
                          <a:sym typeface="Poppins"/>
                        </a:rPr>
                        <a:t>Medium</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continuous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uneven coverage / quality</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corroborate; weight by confidence; not sole basis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r h="548650">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Geocoding / matching</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b="1" lang="en-US" sz="1100" u="none" cap="none" strike="noStrike">
                          <a:solidFill>
                            <a:srgbClr val="6E7C92"/>
                          </a:solidFill>
                          <a:latin typeface="Poppins"/>
                          <a:ea typeface="Poppins"/>
                          <a:cs typeface="Poppins"/>
                          <a:sym typeface="Poppins"/>
                        </a:rPr>
                        <a:t>Derived</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address mismatches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00"/>
                        <a:buFont typeface="Poppins"/>
                        <a:buNone/>
                      </a:pPr>
                      <a:r>
                        <a:rPr lang="en-US" sz="1100" u="none" cap="none" strike="noStrike">
                          <a:solidFill>
                            <a:srgbClr val="3D4B62"/>
                          </a:solidFill>
                          <a:latin typeface="Poppins"/>
                          <a:ea typeface="Poppins"/>
                          <a:cs typeface="Poppins"/>
                          <a:sym typeface="Poppins"/>
                        </a:rPr>
                        <a:t>validate + spot-check before writing edges</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bl>
          </a:graphicData>
        </a:graphic>
      </p:graphicFrame>
      <p:sp>
        <p:nvSpPr>
          <p:cNvPr id="389" name="Google Shape;389;p15"/>
          <p:cNvSpPr/>
          <p:nvPr/>
        </p:nvSpPr>
        <p:spPr>
          <a:xfrm>
            <a:off x="640080" y="5285232"/>
            <a:ext cx="10908792" cy="713232"/>
          </a:xfrm>
          <a:prstGeom prst="roundRect">
            <a:avLst>
              <a:gd fmla="val 16667"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1005840" y="5285232"/>
            <a:ext cx="1014984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350"/>
              <a:buFont typeface="Poppins"/>
              <a:buNone/>
            </a:pPr>
            <a:r>
              <a:rPr b="1" i="0" lang="en-US" sz="1350" u="none" cap="none" strike="noStrike">
                <a:solidFill>
                  <a:srgbClr val="1565D8"/>
                </a:solidFill>
                <a:latin typeface="Poppins"/>
                <a:ea typeface="Poppins"/>
                <a:cs typeface="Poppins"/>
                <a:sym typeface="Poppins"/>
              </a:rPr>
              <a:t>Provenance + the verifier:  </a:t>
            </a:r>
            <a:r>
              <a:rPr b="0" i="0" lang="en-US" sz="1350" u="none" cap="none" strike="noStrike">
                <a:solidFill>
                  <a:srgbClr val="14233D"/>
                </a:solidFill>
                <a:latin typeface="Poppins"/>
                <a:ea typeface="Poppins"/>
                <a:cs typeface="Poppins"/>
                <a:sym typeface="Poppins"/>
              </a:rPr>
              <a:t>every edge stores its source and date — unsourced claims are rejected, and low-confidence edges are flagged, not hidden.</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16"/>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Detailed 6-Week Execution Plan</a:t>
            </a:r>
            <a:endParaRPr b="0" i="0" sz="2800" u="none" cap="none" strike="noStrike">
              <a:solidFill>
                <a:schemeClr val="dk1"/>
              </a:solidFill>
              <a:latin typeface="Calibri"/>
              <a:ea typeface="Calibri"/>
              <a:cs typeface="Calibri"/>
              <a:sym typeface="Calibri"/>
            </a:endParaRPr>
          </a:p>
        </p:txBody>
      </p:sp>
      <p:graphicFrame>
        <p:nvGraphicFramePr>
          <p:cNvPr id="397" name="Google Shape;397;p16"/>
          <p:cNvGraphicFramePr/>
          <p:nvPr/>
        </p:nvGraphicFramePr>
        <p:xfrm>
          <a:off x="640080" y="1417320"/>
          <a:ext cx="3000000" cy="3000000"/>
        </p:xfrm>
        <a:graphic>
          <a:graphicData uri="http://schemas.openxmlformats.org/drawingml/2006/table">
            <a:tbl>
              <a:tblPr>
                <a:noFill/>
                <a:tableStyleId>{E11D1FEF-33C9-44F1-A661-5C6B31074650}</a:tableStyleId>
              </a:tblPr>
              <a:tblGrid>
                <a:gridCol w="1764800"/>
                <a:gridCol w="2286000"/>
                <a:gridCol w="2286000"/>
                <a:gridCol w="2286000"/>
                <a:gridCol w="2286000"/>
              </a:tblGrid>
              <a:tr h="548650">
                <a:tc>
                  <a:txBody>
                    <a:bodyPr/>
                    <a:lstStyle/>
                    <a:p>
                      <a:pPr indent="0" lvl="0" marL="0" marR="0" rtl="0" algn="l">
                        <a:spcBef>
                          <a:spcPts val="0"/>
                        </a:spcBef>
                        <a:spcAft>
                          <a:spcPts val="0"/>
                        </a:spcAft>
                        <a:buClr>
                          <a:srgbClr val="1565D8"/>
                        </a:buClr>
                        <a:buSzPts val="1200"/>
                        <a:buFont typeface="Poppins"/>
                        <a:buNone/>
                      </a:pPr>
                      <a:r>
                        <a:rPr b="1" lang="en-US" sz="1200" u="none" cap="none" strike="noStrike">
                          <a:solidFill>
                            <a:srgbClr val="1565D8"/>
                          </a:solidFill>
                          <a:latin typeface="Poppins"/>
                          <a:ea typeface="Poppins"/>
                          <a:cs typeface="Poppins"/>
                          <a:sym typeface="Poppins"/>
                        </a:rPr>
                        <a:t>Phase</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1565D8"/>
                        </a:buClr>
                        <a:buSzPts val="1200"/>
                        <a:buFont typeface="Poppins"/>
                        <a:buNone/>
                      </a:pPr>
                      <a:r>
                        <a:rPr b="1" lang="en-US" sz="1200" u="none" cap="none" strike="noStrike">
                          <a:solidFill>
                            <a:srgbClr val="1565D8"/>
                          </a:solidFill>
                          <a:latin typeface="Poppins"/>
                          <a:ea typeface="Poppins"/>
                          <a:cs typeface="Poppins"/>
                          <a:sym typeface="Poppins"/>
                        </a:rPr>
                        <a:t>Data &amp; infrastructure</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1565D8"/>
                        </a:buClr>
                        <a:buSzPts val="1200"/>
                        <a:buFont typeface="Poppins"/>
                        <a:buNone/>
                      </a:pPr>
                      <a:r>
                        <a:rPr b="1" lang="en-US" sz="1200" u="none" cap="none" strike="noStrike">
                          <a:solidFill>
                            <a:srgbClr val="1565D8"/>
                          </a:solidFill>
                          <a:latin typeface="Poppins"/>
                          <a:ea typeface="Poppins"/>
                          <a:cs typeface="Poppins"/>
                          <a:sym typeface="Poppins"/>
                        </a:rPr>
                        <a:t>AI agents &amp; graph</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1565D8"/>
                        </a:buClr>
                        <a:buSzPts val="1200"/>
                        <a:buFont typeface="Poppins"/>
                        <a:buNone/>
                      </a:pPr>
                      <a:r>
                        <a:rPr b="1" lang="en-US" sz="1200" u="none" cap="none" strike="noStrike">
                          <a:solidFill>
                            <a:srgbClr val="1565D8"/>
                          </a:solidFill>
                          <a:latin typeface="Poppins"/>
                          <a:ea typeface="Poppins"/>
                          <a:cs typeface="Poppins"/>
                          <a:sym typeface="Poppins"/>
                        </a:rPr>
                        <a:t>UI &amp; integration</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1565D8"/>
                        </a:buClr>
                        <a:buSzPts val="1200"/>
                        <a:buFont typeface="Poppins"/>
                        <a:buNone/>
                      </a:pPr>
                      <a:r>
                        <a:rPr b="1" lang="en-US" sz="1200" u="none" cap="none" strike="noStrike">
                          <a:solidFill>
                            <a:srgbClr val="1565D8"/>
                          </a:solidFill>
                          <a:latin typeface="Poppins"/>
                          <a:ea typeface="Poppins"/>
                          <a:cs typeface="Poppins"/>
                          <a:sym typeface="Poppins"/>
                        </a:rPr>
                        <a:t>QA &amp; evaluation</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r>
              <a:tr h="932700">
                <a:tc>
                  <a:txBody>
                    <a:bodyPr/>
                    <a:lstStyle/>
                    <a:p>
                      <a:pPr indent="0" lvl="0" marL="0" marR="0" rtl="0" algn="l">
                        <a:spcBef>
                          <a:spcPts val="0"/>
                        </a:spcBef>
                        <a:spcAft>
                          <a:spcPts val="0"/>
                        </a:spcAft>
                        <a:buClr>
                          <a:srgbClr val="14233D"/>
                        </a:buClr>
                        <a:buSzPts val="1300"/>
                        <a:buFont typeface="Poppins"/>
                        <a:buNone/>
                      </a:pPr>
                      <a:r>
                        <a:rPr b="1" lang="en-US" sz="1300" u="none" cap="none" strike="noStrike">
                          <a:solidFill>
                            <a:srgbClr val="14233D"/>
                          </a:solidFill>
                          <a:latin typeface="Poppins"/>
                          <a:ea typeface="Poppins"/>
                          <a:cs typeface="Poppins"/>
                          <a:sym typeface="Poppins"/>
                        </a:rPr>
                        <a:t>Weeks 1-2</a:t>
                      </a:r>
                      <a:endParaRPr sz="1200" u="none" cap="none" strike="noStrike">
                        <a:latin typeface="Poppins"/>
                        <a:ea typeface="Poppins"/>
                        <a:cs typeface="Poppins"/>
                        <a:sym typeface="Poppins"/>
                      </a:endParaRPr>
                    </a:p>
                    <a:p>
                      <a:pPr indent="0" lvl="0" marL="0" marR="0" rtl="0" algn="l">
                        <a:spcBef>
                          <a:spcPts val="0"/>
                        </a:spcBef>
                        <a:spcAft>
                          <a:spcPts val="0"/>
                        </a:spcAft>
                        <a:buClr>
                          <a:srgbClr val="6E7C92"/>
                        </a:buClr>
                        <a:buSzPts val="1050"/>
                        <a:buFont typeface="Poppins"/>
                        <a:buNone/>
                      </a:pPr>
                      <a:r>
                        <a:rPr lang="en-US" sz="1050" u="none" cap="none" strike="noStrike">
                          <a:solidFill>
                            <a:srgbClr val="6E7C92"/>
                          </a:solidFill>
                          <a:latin typeface="Poppins"/>
                          <a:ea typeface="Poppins"/>
                          <a:cs typeface="Poppins"/>
                          <a:sym typeface="Poppins"/>
                        </a:rPr>
                        <a:t>Foundation</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Ingest public sources (assessor, GTFS, Census)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Define core knowledge-graph schema &amp; logic</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Scaffold repo, CI/CD, basic routing</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Define deterministic evaluation metrics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r h="932700">
                <a:tc>
                  <a:txBody>
                    <a:bodyPr/>
                    <a:lstStyle/>
                    <a:p>
                      <a:pPr indent="0" lvl="0" marL="0" marR="0" rtl="0" algn="l">
                        <a:spcBef>
                          <a:spcPts val="0"/>
                        </a:spcBef>
                        <a:spcAft>
                          <a:spcPts val="0"/>
                        </a:spcAft>
                        <a:buClr>
                          <a:srgbClr val="14233D"/>
                        </a:buClr>
                        <a:buSzPts val="1300"/>
                        <a:buFont typeface="Poppins"/>
                        <a:buNone/>
                      </a:pPr>
                      <a:r>
                        <a:rPr b="1" lang="en-US" sz="1300" u="none" cap="none" strike="noStrike">
                          <a:solidFill>
                            <a:srgbClr val="14233D"/>
                          </a:solidFill>
                          <a:latin typeface="Poppins"/>
                          <a:ea typeface="Poppins"/>
                          <a:cs typeface="Poppins"/>
                          <a:sym typeface="Poppins"/>
                        </a:rPr>
                        <a:t>Weeks 3-4</a:t>
                      </a:r>
                      <a:endParaRPr sz="1200" u="none" cap="none" strike="noStrike">
                        <a:latin typeface="Poppins"/>
                        <a:ea typeface="Poppins"/>
                        <a:cs typeface="Poppins"/>
                        <a:sym typeface="Poppins"/>
                      </a:endParaRPr>
                    </a:p>
                    <a:p>
                      <a:pPr indent="0" lvl="0" marL="0" marR="0" rtl="0" algn="l">
                        <a:spcBef>
                          <a:spcPts val="0"/>
                        </a:spcBef>
                        <a:spcAft>
                          <a:spcPts val="0"/>
                        </a:spcAft>
                        <a:buClr>
                          <a:srgbClr val="6E7C92"/>
                        </a:buClr>
                        <a:buSzPts val="1050"/>
                        <a:buFont typeface="Poppins"/>
                        <a:buNone/>
                      </a:pPr>
                      <a:r>
                        <a:rPr lang="en-US" sz="1050" u="none" cap="none" strike="noStrike">
                          <a:solidFill>
                            <a:srgbClr val="6E7C92"/>
                          </a:solidFill>
                          <a:latin typeface="Poppins"/>
                          <a:ea typeface="Poppins"/>
                          <a:cs typeface="Poppins"/>
                          <a:sym typeface="Poppins"/>
                        </a:rPr>
                        <a:t>Core build</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Deploy vector &amp; graph DBs (Neo4j)</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Build Reasoner &amp; Verifier multi-agent system</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Build map UI and property interaction flows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Implement hallucination checks on edges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r>
              <a:tr h="932700">
                <a:tc>
                  <a:txBody>
                    <a:bodyPr/>
                    <a:lstStyle/>
                    <a:p>
                      <a:pPr indent="0" lvl="0" marL="0" marR="0" rtl="0" algn="l">
                        <a:spcBef>
                          <a:spcPts val="0"/>
                        </a:spcBef>
                        <a:spcAft>
                          <a:spcPts val="0"/>
                        </a:spcAft>
                        <a:buClr>
                          <a:srgbClr val="14233D"/>
                        </a:buClr>
                        <a:buSzPts val="1300"/>
                        <a:buFont typeface="Poppins"/>
                        <a:buNone/>
                      </a:pPr>
                      <a:r>
                        <a:rPr b="1" lang="en-US" sz="1300" u="none" cap="none" strike="noStrike">
                          <a:solidFill>
                            <a:srgbClr val="14233D"/>
                          </a:solidFill>
                          <a:latin typeface="Poppins"/>
                          <a:ea typeface="Poppins"/>
                          <a:cs typeface="Poppins"/>
                          <a:sym typeface="Poppins"/>
                        </a:rPr>
                        <a:t>Week 5</a:t>
                      </a:r>
                      <a:endParaRPr sz="1200" u="none" cap="none" strike="noStrike">
                        <a:latin typeface="Poppins"/>
                        <a:ea typeface="Poppins"/>
                        <a:cs typeface="Poppins"/>
                        <a:sym typeface="Poppins"/>
                      </a:endParaRPr>
                    </a:p>
                    <a:p>
                      <a:pPr indent="0" lvl="0" marL="0" marR="0" rtl="0" algn="l">
                        <a:spcBef>
                          <a:spcPts val="0"/>
                        </a:spcBef>
                        <a:spcAft>
                          <a:spcPts val="0"/>
                        </a:spcAft>
                        <a:buClr>
                          <a:srgbClr val="6E7C92"/>
                        </a:buClr>
                        <a:buSzPts val="1050"/>
                        <a:buFont typeface="Poppins"/>
                        <a:buNone/>
                      </a:pPr>
                      <a:r>
                        <a:rPr lang="en-US" sz="1050" u="none" cap="none" strike="noStrike">
                          <a:solidFill>
                            <a:srgbClr val="6E7C92"/>
                          </a:solidFill>
                          <a:latin typeface="Poppins"/>
                          <a:ea typeface="Poppins"/>
                          <a:cs typeface="Poppins"/>
                          <a:sym typeface="Poppins"/>
                        </a:rPr>
                        <a:t>Backtest</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Optimize query pipelines &amp; latency</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Refine retrieval context</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Connect API endpoints to the frontend</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Run historical backtesting against sales data</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r>
              <a:tr h="932700">
                <a:tc>
                  <a:txBody>
                    <a:bodyPr/>
                    <a:lstStyle/>
                    <a:p>
                      <a:pPr indent="0" lvl="0" marL="0" marR="0" rtl="0" algn="l">
                        <a:spcBef>
                          <a:spcPts val="0"/>
                        </a:spcBef>
                        <a:spcAft>
                          <a:spcPts val="0"/>
                        </a:spcAft>
                        <a:buClr>
                          <a:srgbClr val="14233D"/>
                        </a:buClr>
                        <a:buSzPts val="1300"/>
                        <a:buFont typeface="Poppins"/>
                        <a:buNone/>
                      </a:pPr>
                      <a:r>
                        <a:rPr b="1" lang="en-US" sz="1300" u="none" cap="none" strike="noStrike">
                          <a:solidFill>
                            <a:srgbClr val="14233D"/>
                          </a:solidFill>
                          <a:latin typeface="Poppins"/>
                          <a:ea typeface="Poppins"/>
                          <a:cs typeface="Poppins"/>
                          <a:sym typeface="Poppins"/>
                        </a:rPr>
                        <a:t>Week 6</a:t>
                      </a:r>
                      <a:endParaRPr sz="1200" u="none" cap="none" strike="noStrike">
                        <a:latin typeface="Poppins"/>
                        <a:ea typeface="Poppins"/>
                        <a:cs typeface="Poppins"/>
                        <a:sym typeface="Poppins"/>
                      </a:endParaRPr>
                    </a:p>
                    <a:p>
                      <a:pPr indent="0" lvl="0" marL="0" marR="0" rtl="0" algn="l">
                        <a:spcBef>
                          <a:spcPts val="0"/>
                        </a:spcBef>
                        <a:spcAft>
                          <a:spcPts val="0"/>
                        </a:spcAft>
                        <a:buClr>
                          <a:srgbClr val="6E7C92"/>
                        </a:buClr>
                        <a:buSzPts val="1050"/>
                        <a:buFont typeface="Poppins"/>
                        <a:buNone/>
                      </a:pPr>
                      <a:r>
                        <a:rPr lang="en-US" sz="1050" u="none" cap="none" strike="noStrike">
                          <a:solidFill>
                            <a:srgbClr val="6E7C92"/>
                          </a:solidFill>
                          <a:latin typeface="Poppins"/>
                          <a:ea typeface="Poppins"/>
                          <a:cs typeface="Poppins"/>
                          <a:sym typeface="Poppins"/>
                        </a:rPr>
                        <a:t>Delivery</a:t>
                      </a:r>
                      <a:endParaRPr sz="12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Final database snapshot &amp; lockdown</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Freeze model parameters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Final UI polish &amp; demo prep</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l">
                        <a:spcBef>
                          <a:spcPts val="0"/>
                        </a:spcBef>
                        <a:spcAft>
                          <a:spcPts val="0"/>
                        </a:spcAft>
                        <a:buClr>
                          <a:srgbClr val="3D4B62"/>
                        </a:buClr>
                        <a:buSzPts val="1150"/>
                        <a:buFont typeface="Poppins"/>
                        <a:buNone/>
                      </a:pPr>
                      <a:r>
                        <a:rPr lang="en-US" sz="1150" u="none" cap="none" strike="noStrike">
                          <a:solidFill>
                            <a:srgbClr val="3D4B62"/>
                          </a:solidFill>
                          <a:latin typeface="Poppins"/>
                          <a:ea typeface="Poppins"/>
                          <a:cs typeface="Poppins"/>
                          <a:sym typeface="Poppins"/>
                        </a:rPr>
                        <a:t>End-to-end user-flow testing</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2" name="Shape 402"/>
        <p:cNvGrpSpPr/>
        <p:nvPr/>
      </p:nvGrpSpPr>
      <p:grpSpPr>
        <a:xfrm>
          <a:off x="0" y="0"/>
          <a:ext cx="0" cy="0"/>
          <a:chOff x="0" y="0"/>
          <a:chExt cx="0" cy="0"/>
        </a:xfrm>
      </p:grpSpPr>
      <p:sp>
        <p:nvSpPr>
          <p:cNvPr id="403" name="Google Shape;403;p17"/>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We Measure Accuracy AND the Explanation</a:t>
            </a:r>
            <a:endParaRPr b="0" i="0" sz="2800" u="none" cap="none" strike="noStrike">
              <a:solidFill>
                <a:schemeClr val="dk1"/>
              </a:solidFill>
              <a:latin typeface="Calibri"/>
              <a:ea typeface="Calibri"/>
              <a:cs typeface="Calibri"/>
              <a:sym typeface="Calibri"/>
            </a:endParaRPr>
          </a:p>
        </p:txBody>
      </p:sp>
      <p:sp>
        <p:nvSpPr>
          <p:cNvPr id="404" name="Google Shape;404;p17"/>
          <p:cNvSpPr/>
          <p:nvPr/>
        </p:nvSpPr>
        <p:spPr>
          <a:xfrm>
            <a:off x="640080" y="1463040"/>
            <a:ext cx="4297680" cy="3703320"/>
          </a:xfrm>
          <a:prstGeom prst="roundRect">
            <a:avLst>
              <a:gd fmla="val 3210"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7"/>
          <p:cNvSpPr/>
          <p:nvPr/>
        </p:nvSpPr>
        <p:spPr>
          <a:xfrm>
            <a:off x="914400" y="1664208"/>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550"/>
              <a:buFont typeface="Poppins"/>
              <a:buNone/>
            </a:pPr>
            <a:r>
              <a:rPr b="1" i="0" lang="en-US" sz="1550" u="none" cap="none" strike="noStrike">
                <a:solidFill>
                  <a:srgbClr val="14233D"/>
                </a:solidFill>
                <a:latin typeface="Poppins"/>
                <a:ea typeface="Poppins"/>
                <a:cs typeface="Poppins"/>
                <a:sym typeface="Poppins"/>
              </a:rPr>
              <a:t>How we test</a:t>
            </a:r>
            <a:endParaRPr b="0" i="0" sz="1550" u="none" cap="none" strike="noStrike">
              <a:solidFill>
                <a:schemeClr val="dk1"/>
              </a:solidFill>
              <a:latin typeface="Calibri"/>
              <a:ea typeface="Calibri"/>
              <a:cs typeface="Calibri"/>
              <a:sym typeface="Calibri"/>
            </a:endParaRPr>
          </a:p>
        </p:txBody>
      </p:sp>
      <p:sp>
        <p:nvSpPr>
          <p:cNvPr id="406" name="Google Shape;406;p17"/>
          <p:cNvSpPr/>
          <p:nvPr/>
        </p:nvSpPr>
        <p:spPr>
          <a:xfrm>
            <a:off x="960120" y="2121408"/>
            <a:ext cx="3749040" cy="2926080"/>
          </a:xfrm>
          <a:prstGeom prst="rect">
            <a:avLst/>
          </a:prstGeom>
          <a:noFill/>
          <a:ln>
            <a:noFill/>
          </a:ln>
        </p:spPr>
        <p:txBody>
          <a:bodyPr anchorCtr="0" anchor="ctr" bIns="0" lIns="0" spcFirstLastPara="1" rIns="0" wrap="square" tIns="0">
            <a:noAutofit/>
          </a:bodyPr>
          <a:lstStyle/>
          <a:p>
            <a:pPr indent="-203200" lvl="0" marL="203200" marR="0" rtl="0" algn="l">
              <a:lnSpc>
                <a:spcPct val="110000"/>
              </a:lnSpc>
              <a:spcBef>
                <a:spcPts val="0"/>
              </a:spcBef>
              <a:spcAft>
                <a:spcPts val="0"/>
              </a:spcAft>
              <a:buClr>
                <a:srgbClr val="14233D"/>
              </a:buClr>
              <a:buSzPts val="1300"/>
              <a:buFont typeface="Poppins"/>
              <a:buChar char="•"/>
            </a:pPr>
            <a:r>
              <a:rPr b="1" i="0" lang="en-US" sz="1300" u="none" cap="none" strike="noStrike">
                <a:solidFill>
                  <a:srgbClr val="14233D"/>
                </a:solidFill>
                <a:latin typeface="Poppins"/>
                <a:ea typeface="Poppins"/>
                <a:cs typeface="Poppins"/>
                <a:sym typeface="Poppins"/>
              </a:rPr>
              <a:t>Answer key = real sale prices</a:t>
            </a:r>
            <a:endParaRPr b="0" i="0" sz="130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3D4B62"/>
              </a:buClr>
              <a:buSzPts val="1250"/>
              <a:buFont typeface="Poppins"/>
              <a:buChar char="•"/>
            </a:pPr>
            <a:r>
              <a:rPr b="0" i="0" lang="en-US" sz="1250" u="none" cap="none" strike="noStrike">
                <a:solidFill>
                  <a:srgbClr val="3D4B62"/>
                </a:solidFill>
                <a:latin typeface="Poppins"/>
                <a:ea typeface="Poppins"/>
                <a:cs typeface="Poppins"/>
                <a:sym typeface="Poppins"/>
              </a:rPr>
              <a:t>Build the graph as of a past date, predict, compare to what actually sold</a:t>
            </a:r>
            <a:endParaRPr b="0" i="0" sz="1300" u="none" cap="none" strike="noStrike">
              <a:solidFill>
                <a:schemeClr val="dk1"/>
              </a:solidFill>
              <a:latin typeface="Calibri"/>
              <a:ea typeface="Calibri"/>
              <a:cs typeface="Calibri"/>
              <a:sym typeface="Calibri"/>
            </a:endParaRPr>
          </a:p>
          <a:p>
            <a:pPr indent="-203200" lvl="0" marL="203200" marR="0" rtl="0" algn="l">
              <a:lnSpc>
                <a:spcPct val="110000"/>
              </a:lnSpc>
              <a:spcBef>
                <a:spcPts val="600"/>
              </a:spcBef>
              <a:spcAft>
                <a:spcPts val="0"/>
              </a:spcAft>
              <a:buClr>
                <a:srgbClr val="3D4B62"/>
              </a:buClr>
              <a:buSzPts val="1250"/>
              <a:buFont typeface="Poppins"/>
              <a:buChar char="•"/>
            </a:pPr>
            <a:r>
              <a:rPr b="0" i="0" lang="en-US" sz="1250" u="none" cap="none" strike="noStrike">
                <a:solidFill>
                  <a:srgbClr val="3D4B62"/>
                </a:solidFill>
                <a:latin typeface="Poppins"/>
                <a:ea typeface="Poppins"/>
                <a:cs typeface="Poppins"/>
                <a:sym typeface="Poppins"/>
              </a:rPr>
              <a:t>Walk-forward, strict no-peeking splits</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1000"/>
              </a:spcBef>
              <a:spcAft>
                <a:spcPts val="0"/>
              </a:spcAft>
              <a:buClr>
                <a:srgbClr val="14233D"/>
              </a:buClr>
              <a:buSzPts val="1300"/>
              <a:buFont typeface="Poppins"/>
              <a:buNone/>
            </a:pPr>
            <a:r>
              <a:rPr b="1" i="0" lang="en-US" sz="1300" u="none" cap="none" strike="noStrike">
                <a:solidFill>
                  <a:srgbClr val="14233D"/>
                </a:solidFill>
                <a:latin typeface="Poppins"/>
                <a:ea typeface="Poppins"/>
                <a:cs typeface="Poppins"/>
                <a:sym typeface="Poppins"/>
              </a:rPr>
              <a:t>Three baselines, same data:</a:t>
            </a:r>
            <a:endParaRPr b="0" i="0" sz="1300" u="none" cap="none" strike="noStrike">
              <a:solidFill>
                <a:schemeClr val="dk1"/>
              </a:solidFill>
              <a:latin typeface="Calibri"/>
              <a:ea typeface="Calibri"/>
              <a:cs typeface="Calibri"/>
              <a:sym typeface="Calibri"/>
            </a:endParaRPr>
          </a:p>
          <a:p>
            <a:pPr indent="0" lvl="0" marL="0" marR="0" rtl="0" algn="l">
              <a:lnSpc>
                <a:spcPct val="110000"/>
              </a:lnSpc>
              <a:spcBef>
                <a:spcPts val="600"/>
              </a:spcBef>
              <a:spcAft>
                <a:spcPts val="0"/>
              </a:spcAft>
              <a:buClr>
                <a:srgbClr val="1565D8"/>
              </a:buClr>
              <a:buSzPts val="1200"/>
              <a:buFont typeface="Poppins"/>
              <a:buNone/>
            </a:pPr>
            <a:r>
              <a:rPr b="0" i="0" lang="en-US" sz="1200" u="none" cap="none" strike="noStrike">
                <a:solidFill>
                  <a:srgbClr val="1565D8"/>
                </a:solidFill>
                <a:latin typeface="Poppins"/>
                <a:ea typeface="Poppins"/>
                <a:cs typeface="Poppins"/>
                <a:sym typeface="Poppins"/>
              </a:rPr>
              <a:t>simple model · comp-matching · our graph reasoner</a:t>
            </a:r>
            <a:endParaRPr b="0" i="0" sz="1300" u="none" cap="none" strike="noStrike">
              <a:solidFill>
                <a:schemeClr val="dk1"/>
              </a:solidFill>
              <a:latin typeface="Calibri"/>
              <a:ea typeface="Calibri"/>
              <a:cs typeface="Calibri"/>
              <a:sym typeface="Calibri"/>
            </a:endParaRPr>
          </a:p>
        </p:txBody>
      </p:sp>
      <p:graphicFrame>
        <p:nvGraphicFramePr>
          <p:cNvPr id="407" name="Google Shape;407;p17"/>
          <p:cNvGraphicFramePr/>
          <p:nvPr/>
        </p:nvGraphicFramePr>
        <p:xfrm>
          <a:off x="5120640" y="1463040"/>
          <a:ext cx="3000000" cy="3000000"/>
        </p:xfrm>
        <a:graphic>
          <a:graphicData uri="http://schemas.openxmlformats.org/drawingml/2006/table">
            <a:tbl>
              <a:tblPr>
                <a:noFill/>
                <a:tableStyleId>{E11D1FEF-33C9-44F1-A661-5C6B31074650}</a:tableStyleId>
              </a:tblPr>
              <a:tblGrid>
                <a:gridCol w="2423150"/>
                <a:gridCol w="1335025"/>
                <a:gridCol w="1335025"/>
                <a:gridCol w="1335025"/>
              </a:tblGrid>
              <a:tr h="457200">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Capability</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Simple AVM</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ctr">
                        <a:spcBef>
                          <a:spcPts val="0"/>
                        </a:spcBef>
                        <a:spcAft>
                          <a:spcPts val="0"/>
                        </a:spcAft>
                        <a:buClr>
                          <a:srgbClr val="1565D8"/>
                        </a:buClr>
                        <a:buSzPts val="1150"/>
                        <a:buFont typeface="Poppins"/>
                        <a:buNone/>
                      </a:pPr>
                      <a:r>
                        <a:rPr b="1" lang="en-US" sz="1150" u="none" cap="none" strike="noStrike">
                          <a:solidFill>
                            <a:srgbClr val="1565D8"/>
                          </a:solidFill>
                          <a:latin typeface="Poppins"/>
                          <a:ea typeface="Poppins"/>
                          <a:cs typeface="Poppins"/>
                          <a:sym typeface="Poppins"/>
                        </a:rPr>
                        <a:t>Comp match</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DF3FB"/>
                    </a:solidFill>
                  </a:tcPr>
                </a:tc>
                <a:tc>
                  <a:txBody>
                    <a:bodyPr/>
                    <a:lstStyle/>
                    <a:p>
                      <a:pPr indent="0" lvl="0" marL="0" marR="0" rtl="0" algn="ctr">
                        <a:spcBef>
                          <a:spcPts val="0"/>
                        </a:spcBef>
                        <a:spcAft>
                          <a:spcPts val="0"/>
                        </a:spcAft>
                        <a:buClr>
                          <a:srgbClr val="FFFFFF"/>
                        </a:buClr>
                        <a:buSzPts val="1150"/>
                        <a:buFont typeface="Poppins"/>
                        <a:buNone/>
                      </a:pPr>
                      <a:r>
                        <a:rPr b="1" lang="en-US" sz="1150" u="none" cap="none" strike="noStrike">
                          <a:solidFill>
                            <a:srgbClr val="FFFFFF"/>
                          </a:solidFill>
                          <a:latin typeface="Poppins"/>
                          <a:ea typeface="Poppins"/>
                          <a:cs typeface="Poppins"/>
                          <a:sym typeface="Poppins"/>
                        </a:rPr>
                        <a:t>Graph reasoner</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1565D8"/>
                    </a:solidFill>
                  </a:tcPr>
                </a:tc>
              </a:tr>
              <a:tr h="502925">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Valuation accuracy</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baseline</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baseline</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B4AA6"/>
                        </a:buClr>
                        <a:buSzPts val="1150"/>
                        <a:buFont typeface="Poppins"/>
                        <a:buNone/>
                      </a:pPr>
                      <a:r>
                        <a:rPr b="1" lang="en-US" sz="1150" u="none" cap="none" strike="noStrike">
                          <a:solidFill>
                            <a:srgbClr val="0B4AA6"/>
                          </a:solidFill>
                          <a:latin typeface="Poppins"/>
                          <a:ea typeface="Poppins"/>
                          <a:cs typeface="Poppins"/>
                          <a:sym typeface="Poppins"/>
                        </a:rPr>
                        <a:t>target ≥ base*</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7F0FC"/>
                    </a:solidFill>
                  </a:tcPr>
                </a:tc>
              </a:tr>
              <a:tr h="502925">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Calibrated confidence</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B4AA6"/>
                        </a:buClr>
                        <a:buSzPts val="1150"/>
                        <a:buFont typeface="Poppins"/>
                        <a:buNone/>
                      </a:pPr>
                      <a:r>
                        <a:rPr b="1" lang="en-US" sz="1150" u="none" cap="none" strike="noStrike">
                          <a:solidFill>
                            <a:srgbClr val="0B4AA6"/>
                          </a:solidFill>
                          <a:latin typeface="Poppins"/>
                          <a:ea typeface="Poppins"/>
                          <a:cs typeface="Poppins"/>
                          <a:sym typeface="Poppins"/>
                        </a:rPr>
                        <a:t>✓</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7F0FC"/>
                    </a:solidFill>
                  </a:tcPr>
                </a:tc>
              </a:tr>
              <a:tr h="502925">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Relational value</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B4AA6"/>
                        </a:buClr>
                        <a:buSzPts val="1150"/>
                        <a:buFont typeface="Poppins"/>
                        <a:buNone/>
                      </a:pPr>
                      <a:r>
                        <a:rPr b="1" lang="en-US" sz="1150" u="none" cap="none" strike="noStrike">
                          <a:solidFill>
                            <a:srgbClr val="0B4AA6"/>
                          </a:solidFill>
                          <a:latin typeface="Poppins"/>
                          <a:ea typeface="Poppins"/>
                          <a:cs typeface="Poppins"/>
                          <a:sym typeface="Poppins"/>
                        </a:rPr>
                        <a:t>✓</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7F0FC"/>
                    </a:solidFill>
                  </a:tcPr>
                </a:tc>
              </a:tr>
              <a:tr h="502925">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Traceable why</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partial</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B4AA6"/>
                        </a:buClr>
                        <a:buSzPts val="1150"/>
                        <a:buFont typeface="Poppins"/>
                        <a:buNone/>
                      </a:pPr>
                      <a:r>
                        <a:rPr b="1" lang="en-US" sz="1150" u="none" cap="none" strike="noStrike">
                          <a:solidFill>
                            <a:srgbClr val="0B4AA6"/>
                          </a:solidFill>
                          <a:latin typeface="Poppins"/>
                          <a:ea typeface="Poppins"/>
                          <a:cs typeface="Poppins"/>
                          <a:sym typeface="Poppins"/>
                        </a:rPr>
                        <a:t>✓</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7F0FC"/>
                    </a:solidFill>
                  </a:tcPr>
                </a:tc>
              </a:tr>
              <a:tr h="502925">
                <a:tc>
                  <a:txBody>
                    <a:bodyPr/>
                    <a:lstStyle/>
                    <a:p>
                      <a:pPr indent="0" lvl="0" marL="0" marR="0" rtl="0" algn="l">
                        <a:spcBef>
                          <a:spcPts val="0"/>
                        </a:spcBef>
                        <a:spcAft>
                          <a:spcPts val="0"/>
                        </a:spcAft>
                        <a:buClr>
                          <a:srgbClr val="14233D"/>
                        </a:buClr>
                        <a:buSzPts val="1150"/>
                        <a:buFont typeface="Poppins"/>
                        <a:buNone/>
                      </a:pPr>
                      <a:r>
                        <a:rPr b="1" lang="en-US" sz="1150" u="none" cap="none" strike="noStrike">
                          <a:solidFill>
                            <a:srgbClr val="14233D"/>
                          </a:solidFill>
                          <a:latin typeface="Poppins"/>
                          <a:ea typeface="Poppins"/>
                          <a:cs typeface="Poppins"/>
                          <a:sym typeface="Poppins"/>
                        </a:rPr>
                        <a:t>Catches hallucinations</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6E7C92"/>
                        </a:buClr>
                        <a:buSzPts val="1100"/>
                        <a:buFont typeface="Poppins"/>
                        <a:buNone/>
                      </a:pPr>
                      <a:r>
                        <a:rPr lang="en-US" sz="1100" u="none" cap="none" strike="noStrike">
                          <a:solidFill>
                            <a:srgbClr val="6E7C92"/>
                          </a:solidFill>
                          <a:latin typeface="Poppins"/>
                          <a:ea typeface="Poppins"/>
                          <a:cs typeface="Poppins"/>
                          <a:sym typeface="Poppins"/>
                        </a:rPr>
                        <a:t>—</a:t>
                      </a:r>
                      <a:endParaRPr sz="110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F5F8FC"/>
                    </a:solidFill>
                  </a:tcPr>
                </a:tc>
                <a:tc>
                  <a:txBody>
                    <a:bodyPr/>
                    <a:lstStyle/>
                    <a:p>
                      <a:pPr indent="0" lvl="0" marL="0" marR="0" rtl="0" algn="ctr">
                        <a:spcBef>
                          <a:spcPts val="0"/>
                        </a:spcBef>
                        <a:spcAft>
                          <a:spcPts val="0"/>
                        </a:spcAft>
                        <a:buClr>
                          <a:srgbClr val="0B4AA6"/>
                        </a:buClr>
                        <a:buSzPts val="1150"/>
                        <a:buFont typeface="Poppins"/>
                        <a:buNone/>
                      </a:pPr>
                      <a:r>
                        <a:rPr b="1" lang="en-US" sz="1150" u="none" cap="none" strike="noStrike">
                          <a:solidFill>
                            <a:srgbClr val="0B4AA6"/>
                          </a:solidFill>
                          <a:latin typeface="Poppins"/>
                          <a:ea typeface="Poppins"/>
                          <a:cs typeface="Poppins"/>
                          <a:sym typeface="Poppins"/>
                        </a:rPr>
                        <a:t>✓</a:t>
                      </a:r>
                      <a:endParaRPr sz="1150" u="none" cap="none" strike="noStrike">
                        <a:latin typeface="Poppins"/>
                        <a:ea typeface="Poppins"/>
                        <a:cs typeface="Poppins"/>
                        <a:sym typeface="Poppins"/>
                      </a:endParaRPr>
                    </a:p>
                  </a:txBody>
                  <a:tcPr marT="45725" marB="45725" marR="91450" marL="91450" anchor="ctr">
                    <a:lnL cap="flat" cmpd="sng" w="12700">
                      <a:solidFill>
                        <a:srgbClr val="DBE5F1"/>
                      </a:solidFill>
                      <a:prstDash val="solid"/>
                      <a:round/>
                      <a:headEnd len="sm" w="sm" type="none"/>
                      <a:tailEnd len="sm" w="sm" type="none"/>
                    </a:lnL>
                    <a:lnR cap="flat" cmpd="sng" w="12700">
                      <a:solidFill>
                        <a:srgbClr val="DBE5F1"/>
                      </a:solidFill>
                      <a:prstDash val="solid"/>
                      <a:round/>
                      <a:headEnd len="sm" w="sm" type="none"/>
                      <a:tailEnd len="sm" w="sm" type="none"/>
                    </a:lnR>
                    <a:lnT cap="flat" cmpd="sng" w="12700">
                      <a:solidFill>
                        <a:srgbClr val="DBE5F1"/>
                      </a:solidFill>
                      <a:prstDash val="solid"/>
                      <a:round/>
                      <a:headEnd len="sm" w="sm" type="none"/>
                      <a:tailEnd len="sm" w="sm" type="none"/>
                    </a:lnT>
                    <a:lnB cap="flat" cmpd="sng" w="12700">
                      <a:solidFill>
                        <a:srgbClr val="DBE5F1"/>
                      </a:solidFill>
                      <a:prstDash val="solid"/>
                      <a:round/>
                      <a:headEnd len="sm" w="sm" type="none"/>
                      <a:tailEnd len="sm" w="sm" type="none"/>
                    </a:lnB>
                    <a:solidFill>
                      <a:srgbClr val="E7F0FC"/>
                    </a:solidFill>
                  </a:tcPr>
                </a:tc>
              </a:tr>
            </a:tbl>
          </a:graphicData>
        </a:graphic>
      </p:graphicFrame>
      <p:sp>
        <p:nvSpPr>
          <p:cNvPr id="408" name="Google Shape;408;p17"/>
          <p:cNvSpPr/>
          <p:nvPr/>
        </p:nvSpPr>
        <p:spPr>
          <a:xfrm>
            <a:off x="5120640" y="4983480"/>
            <a:ext cx="6428232" cy="914400"/>
          </a:xfrm>
          <a:prstGeom prst="roundRect">
            <a:avLst>
              <a:gd fmla="val 13000" name="adj"/>
            </a:avLst>
          </a:prstGeom>
          <a:solidFill>
            <a:srgbClr val="FBF0D9"/>
          </a:solidFill>
          <a:ln cap="flat" cmpd="sng" w="12700">
            <a:solidFill>
              <a:srgbClr val="EFDBA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5349240" y="4983480"/>
            <a:ext cx="59436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5208"/>
              </a:buClr>
              <a:buSzPts val="1200"/>
              <a:buFont typeface="Poppins"/>
              <a:buNone/>
            </a:pPr>
            <a:r>
              <a:rPr b="1" i="0" lang="en-US" sz="1200" u="none" cap="none" strike="noStrike">
                <a:solidFill>
                  <a:srgbClr val="8A5208"/>
                </a:solidFill>
                <a:latin typeface="Poppins"/>
                <a:ea typeface="Poppins"/>
                <a:cs typeface="Poppins"/>
                <a:sym typeface="Poppins"/>
              </a:rPr>
              <a:t>Headline:  </a:t>
            </a:r>
            <a:r>
              <a:rPr b="0" i="0" lang="en-US" sz="1200" u="none" cap="none" strike="noStrike">
                <a:solidFill>
                  <a:srgbClr val="14233D"/>
                </a:solidFill>
                <a:latin typeface="Poppins"/>
                <a:ea typeface="Poppins"/>
                <a:cs typeface="Poppins"/>
                <a:sym typeface="Poppins"/>
              </a:rPr>
              <a:t>we win on the relational slice, and the advantage grows with complexity.  </a:t>
            </a:r>
            <a:r>
              <a:rPr b="0" i="1" lang="en-US" sz="1200" u="none" cap="none" strike="noStrike">
                <a:solidFill>
                  <a:srgbClr val="6E7C92"/>
                </a:solidFill>
                <a:latin typeface="Poppins"/>
                <a:ea typeface="Poppins"/>
                <a:cs typeface="Poppins"/>
                <a:sym typeface="Poppins"/>
              </a:rPr>
              <a:t>*accuracy is a backtest target, not a claimed result.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4" name="Shape 414"/>
        <p:cNvGrpSpPr/>
        <p:nvPr/>
      </p:nvGrpSpPr>
      <p:grpSpPr>
        <a:xfrm>
          <a:off x="0" y="0"/>
          <a:ext cx="0" cy="0"/>
          <a:chOff x="0" y="0"/>
          <a:chExt cx="0" cy="0"/>
        </a:xfrm>
      </p:grpSpPr>
      <p:sp>
        <p:nvSpPr>
          <p:cNvPr id="415" name="Google Shape;415;p18"/>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Questions We're Ready For</a:t>
            </a:r>
            <a:endParaRPr b="0" i="0" sz="2800" u="none" cap="none" strike="noStrike">
              <a:solidFill>
                <a:schemeClr val="dk1"/>
              </a:solidFill>
              <a:latin typeface="Calibri"/>
              <a:ea typeface="Calibri"/>
              <a:cs typeface="Calibri"/>
              <a:sym typeface="Calibri"/>
            </a:endParaRPr>
          </a:p>
        </p:txBody>
      </p:sp>
      <p:sp>
        <p:nvSpPr>
          <p:cNvPr id="416" name="Google Shape;416;p18"/>
          <p:cNvSpPr/>
          <p:nvPr/>
        </p:nvSpPr>
        <p:spPr>
          <a:xfrm>
            <a:off x="640080" y="1508760"/>
            <a:ext cx="3502152" cy="1783080"/>
          </a:xfrm>
          <a:prstGeom prst="roundRect">
            <a:avLst>
              <a:gd fmla="val 666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8"/>
          <p:cNvSpPr/>
          <p:nvPr/>
        </p:nvSpPr>
        <p:spPr>
          <a:xfrm>
            <a:off x="896112" y="1709928"/>
            <a:ext cx="365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600"/>
              <a:buFont typeface="Poppins"/>
              <a:buNone/>
            </a:pPr>
            <a:r>
              <a:rPr b="1" i="0" lang="en-US" sz="1600" u="none" cap="none" strike="noStrike">
                <a:solidFill>
                  <a:srgbClr val="1565D8"/>
                </a:solidFill>
                <a:latin typeface="Poppins"/>
                <a:ea typeface="Poppins"/>
                <a:cs typeface="Poppins"/>
                <a:sym typeface="Poppins"/>
              </a:rPr>
              <a:t>Q</a:t>
            </a:r>
            <a:endParaRPr b="0" i="0" sz="1600" u="none" cap="none" strike="noStrike">
              <a:solidFill>
                <a:schemeClr val="dk1"/>
              </a:solidFill>
              <a:latin typeface="Calibri"/>
              <a:ea typeface="Calibri"/>
              <a:cs typeface="Calibri"/>
              <a:sym typeface="Calibri"/>
            </a:endParaRPr>
          </a:p>
        </p:txBody>
      </p:sp>
      <p:sp>
        <p:nvSpPr>
          <p:cNvPr id="418" name="Google Shape;418;p18"/>
          <p:cNvSpPr/>
          <p:nvPr/>
        </p:nvSpPr>
        <p:spPr>
          <a:xfrm>
            <a:off x="1207008" y="1709928"/>
            <a:ext cx="2724912"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233D"/>
              </a:buClr>
              <a:buSzPts val="1250"/>
              <a:buFont typeface="Poppins"/>
              <a:buNone/>
            </a:pPr>
            <a:r>
              <a:rPr b="1" i="0" lang="en-US" sz="1250" u="none" cap="none" strike="noStrike">
                <a:solidFill>
                  <a:srgbClr val="14233D"/>
                </a:solidFill>
                <a:latin typeface="Poppins"/>
                <a:ea typeface="Poppins"/>
                <a:cs typeface="Poppins"/>
                <a:sym typeface="Poppins"/>
              </a:rPr>
              <a:t>Isn't this just Zillow?</a:t>
            </a:r>
            <a:endParaRPr b="0" i="0" sz="1250" u="none" cap="none" strike="noStrike">
              <a:solidFill>
                <a:schemeClr val="dk1"/>
              </a:solidFill>
              <a:latin typeface="Calibri"/>
              <a:ea typeface="Calibri"/>
              <a:cs typeface="Calibri"/>
              <a:sym typeface="Calibri"/>
            </a:endParaRPr>
          </a:p>
        </p:txBody>
      </p:sp>
      <p:sp>
        <p:nvSpPr>
          <p:cNvPr id="419" name="Google Shape;419;p18"/>
          <p:cNvSpPr/>
          <p:nvPr/>
        </p:nvSpPr>
        <p:spPr>
          <a:xfrm>
            <a:off x="896112" y="2350008"/>
            <a:ext cx="3044952"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No — Zillow gives an unexplained number. We reason over connected drivers and show a traceable, sourced why.</a:t>
            </a:r>
            <a:endParaRPr b="0" i="0" sz="1150" u="none" cap="none" strike="noStrike">
              <a:solidFill>
                <a:schemeClr val="dk1"/>
              </a:solidFill>
              <a:latin typeface="Calibri"/>
              <a:ea typeface="Calibri"/>
              <a:cs typeface="Calibri"/>
              <a:sym typeface="Calibri"/>
            </a:endParaRPr>
          </a:p>
        </p:txBody>
      </p:sp>
      <p:sp>
        <p:nvSpPr>
          <p:cNvPr id="420" name="Google Shape;420;p18"/>
          <p:cNvSpPr/>
          <p:nvPr/>
        </p:nvSpPr>
        <p:spPr>
          <a:xfrm>
            <a:off x="4343400" y="1508760"/>
            <a:ext cx="3502152" cy="1783080"/>
          </a:xfrm>
          <a:prstGeom prst="roundRect">
            <a:avLst>
              <a:gd fmla="val 666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8"/>
          <p:cNvSpPr/>
          <p:nvPr/>
        </p:nvSpPr>
        <p:spPr>
          <a:xfrm>
            <a:off x="4599432" y="1709928"/>
            <a:ext cx="365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600"/>
              <a:buFont typeface="Poppins"/>
              <a:buNone/>
            </a:pPr>
            <a:r>
              <a:rPr b="1" i="0" lang="en-US" sz="1600" u="none" cap="none" strike="noStrike">
                <a:solidFill>
                  <a:srgbClr val="1565D8"/>
                </a:solidFill>
                <a:latin typeface="Poppins"/>
                <a:ea typeface="Poppins"/>
                <a:cs typeface="Poppins"/>
                <a:sym typeface="Poppins"/>
              </a:rPr>
              <a:t>Q</a:t>
            </a:r>
            <a:endParaRPr b="0" i="0" sz="1600" u="none" cap="none" strike="noStrike">
              <a:solidFill>
                <a:schemeClr val="dk1"/>
              </a:solidFill>
              <a:latin typeface="Calibri"/>
              <a:ea typeface="Calibri"/>
              <a:cs typeface="Calibri"/>
              <a:sym typeface="Calibri"/>
            </a:endParaRPr>
          </a:p>
        </p:txBody>
      </p:sp>
      <p:sp>
        <p:nvSpPr>
          <p:cNvPr id="422" name="Google Shape;422;p18"/>
          <p:cNvSpPr/>
          <p:nvPr/>
        </p:nvSpPr>
        <p:spPr>
          <a:xfrm>
            <a:off x="4910328" y="1709928"/>
            <a:ext cx="2724912"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233D"/>
              </a:buClr>
              <a:buSzPts val="1250"/>
              <a:buFont typeface="Poppins"/>
              <a:buNone/>
            </a:pPr>
            <a:r>
              <a:rPr b="1" i="0" lang="en-US" sz="1250" u="none" cap="none" strike="noStrike">
                <a:solidFill>
                  <a:srgbClr val="14233D"/>
                </a:solidFill>
                <a:latin typeface="Poppins"/>
                <a:ea typeface="Poppins"/>
                <a:cs typeface="Poppins"/>
                <a:sym typeface="Poppins"/>
              </a:rPr>
              <a:t>Cherre already builds a graph — why you?</a:t>
            </a:r>
            <a:endParaRPr b="0" i="0" sz="1250" u="none" cap="none" strike="noStrike">
              <a:solidFill>
                <a:schemeClr val="dk1"/>
              </a:solidFill>
              <a:latin typeface="Calibri"/>
              <a:ea typeface="Calibri"/>
              <a:cs typeface="Calibri"/>
              <a:sym typeface="Calibri"/>
            </a:endParaRPr>
          </a:p>
        </p:txBody>
      </p:sp>
      <p:sp>
        <p:nvSpPr>
          <p:cNvPr id="423" name="Google Shape;423;p18"/>
          <p:cNvSpPr/>
          <p:nvPr/>
        </p:nvSpPr>
        <p:spPr>
          <a:xfrm>
            <a:off x="4599432" y="2350008"/>
            <a:ext cx="3044952"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They sell it for $25k–$300k/yr to institutions. We add the reasoning and explanation, accessible and auditable.</a:t>
            </a:r>
            <a:endParaRPr b="0" i="0" sz="1150" u="none" cap="none" strike="noStrike">
              <a:solidFill>
                <a:schemeClr val="dk1"/>
              </a:solidFill>
              <a:latin typeface="Calibri"/>
              <a:ea typeface="Calibri"/>
              <a:cs typeface="Calibri"/>
              <a:sym typeface="Calibri"/>
            </a:endParaRPr>
          </a:p>
        </p:txBody>
      </p:sp>
      <p:sp>
        <p:nvSpPr>
          <p:cNvPr id="424" name="Google Shape;424;p18"/>
          <p:cNvSpPr/>
          <p:nvPr/>
        </p:nvSpPr>
        <p:spPr>
          <a:xfrm>
            <a:off x="8046720" y="1508760"/>
            <a:ext cx="3502152" cy="1783080"/>
          </a:xfrm>
          <a:prstGeom prst="roundRect">
            <a:avLst>
              <a:gd fmla="val 666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8"/>
          <p:cNvSpPr/>
          <p:nvPr/>
        </p:nvSpPr>
        <p:spPr>
          <a:xfrm>
            <a:off x="8302752" y="1709928"/>
            <a:ext cx="365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600"/>
              <a:buFont typeface="Poppins"/>
              <a:buNone/>
            </a:pPr>
            <a:r>
              <a:rPr b="1" i="0" lang="en-US" sz="1600" u="none" cap="none" strike="noStrike">
                <a:solidFill>
                  <a:srgbClr val="1565D8"/>
                </a:solidFill>
                <a:latin typeface="Poppins"/>
                <a:ea typeface="Poppins"/>
                <a:cs typeface="Poppins"/>
                <a:sym typeface="Poppins"/>
              </a:rPr>
              <a:t>Q</a:t>
            </a:r>
            <a:endParaRPr b="0" i="0" sz="1600" u="none" cap="none" strike="noStrike">
              <a:solidFill>
                <a:schemeClr val="dk1"/>
              </a:solidFill>
              <a:latin typeface="Calibri"/>
              <a:ea typeface="Calibri"/>
              <a:cs typeface="Calibri"/>
              <a:sym typeface="Calibri"/>
            </a:endParaRPr>
          </a:p>
        </p:txBody>
      </p:sp>
      <p:sp>
        <p:nvSpPr>
          <p:cNvPr id="426" name="Google Shape;426;p18"/>
          <p:cNvSpPr/>
          <p:nvPr/>
        </p:nvSpPr>
        <p:spPr>
          <a:xfrm>
            <a:off x="8613648" y="1709928"/>
            <a:ext cx="2724912"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233D"/>
              </a:buClr>
              <a:buSzPts val="1250"/>
              <a:buFont typeface="Poppins"/>
              <a:buNone/>
            </a:pPr>
            <a:r>
              <a:rPr b="1" i="0" lang="en-US" sz="1250" u="none" cap="none" strike="noStrike">
                <a:solidFill>
                  <a:srgbClr val="14233D"/>
                </a:solidFill>
                <a:latin typeface="Poppins"/>
                <a:ea typeface="Poppins"/>
                <a:cs typeface="Poppins"/>
                <a:sym typeface="Poppins"/>
              </a:rPr>
              <a:t>How do you know it's accurate?</a:t>
            </a:r>
            <a:endParaRPr b="0" i="0" sz="1250" u="none" cap="none" strike="noStrike">
              <a:solidFill>
                <a:schemeClr val="dk1"/>
              </a:solidFill>
              <a:latin typeface="Calibri"/>
              <a:ea typeface="Calibri"/>
              <a:cs typeface="Calibri"/>
              <a:sym typeface="Calibri"/>
            </a:endParaRPr>
          </a:p>
        </p:txBody>
      </p:sp>
      <p:sp>
        <p:nvSpPr>
          <p:cNvPr id="427" name="Google Shape;427;p18"/>
          <p:cNvSpPr/>
          <p:nvPr/>
        </p:nvSpPr>
        <p:spPr>
          <a:xfrm>
            <a:off x="8302752" y="2350008"/>
            <a:ext cx="3044952"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Backtest against real sales — walk-forward, no peeking. We report calibration and a relational-slice win, not one number.</a:t>
            </a:r>
            <a:endParaRPr b="0" i="0" sz="1150" u="none" cap="none" strike="noStrike">
              <a:solidFill>
                <a:schemeClr val="dk1"/>
              </a:solidFill>
              <a:latin typeface="Calibri"/>
              <a:ea typeface="Calibri"/>
              <a:cs typeface="Calibri"/>
              <a:sym typeface="Calibri"/>
            </a:endParaRPr>
          </a:p>
        </p:txBody>
      </p:sp>
      <p:sp>
        <p:nvSpPr>
          <p:cNvPr id="428" name="Google Shape;428;p18"/>
          <p:cNvSpPr/>
          <p:nvPr/>
        </p:nvSpPr>
        <p:spPr>
          <a:xfrm>
            <a:off x="640080" y="3529584"/>
            <a:ext cx="3502152" cy="1783080"/>
          </a:xfrm>
          <a:prstGeom prst="roundRect">
            <a:avLst>
              <a:gd fmla="val 666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8"/>
          <p:cNvSpPr/>
          <p:nvPr/>
        </p:nvSpPr>
        <p:spPr>
          <a:xfrm>
            <a:off x="896112" y="3730752"/>
            <a:ext cx="365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600"/>
              <a:buFont typeface="Poppins"/>
              <a:buNone/>
            </a:pPr>
            <a:r>
              <a:rPr b="1" i="0" lang="en-US" sz="1600" u="none" cap="none" strike="noStrike">
                <a:solidFill>
                  <a:srgbClr val="1565D8"/>
                </a:solidFill>
                <a:latin typeface="Poppins"/>
                <a:ea typeface="Poppins"/>
                <a:cs typeface="Poppins"/>
                <a:sym typeface="Poppins"/>
              </a:rPr>
              <a:t>Q</a:t>
            </a:r>
            <a:endParaRPr b="0" i="0" sz="1600" u="none" cap="none" strike="noStrike">
              <a:solidFill>
                <a:schemeClr val="dk1"/>
              </a:solidFill>
              <a:latin typeface="Calibri"/>
              <a:ea typeface="Calibri"/>
              <a:cs typeface="Calibri"/>
              <a:sym typeface="Calibri"/>
            </a:endParaRPr>
          </a:p>
        </p:txBody>
      </p:sp>
      <p:sp>
        <p:nvSpPr>
          <p:cNvPr id="430" name="Google Shape;430;p18"/>
          <p:cNvSpPr/>
          <p:nvPr/>
        </p:nvSpPr>
        <p:spPr>
          <a:xfrm>
            <a:off x="1207008" y="3730752"/>
            <a:ext cx="2724912"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233D"/>
              </a:buClr>
              <a:buSzPts val="1250"/>
              <a:buFont typeface="Poppins"/>
              <a:buNone/>
            </a:pPr>
            <a:r>
              <a:rPr b="1" i="0" lang="en-US" sz="1250" u="none" cap="none" strike="noStrike">
                <a:solidFill>
                  <a:srgbClr val="14233D"/>
                </a:solidFill>
                <a:latin typeface="Poppins"/>
                <a:ea typeface="Poppins"/>
                <a:cs typeface="Poppins"/>
                <a:sym typeface="Poppins"/>
              </a:rPr>
              <a:t>What if data is missing or wrong?</a:t>
            </a:r>
            <a:endParaRPr b="0" i="0" sz="1250" u="none" cap="none" strike="noStrike">
              <a:solidFill>
                <a:schemeClr val="dk1"/>
              </a:solidFill>
              <a:latin typeface="Calibri"/>
              <a:ea typeface="Calibri"/>
              <a:cs typeface="Calibri"/>
              <a:sym typeface="Calibri"/>
            </a:endParaRPr>
          </a:p>
        </p:txBody>
      </p:sp>
      <p:sp>
        <p:nvSpPr>
          <p:cNvPr id="431" name="Google Shape;431;p18"/>
          <p:cNvSpPr/>
          <p:nvPr/>
        </p:nvSpPr>
        <p:spPr>
          <a:xfrm>
            <a:off x="896112" y="4370832"/>
            <a:ext cx="3044952"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The verifier rejects unsourced claims, low-confidence edges are flagged, and we corroborate across sources.</a:t>
            </a:r>
            <a:endParaRPr b="0" i="0" sz="1150" u="none" cap="none" strike="noStrike">
              <a:solidFill>
                <a:schemeClr val="dk1"/>
              </a:solidFill>
              <a:latin typeface="Calibri"/>
              <a:ea typeface="Calibri"/>
              <a:cs typeface="Calibri"/>
              <a:sym typeface="Calibri"/>
            </a:endParaRPr>
          </a:p>
        </p:txBody>
      </p:sp>
      <p:sp>
        <p:nvSpPr>
          <p:cNvPr id="432" name="Google Shape;432;p18"/>
          <p:cNvSpPr/>
          <p:nvPr/>
        </p:nvSpPr>
        <p:spPr>
          <a:xfrm>
            <a:off x="4343400" y="3529584"/>
            <a:ext cx="3502152" cy="1783080"/>
          </a:xfrm>
          <a:prstGeom prst="roundRect">
            <a:avLst>
              <a:gd fmla="val 666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8"/>
          <p:cNvSpPr/>
          <p:nvPr/>
        </p:nvSpPr>
        <p:spPr>
          <a:xfrm>
            <a:off x="4599432" y="3730752"/>
            <a:ext cx="365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600"/>
              <a:buFont typeface="Poppins"/>
              <a:buNone/>
            </a:pPr>
            <a:r>
              <a:rPr b="1" i="0" lang="en-US" sz="1600" u="none" cap="none" strike="noStrike">
                <a:solidFill>
                  <a:srgbClr val="1565D8"/>
                </a:solidFill>
                <a:latin typeface="Poppins"/>
                <a:ea typeface="Poppins"/>
                <a:cs typeface="Poppins"/>
                <a:sym typeface="Poppins"/>
              </a:rPr>
              <a:t>Q</a:t>
            </a:r>
            <a:endParaRPr b="0" i="0" sz="1600" u="none" cap="none" strike="noStrike">
              <a:solidFill>
                <a:schemeClr val="dk1"/>
              </a:solidFill>
              <a:latin typeface="Calibri"/>
              <a:ea typeface="Calibri"/>
              <a:cs typeface="Calibri"/>
              <a:sym typeface="Calibri"/>
            </a:endParaRPr>
          </a:p>
        </p:txBody>
      </p:sp>
      <p:sp>
        <p:nvSpPr>
          <p:cNvPr id="434" name="Google Shape;434;p18"/>
          <p:cNvSpPr/>
          <p:nvPr/>
        </p:nvSpPr>
        <p:spPr>
          <a:xfrm>
            <a:off x="4910328" y="3730752"/>
            <a:ext cx="2724912"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233D"/>
              </a:buClr>
              <a:buSzPts val="1250"/>
              <a:buFont typeface="Poppins"/>
              <a:buNone/>
            </a:pPr>
            <a:r>
              <a:rPr b="1" i="0" lang="en-US" sz="1250" u="none" cap="none" strike="noStrike">
                <a:solidFill>
                  <a:srgbClr val="14233D"/>
                </a:solidFill>
                <a:latin typeface="Poppins"/>
                <a:ea typeface="Poppins"/>
                <a:cs typeface="Poppins"/>
                <a:sym typeface="Poppins"/>
              </a:rPr>
              <a:t>Won't the AI hallucinate links?</a:t>
            </a:r>
            <a:endParaRPr b="0" i="0" sz="1250" u="none" cap="none" strike="noStrike">
              <a:solidFill>
                <a:schemeClr val="dk1"/>
              </a:solidFill>
              <a:latin typeface="Calibri"/>
              <a:ea typeface="Calibri"/>
              <a:cs typeface="Calibri"/>
              <a:sym typeface="Calibri"/>
            </a:endParaRPr>
          </a:p>
        </p:txBody>
      </p:sp>
      <p:sp>
        <p:nvSpPr>
          <p:cNvPr id="435" name="Google Shape;435;p18"/>
          <p:cNvSpPr/>
          <p:nvPr/>
        </p:nvSpPr>
        <p:spPr>
          <a:xfrm>
            <a:off x="4599432" y="4370832"/>
            <a:ext cx="3044952"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Every asserted edge is checked against the schema and its source — and we measure how many the verifier catches.</a:t>
            </a:r>
            <a:endParaRPr b="0" i="0" sz="1150" u="none" cap="none" strike="noStrike">
              <a:solidFill>
                <a:schemeClr val="dk1"/>
              </a:solidFill>
              <a:latin typeface="Calibri"/>
              <a:ea typeface="Calibri"/>
              <a:cs typeface="Calibri"/>
              <a:sym typeface="Calibri"/>
            </a:endParaRPr>
          </a:p>
        </p:txBody>
      </p:sp>
      <p:sp>
        <p:nvSpPr>
          <p:cNvPr id="436" name="Google Shape;436;p18"/>
          <p:cNvSpPr/>
          <p:nvPr/>
        </p:nvSpPr>
        <p:spPr>
          <a:xfrm>
            <a:off x="8046720" y="3529584"/>
            <a:ext cx="3502152" cy="1783080"/>
          </a:xfrm>
          <a:prstGeom prst="roundRect">
            <a:avLst>
              <a:gd fmla="val 6667"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8"/>
          <p:cNvSpPr/>
          <p:nvPr/>
        </p:nvSpPr>
        <p:spPr>
          <a:xfrm>
            <a:off x="8302752" y="3730752"/>
            <a:ext cx="365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1600"/>
              <a:buFont typeface="Poppins"/>
              <a:buNone/>
            </a:pPr>
            <a:r>
              <a:rPr b="1" i="0" lang="en-US" sz="1600" u="none" cap="none" strike="noStrike">
                <a:solidFill>
                  <a:srgbClr val="1565D8"/>
                </a:solidFill>
                <a:latin typeface="Poppins"/>
                <a:ea typeface="Poppins"/>
                <a:cs typeface="Poppins"/>
                <a:sym typeface="Poppins"/>
              </a:rPr>
              <a:t>Q</a:t>
            </a:r>
            <a:endParaRPr b="0" i="0" sz="1600" u="none" cap="none" strike="noStrike">
              <a:solidFill>
                <a:schemeClr val="dk1"/>
              </a:solidFill>
              <a:latin typeface="Calibri"/>
              <a:ea typeface="Calibri"/>
              <a:cs typeface="Calibri"/>
              <a:sym typeface="Calibri"/>
            </a:endParaRPr>
          </a:p>
        </p:txBody>
      </p:sp>
      <p:sp>
        <p:nvSpPr>
          <p:cNvPr id="438" name="Google Shape;438;p18"/>
          <p:cNvSpPr/>
          <p:nvPr/>
        </p:nvSpPr>
        <p:spPr>
          <a:xfrm>
            <a:off x="8613648" y="3730752"/>
            <a:ext cx="2724912"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4233D"/>
              </a:buClr>
              <a:buSzPts val="1250"/>
              <a:buFont typeface="Poppins"/>
              <a:buNone/>
            </a:pPr>
            <a:r>
              <a:rPr b="1" i="0" lang="en-US" sz="1250" u="none" cap="none" strike="noStrike">
                <a:solidFill>
                  <a:srgbClr val="14233D"/>
                </a:solidFill>
                <a:latin typeface="Poppins"/>
                <a:ea typeface="Poppins"/>
                <a:cs typeface="Poppins"/>
                <a:sym typeface="Poppins"/>
              </a:rPr>
              <a:t>Can four people ship this in six weeks?</a:t>
            </a:r>
            <a:endParaRPr b="0" i="0" sz="1250" u="none" cap="none" strike="noStrike">
              <a:solidFill>
                <a:schemeClr val="dk1"/>
              </a:solidFill>
              <a:latin typeface="Calibri"/>
              <a:ea typeface="Calibri"/>
              <a:cs typeface="Calibri"/>
              <a:sym typeface="Calibri"/>
            </a:endParaRPr>
          </a:p>
        </p:txBody>
      </p:sp>
      <p:sp>
        <p:nvSpPr>
          <p:cNvPr id="439" name="Google Shape;439;p18"/>
          <p:cNvSpPr/>
          <p:nvPr/>
        </p:nvSpPr>
        <p:spPr>
          <a:xfrm>
            <a:off x="8302752" y="4370832"/>
            <a:ext cx="3044952"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D4B62"/>
              </a:buClr>
              <a:buSzPts val="1150"/>
              <a:buFont typeface="Poppins"/>
              <a:buNone/>
            </a:pPr>
            <a:r>
              <a:rPr b="0" i="0" lang="en-US" sz="1150" u="none" cap="none" strike="noStrike">
                <a:solidFill>
                  <a:srgbClr val="3D4B62"/>
                </a:solidFill>
                <a:latin typeface="Poppins"/>
                <a:ea typeface="Poppins"/>
                <a:cs typeface="Poppins"/>
                <a:sym typeface="Poppins"/>
              </a:rPr>
              <a:t>Yes — one metro, public data, a small graph, eval-first. The MVP is scoped; everything else is stretch.</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4" name="Shape 444"/>
        <p:cNvGrpSpPr/>
        <p:nvPr/>
      </p:nvGrpSpPr>
      <p:grpSpPr>
        <a:xfrm>
          <a:off x="0" y="0"/>
          <a:ext cx="0" cy="0"/>
          <a:chOff x="0" y="0"/>
          <a:chExt cx="0" cy="0"/>
        </a:xfrm>
      </p:grpSpPr>
      <p:sp>
        <p:nvSpPr>
          <p:cNvPr id="445" name="Google Shape;445;p19"/>
          <p:cNvSpPr/>
          <p:nvPr/>
        </p:nvSpPr>
        <p:spPr>
          <a:xfrm>
            <a:off x="914400" y="2286000"/>
            <a:ext cx="10360152" cy="12801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33D"/>
              </a:buClr>
              <a:buSzPts val="6400"/>
              <a:buFont typeface="Poppins"/>
              <a:buNone/>
            </a:pPr>
            <a:r>
              <a:rPr b="1" i="0" lang="en-US" sz="6400" u="none" cap="none" strike="noStrike">
                <a:solidFill>
                  <a:srgbClr val="14233D"/>
                </a:solidFill>
                <a:latin typeface="Poppins"/>
                <a:ea typeface="Poppins"/>
                <a:cs typeface="Poppins"/>
                <a:sym typeface="Poppins"/>
              </a:rPr>
              <a:t>Ready to Build.</a:t>
            </a:r>
            <a:endParaRPr b="0" i="0" sz="6400" u="none" cap="none" strike="noStrike">
              <a:solidFill>
                <a:schemeClr val="dk1"/>
              </a:solidFill>
              <a:latin typeface="Calibri"/>
              <a:ea typeface="Calibri"/>
              <a:cs typeface="Calibri"/>
              <a:sym typeface="Calibri"/>
            </a:endParaRPr>
          </a:p>
        </p:txBody>
      </p:sp>
      <p:sp>
        <p:nvSpPr>
          <p:cNvPr id="446" name="Google Shape;446;p19"/>
          <p:cNvSpPr/>
          <p:nvPr/>
        </p:nvSpPr>
        <p:spPr>
          <a:xfrm>
            <a:off x="914400" y="3611880"/>
            <a:ext cx="10360152"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D8"/>
              </a:buClr>
              <a:buSzPts val="2400"/>
              <a:buFont typeface="Poppins"/>
              <a:buNone/>
            </a:pPr>
            <a:r>
              <a:rPr b="1" i="0" lang="en-US" sz="2400" u="none" cap="none" strike="noStrike">
                <a:solidFill>
                  <a:srgbClr val="1565D8"/>
                </a:solidFill>
                <a:latin typeface="Poppins"/>
                <a:ea typeface="Poppins"/>
                <a:cs typeface="Poppins"/>
                <a:sym typeface="Poppins"/>
              </a:rPr>
              <a:t>Questions?</a:t>
            </a:r>
            <a:endParaRPr b="0" i="0" sz="2400" u="none" cap="none" strike="noStrike">
              <a:solidFill>
                <a:schemeClr val="dk1"/>
              </a:solidFill>
              <a:latin typeface="Calibri"/>
              <a:ea typeface="Calibri"/>
              <a:cs typeface="Calibri"/>
              <a:sym typeface="Calibri"/>
            </a:endParaRPr>
          </a:p>
        </p:txBody>
      </p:sp>
      <p:cxnSp>
        <p:nvCxnSpPr>
          <p:cNvPr id="447" name="Google Shape;447;p19"/>
          <p:cNvCxnSpPr/>
          <p:nvPr/>
        </p:nvCxnSpPr>
        <p:spPr>
          <a:xfrm>
            <a:off x="4956048" y="4617720"/>
            <a:ext cx="2286000" cy="0"/>
          </a:xfrm>
          <a:prstGeom prst="straightConnector1">
            <a:avLst/>
          </a:prstGeom>
          <a:noFill/>
          <a:ln cap="flat" cmpd="sng" w="19050">
            <a:solidFill>
              <a:srgbClr val="DBE5F1"/>
            </a:solidFill>
            <a:prstDash val="solid"/>
            <a:round/>
            <a:headEnd len="sm" w="sm" type="none"/>
            <a:tailEnd len="sm" w="sm" type="none"/>
          </a:ln>
        </p:spPr>
      </p:cxnSp>
      <p:sp>
        <p:nvSpPr>
          <p:cNvPr id="448" name="Google Shape;448;p19"/>
          <p:cNvSpPr/>
          <p:nvPr/>
        </p:nvSpPr>
        <p:spPr>
          <a:xfrm>
            <a:off x="914400" y="4892040"/>
            <a:ext cx="10360152"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92"/>
              </a:buClr>
              <a:buSzPts val="1300"/>
              <a:buFont typeface="Poppins"/>
              <a:buNone/>
            </a:pPr>
            <a:r>
              <a:rPr b="1" i="0" lang="en-US" sz="1300" u="none" cap="none" strike="noStrike">
                <a:solidFill>
                  <a:srgbClr val="6E7C92"/>
                </a:solidFill>
                <a:latin typeface="Poppins"/>
                <a:ea typeface="Poppins"/>
                <a:cs typeface="Poppins"/>
                <a:sym typeface="Poppins"/>
              </a:rPr>
              <a:t>PROJECT LATTICE CAPSTONE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3" name="Shape 453"/>
        <p:cNvGrpSpPr/>
        <p:nvPr/>
      </p:nvGrpSpPr>
      <p:grpSpPr>
        <a:xfrm>
          <a:off x="0" y="0"/>
          <a:ext cx="0" cy="0"/>
          <a:chOff x="0" y="0"/>
          <a:chExt cx="0" cy="0"/>
        </a:xfrm>
      </p:grpSpPr>
      <p:sp>
        <p:nvSpPr>
          <p:cNvPr id="454" name="Google Shape;454;p20"/>
          <p:cNvSpPr/>
          <p:nvPr/>
        </p:nvSpPr>
        <p:spPr>
          <a:xfrm>
            <a:off x="914400" y="2286000"/>
            <a:ext cx="10360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6400"/>
              <a:buFont typeface="Poppins"/>
              <a:buNone/>
            </a:pPr>
            <a:r>
              <a:rPr b="1" lang="en-US" sz="6400">
                <a:solidFill>
                  <a:srgbClr val="14233D"/>
                </a:solidFill>
                <a:latin typeface="Poppins"/>
                <a:ea typeface="Poppins"/>
                <a:cs typeface="Poppins"/>
                <a:sym typeface="Poppins"/>
              </a:rPr>
              <a:t>                   APPENDIX</a:t>
            </a:r>
            <a:endParaRPr b="0" i="0" sz="6400" u="none" cap="none" strike="noStrike">
              <a:solidFill>
                <a:schemeClr val="dk1"/>
              </a:solidFill>
              <a:latin typeface="Calibri"/>
              <a:ea typeface="Calibri"/>
              <a:cs typeface="Calibri"/>
              <a:sym typeface="Calibri"/>
            </a:endParaRPr>
          </a:p>
        </p:txBody>
      </p:sp>
      <p:cxnSp>
        <p:nvCxnSpPr>
          <p:cNvPr id="455" name="Google Shape;455;p20"/>
          <p:cNvCxnSpPr/>
          <p:nvPr/>
        </p:nvCxnSpPr>
        <p:spPr>
          <a:xfrm>
            <a:off x="4956048" y="4617720"/>
            <a:ext cx="2286000" cy="0"/>
          </a:xfrm>
          <a:prstGeom prst="straightConnector1">
            <a:avLst/>
          </a:prstGeom>
          <a:noFill/>
          <a:ln cap="flat" cmpd="sng" w="19050">
            <a:solidFill>
              <a:srgbClr val="DBE5F1"/>
            </a:solidFill>
            <a:prstDash val="solid"/>
            <a:round/>
            <a:headEnd len="sm" w="sm" type="none"/>
            <a:tailEnd len="sm" w="sm" type="none"/>
          </a:ln>
        </p:spPr>
      </p:cxnSp>
      <p:sp>
        <p:nvSpPr>
          <p:cNvPr id="456" name="Google Shape;456;p20"/>
          <p:cNvSpPr/>
          <p:nvPr/>
        </p:nvSpPr>
        <p:spPr>
          <a:xfrm>
            <a:off x="914400" y="4892040"/>
            <a:ext cx="103602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7C92"/>
              </a:buClr>
              <a:buSzPts val="1300"/>
              <a:buFont typeface="Poppins"/>
              <a:buNone/>
            </a:pPr>
            <a:r>
              <a:rPr b="1" i="0" lang="en-US" sz="1300" u="none" cap="none" strike="noStrike">
                <a:solidFill>
                  <a:srgbClr val="6E7C92"/>
                </a:solidFill>
                <a:latin typeface="Poppins"/>
                <a:ea typeface="Poppins"/>
                <a:cs typeface="Poppins"/>
                <a:sym typeface="Poppins"/>
              </a:rPr>
              <a:t>PROJECT LATTICE CAPSTONE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21"/>
          <p:cNvSpPr/>
          <p:nvPr/>
        </p:nvSpPr>
        <p:spPr>
          <a:xfrm>
            <a:off x="640080" y="384048"/>
            <a:ext cx="111556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65D8"/>
              </a:buClr>
              <a:buSzPts val="2800"/>
              <a:buFont typeface="Poppins"/>
              <a:buNone/>
            </a:pPr>
            <a:r>
              <a:rPr b="1" i="0" lang="en-US" sz="2800" u="none" cap="none" strike="noStrike">
                <a:solidFill>
                  <a:srgbClr val="1565D8"/>
                </a:solidFill>
                <a:latin typeface="Poppins"/>
                <a:ea typeface="Poppins"/>
                <a:cs typeface="Poppins"/>
                <a:sym typeface="Poppins"/>
              </a:rPr>
              <a:t>Value Lives in the Connections</a:t>
            </a:r>
            <a:endParaRPr b="0" i="0" sz="2800" u="none" cap="none" strike="noStrike">
              <a:solidFill>
                <a:schemeClr val="dk1"/>
              </a:solidFill>
              <a:latin typeface="Calibri"/>
              <a:ea typeface="Calibri"/>
              <a:cs typeface="Calibri"/>
              <a:sym typeface="Calibri"/>
            </a:endParaRPr>
          </a:p>
        </p:txBody>
      </p:sp>
      <p:sp>
        <p:nvSpPr>
          <p:cNvPr id="463" name="Google Shape;463;p21"/>
          <p:cNvSpPr/>
          <p:nvPr/>
        </p:nvSpPr>
        <p:spPr>
          <a:xfrm>
            <a:off x="640080" y="1417320"/>
            <a:ext cx="10908792" cy="914400"/>
          </a:xfrm>
          <a:prstGeom prst="roundRect">
            <a:avLst>
              <a:gd fmla="val 13000" name="adj"/>
            </a:avLst>
          </a:prstGeom>
          <a:solidFill>
            <a:srgbClr val="EDF3FB"/>
          </a:solidFill>
          <a:ln cap="flat" cmpd="sng" w="12700">
            <a:solidFill>
              <a:srgbClr val="E6EDF6"/>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p:nvPr/>
        </p:nvSpPr>
        <p:spPr>
          <a:xfrm>
            <a:off x="1005840" y="1417320"/>
            <a:ext cx="10149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700"/>
              <a:buFont typeface="Poppins"/>
              <a:buNone/>
            </a:pPr>
            <a:r>
              <a:rPr b="0" i="0" lang="en-US" sz="1700" u="none" cap="none" strike="noStrike">
                <a:solidFill>
                  <a:srgbClr val="6E7C92"/>
                </a:solidFill>
                <a:latin typeface="Poppins"/>
                <a:ea typeface="Poppins"/>
                <a:cs typeface="Poppins"/>
                <a:sym typeface="Poppins"/>
              </a:rPr>
              <a:t>A filter says  </a:t>
            </a:r>
            <a:r>
              <a:rPr b="1" i="0" lang="en-US" sz="1700" u="none" cap="none" strike="noStrike">
                <a:solidFill>
                  <a:srgbClr val="14233D"/>
                </a:solidFill>
                <a:latin typeface="Poppins"/>
                <a:ea typeface="Poppins"/>
                <a:cs typeface="Poppins"/>
                <a:sym typeface="Poppins"/>
              </a:rPr>
              <a:t>“near transit.”</a:t>
            </a:r>
            <a:r>
              <a:rPr b="0" i="0" lang="en-US" sz="1700" u="none" cap="none" strike="noStrike">
                <a:solidFill>
                  <a:srgbClr val="6E7C92"/>
                </a:solidFill>
                <a:latin typeface="Poppins"/>
                <a:ea typeface="Poppins"/>
                <a:cs typeface="Poppins"/>
                <a:sym typeface="Poppins"/>
              </a:rPr>
              <a:t>      A graph says  </a:t>
            </a:r>
            <a:r>
              <a:rPr b="1" i="0" lang="en-US" sz="1700" u="none" cap="none" strike="noStrike">
                <a:solidFill>
                  <a:srgbClr val="1565D8"/>
                </a:solidFill>
                <a:latin typeface="Poppins"/>
                <a:ea typeface="Poppins"/>
                <a:cs typeface="Poppins"/>
                <a:sym typeface="Poppins"/>
              </a:rPr>
              <a:t>“near transit → 25 min to </a:t>
            </a:r>
            <a:r>
              <a:rPr b="1" i="1" lang="en-US" sz="1700" u="none" cap="none" strike="noStrike">
                <a:solidFill>
                  <a:srgbClr val="1565D8"/>
                </a:solidFill>
                <a:latin typeface="Poppins"/>
                <a:ea typeface="Poppins"/>
                <a:cs typeface="Poppins"/>
                <a:sym typeface="Poppins"/>
              </a:rPr>
              <a:t>your</a:t>
            </a:r>
            <a:r>
              <a:rPr b="1" i="0" lang="en-US" sz="1700" u="none" cap="none" strike="noStrike">
                <a:solidFill>
                  <a:srgbClr val="1565D8"/>
                </a:solidFill>
                <a:latin typeface="Poppins"/>
                <a:ea typeface="Poppins"/>
                <a:cs typeface="Poppins"/>
                <a:sym typeface="Poppins"/>
              </a:rPr>
              <a:t> office.”</a:t>
            </a:r>
            <a:endParaRPr b="0" i="0" sz="1700" u="none" cap="none" strike="noStrike">
              <a:solidFill>
                <a:schemeClr val="dk1"/>
              </a:solidFill>
              <a:latin typeface="Calibri"/>
              <a:ea typeface="Calibri"/>
              <a:cs typeface="Calibri"/>
              <a:sym typeface="Calibri"/>
            </a:endParaRPr>
          </a:p>
        </p:txBody>
      </p:sp>
      <p:sp>
        <p:nvSpPr>
          <p:cNvPr id="465" name="Google Shape;465;p21"/>
          <p:cNvSpPr/>
          <p:nvPr/>
        </p:nvSpPr>
        <p:spPr>
          <a:xfrm>
            <a:off x="640080" y="3200400"/>
            <a:ext cx="2395728" cy="914400"/>
          </a:xfrm>
          <a:prstGeom prst="roundRect">
            <a:avLst>
              <a:gd fmla="val 13000"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
          <p:cNvSpPr/>
          <p:nvPr/>
        </p:nvSpPr>
        <p:spPr>
          <a:xfrm>
            <a:off x="822960" y="3584448"/>
            <a:ext cx="146304" cy="146304"/>
          </a:xfrm>
          <a:prstGeom prst="ellipse">
            <a:avLst/>
          </a:prstGeom>
          <a:solidFill>
            <a:srgbClr val="C279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p:nvPr/>
        </p:nvSpPr>
        <p:spPr>
          <a:xfrm>
            <a:off x="1051560" y="3383280"/>
            <a:ext cx="184708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00"/>
              <a:buFont typeface="Poppins"/>
              <a:buNone/>
            </a:pPr>
            <a:r>
              <a:rPr b="1" i="0" lang="en-US" sz="1400" u="none" cap="none" strike="noStrike">
                <a:solidFill>
                  <a:srgbClr val="14233D"/>
                </a:solidFill>
                <a:latin typeface="Poppins"/>
                <a:ea typeface="Poppins"/>
                <a:cs typeface="Poppins"/>
                <a:sym typeface="Poppins"/>
              </a:rPr>
              <a:t>Approved permit</a:t>
            </a:r>
            <a:endParaRPr b="0" i="0" sz="1400" u="none" cap="none" strike="noStrike">
              <a:solidFill>
                <a:schemeClr val="dk1"/>
              </a:solidFill>
              <a:latin typeface="Calibri"/>
              <a:ea typeface="Calibri"/>
              <a:cs typeface="Calibri"/>
              <a:sym typeface="Calibri"/>
            </a:endParaRPr>
          </a:p>
        </p:txBody>
      </p:sp>
      <p:sp>
        <p:nvSpPr>
          <p:cNvPr id="468" name="Google Shape;468;p21"/>
          <p:cNvSpPr/>
          <p:nvPr/>
        </p:nvSpPr>
        <p:spPr>
          <a:xfrm>
            <a:off x="1051560" y="3712464"/>
            <a:ext cx="18470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city portal</a:t>
            </a:r>
            <a:endParaRPr b="0" i="0" sz="1100" u="none" cap="none" strike="noStrike">
              <a:solidFill>
                <a:schemeClr val="dk1"/>
              </a:solidFill>
              <a:latin typeface="Calibri"/>
              <a:ea typeface="Calibri"/>
              <a:cs typeface="Calibri"/>
              <a:sym typeface="Calibri"/>
            </a:endParaRPr>
          </a:p>
        </p:txBody>
      </p:sp>
      <p:cxnSp>
        <p:nvCxnSpPr>
          <p:cNvPr id="469" name="Google Shape;469;p21"/>
          <p:cNvCxnSpPr/>
          <p:nvPr/>
        </p:nvCxnSpPr>
        <p:spPr>
          <a:xfrm>
            <a:off x="3081528" y="3657600"/>
            <a:ext cx="350520" cy="0"/>
          </a:xfrm>
          <a:prstGeom prst="straightConnector1">
            <a:avLst/>
          </a:prstGeom>
          <a:noFill/>
          <a:ln cap="flat" cmpd="sng" w="22225">
            <a:solidFill>
              <a:srgbClr val="1565D8"/>
            </a:solidFill>
            <a:prstDash val="solid"/>
            <a:round/>
            <a:headEnd len="sm" w="sm" type="none"/>
            <a:tailEnd len="med" w="med" type="triangle"/>
          </a:ln>
        </p:spPr>
      </p:cxnSp>
      <p:sp>
        <p:nvSpPr>
          <p:cNvPr id="470" name="Google Shape;470;p21"/>
          <p:cNvSpPr/>
          <p:nvPr/>
        </p:nvSpPr>
        <p:spPr>
          <a:xfrm>
            <a:off x="3477768" y="3200400"/>
            <a:ext cx="2395728" cy="914400"/>
          </a:xfrm>
          <a:prstGeom prst="roundRect">
            <a:avLst>
              <a:gd fmla="val 13000"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21"/>
          <p:cNvSpPr/>
          <p:nvPr/>
        </p:nvSpPr>
        <p:spPr>
          <a:xfrm>
            <a:off x="3660648" y="3584448"/>
            <a:ext cx="146304" cy="146304"/>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1"/>
          <p:cNvSpPr/>
          <p:nvPr/>
        </p:nvSpPr>
        <p:spPr>
          <a:xfrm>
            <a:off x="3889248" y="3383280"/>
            <a:ext cx="184708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00"/>
              <a:buFont typeface="Poppins"/>
              <a:buNone/>
            </a:pPr>
            <a:r>
              <a:rPr b="1" i="0" lang="en-US" sz="1400" u="none" cap="none" strike="noStrike">
                <a:solidFill>
                  <a:srgbClr val="14233D"/>
                </a:solidFill>
                <a:latin typeface="Poppins"/>
                <a:ea typeface="Poppins"/>
                <a:cs typeface="Poppins"/>
                <a:sym typeface="Poppins"/>
              </a:rPr>
              <a:t>New station</a:t>
            </a:r>
            <a:endParaRPr b="0" i="0" sz="1400" u="none" cap="none" strike="noStrike">
              <a:solidFill>
                <a:schemeClr val="dk1"/>
              </a:solidFill>
              <a:latin typeface="Calibri"/>
              <a:ea typeface="Calibri"/>
              <a:cs typeface="Calibri"/>
              <a:sym typeface="Calibri"/>
            </a:endParaRPr>
          </a:p>
        </p:txBody>
      </p:sp>
      <p:sp>
        <p:nvSpPr>
          <p:cNvPr id="473" name="Google Shape;473;p21"/>
          <p:cNvSpPr/>
          <p:nvPr/>
        </p:nvSpPr>
        <p:spPr>
          <a:xfrm>
            <a:off x="3889248" y="3712464"/>
            <a:ext cx="18470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2 blocks away</a:t>
            </a:r>
            <a:endParaRPr b="0" i="0" sz="1100" u="none" cap="none" strike="noStrike">
              <a:solidFill>
                <a:schemeClr val="dk1"/>
              </a:solidFill>
              <a:latin typeface="Calibri"/>
              <a:ea typeface="Calibri"/>
              <a:cs typeface="Calibri"/>
              <a:sym typeface="Calibri"/>
            </a:endParaRPr>
          </a:p>
        </p:txBody>
      </p:sp>
      <p:cxnSp>
        <p:nvCxnSpPr>
          <p:cNvPr id="474" name="Google Shape;474;p21"/>
          <p:cNvCxnSpPr/>
          <p:nvPr/>
        </p:nvCxnSpPr>
        <p:spPr>
          <a:xfrm>
            <a:off x="5919216" y="3657600"/>
            <a:ext cx="350520" cy="0"/>
          </a:xfrm>
          <a:prstGeom prst="straightConnector1">
            <a:avLst/>
          </a:prstGeom>
          <a:noFill/>
          <a:ln cap="flat" cmpd="sng" w="22225">
            <a:solidFill>
              <a:srgbClr val="1565D8"/>
            </a:solidFill>
            <a:prstDash val="solid"/>
            <a:round/>
            <a:headEnd len="sm" w="sm" type="none"/>
            <a:tailEnd len="med" w="med" type="triangle"/>
          </a:ln>
        </p:spPr>
      </p:cxnSp>
      <p:sp>
        <p:nvSpPr>
          <p:cNvPr id="475" name="Google Shape;475;p21"/>
          <p:cNvSpPr/>
          <p:nvPr/>
        </p:nvSpPr>
        <p:spPr>
          <a:xfrm>
            <a:off x="6315456" y="3200400"/>
            <a:ext cx="2395728" cy="914400"/>
          </a:xfrm>
          <a:prstGeom prst="roundRect">
            <a:avLst>
              <a:gd fmla="val 13000"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1"/>
          <p:cNvSpPr/>
          <p:nvPr/>
        </p:nvSpPr>
        <p:spPr>
          <a:xfrm>
            <a:off x="6498336" y="3584448"/>
            <a:ext cx="146304" cy="146304"/>
          </a:xfrm>
          <a:prstGeom prst="ellipse">
            <a:avLst/>
          </a:prstGeom>
          <a:solidFill>
            <a:srgbClr val="1565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1"/>
          <p:cNvSpPr/>
          <p:nvPr/>
        </p:nvSpPr>
        <p:spPr>
          <a:xfrm>
            <a:off x="6726936" y="3383280"/>
            <a:ext cx="184708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00"/>
              <a:buFont typeface="Poppins"/>
              <a:buNone/>
            </a:pPr>
            <a:r>
              <a:rPr b="1" i="0" lang="en-US" sz="1400" u="none" cap="none" strike="noStrike">
                <a:solidFill>
                  <a:srgbClr val="14233D"/>
                </a:solidFill>
                <a:latin typeface="Poppins"/>
                <a:ea typeface="Poppins"/>
                <a:cs typeface="Poppins"/>
                <a:sym typeface="Poppins"/>
              </a:rPr>
              <a:t>Comp corridor</a:t>
            </a:r>
            <a:endParaRPr b="0" i="0" sz="1400" u="none" cap="none" strike="noStrike">
              <a:solidFill>
                <a:schemeClr val="dk1"/>
              </a:solidFill>
              <a:latin typeface="Calibri"/>
              <a:ea typeface="Calibri"/>
              <a:cs typeface="Calibri"/>
              <a:sym typeface="Calibri"/>
            </a:endParaRPr>
          </a:p>
        </p:txBody>
      </p:sp>
      <p:sp>
        <p:nvSpPr>
          <p:cNvPr id="478" name="Google Shape;478;p21"/>
          <p:cNvSpPr/>
          <p:nvPr/>
        </p:nvSpPr>
        <p:spPr>
          <a:xfrm>
            <a:off x="6726936" y="3712464"/>
            <a:ext cx="18470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+12% already</a:t>
            </a:r>
            <a:endParaRPr b="0" i="0" sz="1100" u="none" cap="none" strike="noStrike">
              <a:solidFill>
                <a:schemeClr val="dk1"/>
              </a:solidFill>
              <a:latin typeface="Calibri"/>
              <a:ea typeface="Calibri"/>
              <a:cs typeface="Calibri"/>
              <a:sym typeface="Calibri"/>
            </a:endParaRPr>
          </a:p>
        </p:txBody>
      </p:sp>
      <p:cxnSp>
        <p:nvCxnSpPr>
          <p:cNvPr id="479" name="Google Shape;479;p21"/>
          <p:cNvCxnSpPr/>
          <p:nvPr/>
        </p:nvCxnSpPr>
        <p:spPr>
          <a:xfrm>
            <a:off x="8756904" y="3657600"/>
            <a:ext cx="350520" cy="0"/>
          </a:xfrm>
          <a:prstGeom prst="straightConnector1">
            <a:avLst/>
          </a:prstGeom>
          <a:noFill/>
          <a:ln cap="flat" cmpd="sng" w="22225">
            <a:solidFill>
              <a:srgbClr val="1565D8"/>
            </a:solidFill>
            <a:prstDash val="solid"/>
            <a:round/>
            <a:headEnd len="sm" w="sm" type="none"/>
            <a:tailEnd len="med" w="med" type="triangle"/>
          </a:ln>
        </p:spPr>
      </p:cxnSp>
      <p:sp>
        <p:nvSpPr>
          <p:cNvPr id="480" name="Google Shape;480;p21"/>
          <p:cNvSpPr/>
          <p:nvPr/>
        </p:nvSpPr>
        <p:spPr>
          <a:xfrm>
            <a:off x="9153144" y="3200400"/>
            <a:ext cx="2395728" cy="914400"/>
          </a:xfrm>
          <a:prstGeom prst="roundRect">
            <a:avLst>
              <a:gd fmla="val 13000" name="adj"/>
            </a:avLst>
          </a:prstGeom>
          <a:solidFill>
            <a:srgbClr val="F5F8FC"/>
          </a:solidFill>
          <a:ln cap="flat" cmpd="sng" w="12700">
            <a:solidFill>
              <a:srgbClr val="DBE5F1"/>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1"/>
          <p:cNvSpPr/>
          <p:nvPr/>
        </p:nvSpPr>
        <p:spPr>
          <a:xfrm>
            <a:off x="9336024" y="3584448"/>
            <a:ext cx="146304" cy="146304"/>
          </a:xfrm>
          <a:prstGeom prst="ellipse">
            <a:avLst/>
          </a:prstGeom>
          <a:solidFill>
            <a:srgbClr val="6D4F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1"/>
          <p:cNvSpPr/>
          <p:nvPr/>
        </p:nvSpPr>
        <p:spPr>
          <a:xfrm>
            <a:off x="9564624" y="3383280"/>
            <a:ext cx="1847088"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33D"/>
              </a:buClr>
              <a:buSzPts val="1400"/>
              <a:buFont typeface="Poppins"/>
              <a:buNone/>
            </a:pPr>
            <a:r>
              <a:rPr b="1" i="0" lang="en-US" sz="1400" u="none" cap="none" strike="noStrike">
                <a:solidFill>
                  <a:srgbClr val="14233D"/>
                </a:solidFill>
                <a:latin typeface="Poppins"/>
                <a:ea typeface="Poppins"/>
                <a:cs typeface="Poppins"/>
                <a:sym typeface="Poppins"/>
              </a:rPr>
              <a:t>This listing</a:t>
            </a:r>
            <a:endParaRPr b="0" i="0" sz="1400" u="none" cap="none" strike="noStrike">
              <a:solidFill>
                <a:schemeClr val="dk1"/>
              </a:solidFill>
              <a:latin typeface="Calibri"/>
              <a:ea typeface="Calibri"/>
              <a:cs typeface="Calibri"/>
              <a:sym typeface="Calibri"/>
            </a:endParaRPr>
          </a:p>
        </p:txBody>
      </p:sp>
      <p:sp>
        <p:nvSpPr>
          <p:cNvPr id="483" name="Google Shape;483;p21"/>
          <p:cNvSpPr/>
          <p:nvPr/>
        </p:nvSpPr>
        <p:spPr>
          <a:xfrm>
            <a:off x="9564624" y="3712464"/>
            <a:ext cx="184708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7C92"/>
              </a:buClr>
              <a:buSzPts val="1100"/>
              <a:buFont typeface="Poppins"/>
              <a:buNone/>
            </a:pPr>
            <a:r>
              <a:rPr b="0" i="0" lang="en-US" sz="1100" u="none" cap="none" strike="noStrike">
                <a:solidFill>
                  <a:srgbClr val="6E7C92"/>
                </a:solidFill>
                <a:latin typeface="Poppins"/>
                <a:ea typeface="Poppins"/>
                <a:cs typeface="Poppins"/>
                <a:sym typeface="Poppins"/>
              </a:rPr>
              <a:t>lagged behind</a:t>
            </a:r>
            <a:endParaRPr b="0" i="0" sz="1100" u="none" cap="none" strike="noStrike">
              <a:solidFill>
                <a:schemeClr val="dk1"/>
              </a:solidFill>
              <a:latin typeface="Calibri"/>
              <a:ea typeface="Calibri"/>
              <a:cs typeface="Calibri"/>
              <a:sym typeface="Calibri"/>
            </a:endParaRPr>
          </a:p>
        </p:txBody>
      </p:sp>
      <p:sp>
        <p:nvSpPr>
          <p:cNvPr id="484" name="Google Shape;484;p21"/>
          <p:cNvSpPr/>
          <p:nvPr/>
        </p:nvSpPr>
        <p:spPr>
          <a:xfrm>
            <a:off x="640080" y="4389120"/>
            <a:ext cx="1090879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565D8"/>
              </a:buClr>
              <a:buSzPts val="1800"/>
              <a:buFont typeface="Poppins"/>
              <a:buNone/>
            </a:pPr>
            <a:r>
              <a:rPr b="1" i="0" lang="en-US" sz="1800" u="none" cap="none" strike="noStrike">
                <a:solidFill>
                  <a:srgbClr val="1565D8"/>
                </a:solidFill>
                <a:latin typeface="Poppins"/>
                <a:ea typeface="Poppins"/>
                <a:cs typeface="Poppins"/>
                <a:sym typeface="Poppins"/>
              </a:rPr>
              <a:t>⇒  Undervalued</a:t>
            </a:r>
            <a:endParaRPr b="0" i="0" sz="1800" u="none" cap="none" strike="noStrike">
              <a:solidFill>
                <a:schemeClr val="dk1"/>
              </a:solidFill>
              <a:latin typeface="Calibri"/>
              <a:ea typeface="Calibri"/>
              <a:cs typeface="Calibri"/>
              <a:sym typeface="Calibri"/>
            </a:endParaRPr>
          </a:p>
        </p:txBody>
      </p:sp>
      <p:sp>
        <p:nvSpPr>
          <p:cNvPr id="485" name="Google Shape;485;p21"/>
          <p:cNvSpPr/>
          <p:nvPr/>
        </p:nvSpPr>
        <p:spPr>
          <a:xfrm>
            <a:off x="640080" y="5074920"/>
            <a:ext cx="10908792" cy="777240"/>
          </a:xfrm>
          <a:prstGeom prst="roundRect">
            <a:avLst>
              <a:gd fmla="val 15294" name="adj"/>
            </a:avLst>
          </a:prstGeom>
          <a:solidFill>
            <a:srgbClr val="E7F0FC"/>
          </a:solidFill>
          <a:ln cap="flat" cmpd="sng" w="12700">
            <a:solidFill>
              <a:srgbClr val="1565D8"/>
            </a:solidFill>
            <a:prstDash val="solid"/>
            <a:round/>
            <a:headEnd len="sm" w="sm" type="none"/>
            <a:tailEnd len="sm" w="sm" type="none"/>
          </a:ln>
          <a:effectLst>
            <a:outerShdw rotWithShape="0" algn="bl">
              <a:srgbClr val="9AA7B8">
                <a:alpha val="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1"/>
          <p:cNvSpPr/>
          <p:nvPr/>
        </p:nvSpPr>
        <p:spPr>
          <a:xfrm>
            <a:off x="1005840" y="5074920"/>
            <a:ext cx="101498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33D"/>
              </a:buClr>
              <a:buSzPts val="1500"/>
              <a:buFont typeface="Poppins"/>
              <a:buNone/>
            </a:pPr>
            <a:r>
              <a:rPr b="1" i="0" lang="en-US" sz="1500" u="none" cap="none" strike="noStrike">
                <a:solidFill>
                  <a:srgbClr val="14233D"/>
                </a:solidFill>
                <a:latin typeface="Poppins"/>
                <a:ea typeface="Poppins"/>
                <a:cs typeface="Poppins"/>
                <a:sym typeface="Poppins"/>
              </a:rPr>
              <a:t>A single lookup can't chain a permit to a price. A graph can — and that chain is the explanation.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